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0:00–0:02 (2 min) · SESSION 48 MIN TOTAL</a:t>
            </a:r>
          </a:p>
          <a:p/>
          <a:p>
            <a:r>
              <a:t>Okay everyone, today we are going to make AI hackathons practical.</a:t>
            </a:r>
          </a:p>
          <a:p/>
          <a:p>
            <a:r>
              <a:t>I don't want you to think of a hackathon as a race to write the most code.</a:t>
            </a:r>
          </a:p>
          <a:p/>
          <a:p>
            <a:r>
              <a:t>A strong hackathon project starts with decisions.</a:t>
            </a:r>
          </a:p>
          <a:p/>
          <a:p>
            <a:r>
              <a:t>What problem are we solving?</a:t>
            </a:r>
          </a:p>
          <a:p>
            <a:r>
              <a:t>Who has that problem?</a:t>
            </a:r>
          </a:p>
          <a:p>
            <a:r>
              <a:t>Where does AI actually help?</a:t>
            </a:r>
          </a:p>
          <a:p>
            <a:r>
              <a:t>What is the smallest useful thing we can build?</a:t>
            </a:r>
          </a:p>
          <a:p>
            <a:r>
              <a:t>And how are we going to prove that it works?</a:t>
            </a:r>
          </a:p>
          <a:p/>
          <a:p>
            <a:r>
              <a:t>[SHOW — point along the flow strip]</a:t>
            </a:r>
          </a:p>
          <a:p>
            <a:r>
              <a:t>Look at this strip: PROBLEM → AI → BUILD → TEST → DEMO.</a:t>
            </a:r>
          </a:p>
          <a:p>
            <a:r>
              <a:t>That is the whole session in five words.</a:t>
            </a:r>
          </a:p>
          <a:p/>
          <a:p>
            <a:r>
              <a:t>Today we are going to break that entire process down.</a:t>
            </a:r>
          </a:p>
          <a:p/>
          <a:p>
            <a:r>
              <a:t>We will also use OpenCode to see how AI can accelerate the engineering process.</a:t>
            </a:r>
          </a:p>
          <a:p/>
          <a:p>
            <a:r>
              <a:t>And later, we are going to connect that with something you already know — RAG — and then look at OKF, the Open Knowledge Format.</a:t>
            </a:r>
          </a:p>
          <a:p/>
          <a:p>
            <a:r>
              <a:t>[ASK]</a:t>
            </a:r>
          </a:p>
          <a:p>
            <a:r>
              <a:t>"When you receive a hackathon problem statement, what do you normally do first?"</a:t>
            </a:r>
          </a:p>
          <a:p/>
          <a:p>
            <a:r>
              <a:t>[PAUSE]</a:t>
            </a:r>
          </a:p>
          <a:p>
            <a:r>
              <a:t>Allow 2–3 students to answer. Do not correct anyone yet — just collect the answers. We will come back to them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0:02–0:05 (3 min)</a:t>
            </a:r>
          </a:p>
          <a:p/>
          <a:p>
            <a:r>
              <a:t>Most students see a hackathon problem statement and immediately think:</a:t>
            </a:r>
          </a:p>
          <a:p/>
          <a:p>
            <a:r>
              <a:t>Which technology should I use?</a:t>
            </a:r>
          </a:p>
          <a:p>
            <a:r>
              <a:t>Which model should I use?</a:t>
            </a:r>
          </a:p>
          <a:p>
            <a:r>
              <a:t>Which framework should I use?</a:t>
            </a:r>
          </a:p>
          <a:p/>
          <a:p>
            <a:r>
              <a:t>That's already too early.</a:t>
            </a:r>
          </a:p>
          <a:p/>
          <a:p>
            <a:r>
              <a:t>[SHOW — walk down the right-hand column, one row at a time]</a:t>
            </a:r>
          </a:p>
          <a:p/>
          <a:p>
            <a:r>
              <a:t>First understand the problem.</a:t>
            </a:r>
          </a:p>
          <a:p/>
          <a:p>
            <a:r>
              <a:t>Then understand the user.</a:t>
            </a:r>
          </a:p>
          <a:p/>
          <a:p>
            <a:r>
              <a:t>Then understand the outcome.</a:t>
            </a:r>
          </a:p>
          <a:p/>
          <a:p>
            <a:r>
              <a:t>Then decide where AI provides actual value.</a:t>
            </a:r>
          </a:p>
          <a:p/>
          <a:p>
            <a:r>
              <a:t>Only then should you decide what to build.</a:t>
            </a:r>
          </a:p>
          <a:p/>
          <a:p>
            <a:r>
              <a:t>Notice the line in the middle: FIRST — DECIDE, then THEN — EXECUTE.</a:t>
            </a:r>
          </a:p>
          <a:p>
            <a:r>
              <a:t>Everything above the line is thinking. Everything below the line is building.</a:t>
            </a:r>
          </a:p>
          <a:p>
            <a:r>
              <a:t>Most teams start below the line. That is the mistake.</a:t>
            </a:r>
          </a:p>
          <a:p/>
          <a:p>
            <a:r>
              <a:t>That sequence alone can save you hours.</a:t>
            </a:r>
          </a:p>
          <a:p/>
          <a:p>
            <a:r>
              <a:t>[ASK]</a:t>
            </a:r>
          </a:p>
          <a:p>
            <a:r>
              <a:t>"What happens when a team starts coding before understanding the problem?"</a:t>
            </a:r>
          </a:p>
          <a:p/>
          <a:p>
            <a:r>
              <a:t>[PAUSE]</a:t>
            </a:r>
          </a:p>
          <a:p>
            <a:r>
              <a:t>Guide students toward:</a:t>
            </a:r>
          </a:p>
          <a:p>
            <a:r>
              <a:t>- wrong architecture</a:t>
            </a:r>
          </a:p>
          <a:p>
            <a:r>
              <a:t>- feature overload</a:t>
            </a:r>
          </a:p>
          <a:p>
            <a:r>
              <a:t>- rewriting everything halfway</a:t>
            </a:r>
          </a:p>
          <a:p>
            <a:r>
              <a:t>- time loss</a:t>
            </a:r>
          </a:p>
          <a:p>
            <a:r>
              <a:t>- unfinished MVP</a:t>
            </a:r>
          </a:p>
          <a:p/>
          <a:p>
            <a:r>
              <a:t>Then say:</a:t>
            </a:r>
          </a:p>
          <a:p>
            <a:r>
              <a:t>"Every one of those comes from skipping the top five rows. Don't skip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0:05–0:10 (5 min)</a:t>
            </a:r>
          </a:p>
          <a:p/>
          <a:p>
            <a:r>
              <a:t>Let's make this extremely practical.</a:t>
            </a:r>
          </a:p>
          <a:p/>
          <a:p>
            <a:r>
              <a:t>[PAUSE — let them read the five questions in silence for a few seconds]</a:t>
            </a:r>
          </a:p>
          <a:p/>
          <a:p>
            <a:r>
              <a:t>Question one: What problem are we solving?</a:t>
            </a:r>
          </a:p>
          <a:p/>
          <a:p>
            <a:r>
              <a:t>Not the app.</a:t>
            </a:r>
          </a:p>
          <a:p>
            <a:r>
              <a:t>Not the chatbot.</a:t>
            </a:r>
          </a:p>
          <a:p>
            <a:r>
              <a:t>Not the dashboard.</a:t>
            </a:r>
          </a:p>
          <a:p/>
          <a:p>
            <a:r>
              <a:t>The problem.</a:t>
            </a:r>
          </a:p>
          <a:p/>
          <a:p>
            <a:r>
              <a:t>Question two: Who actually experiences it?</a:t>
            </a:r>
          </a:p>
          <a:p/>
          <a:p>
            <a:r>
              <a:t>Question three: What outcome do they need?</a:t>
            </a:r>
          </a:p>
          <a:p/>
          <a:p>
            <a:r>
              <a:t>Question four: Where does AI make this better?</a:t>
            </a:r>
          </a:p>
          <a:p/>
          <a:p>
            <a:r>
              <a:t>And question five: What is the smallest MVP that proves the idea?</a:t>
            </a:r>
          </a:p>
          <a:p/>
          <a:p>
            <a:r>
              <a:t>[SHOW]</a:t>
            </a:r>
          </a:p>
          <a:p>
            <a:r>
              <a:t>Give students a simple example:</a:t>
            </a:r>
          </a:p>
          <a:p/>
          <a:p>
            <a:r>
              <a:t>"Students struggle to find information across hundreds of college documents."</a:t>
            </a:r>
          </a:p>
          <a:p/>
          <a:p>
            <a:r>
              <a:t>[ASK]</a:t>
            </a:r>
          </a:p>
          <a:p>
            <a:r>
              <a:t>"What could the MVP be?"</a:t>
            </a:r>
          </a:p>
          <a:p/>
          <a:p>
            <a:r>
              <a:t>[PAUSE]</a:t>
            </a:r>
          </a:p>
          <a:p>
            <a:r>
              <a:t>Guide toward:</a:t>
            </a:r>
          </a:p>
          <a:p>
            <a:r>
              <a:t>"Upload documents → ask question → retrieve relevant knowledge → answer."</a:t>
            </a:r>
          </a:p>
          <a:p/>
          <a:p>
            <a:r>
              <a:t>Then say:</a:t>
            </a:r>
          </a:p>
          <a:p/>
          <a:p>
            <a:r>
              <a:t>"Notice we didn't build a platform with 25 features.</a:t>
            </a:r>
          </a:p>
          <a:p/>
          <a:p>
            <a:r>
              <a:t>We built one useful workflow."</a:t>
            </a:r>
          </a:p>
          <a:p/>
          <a:p>
            <a:r>
              <a:t>[CHECK]</a:t>
            </a:r>
          </a:p>
          <a:p>
            <a:r>
              <a:t>Quick scan: ask one pair to state their five answers for any problem statement they have seen recently. If any answer is vague, make them rewrite it in one sentence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0:10–0:13 (3 min)</a:t>
            </a:r>
          </a:p>
          <a:p/>
          <a:p>
            <a:r>
              <a:t>Here is one of the biggest mistakes in hackathons.</a:t>
            </a:r>
          </a:p>
          <a:p/>
          <a:p>
            <a:r>
              <a:t>Teams try to impress by adding features.</a:t>
            </a:r>
          </a:p>
          <a:p/>
          <a:p>
            <a:r>
              <a:t>Authentication.</a:t>
            </a:r>
          </a:p>
          <a:p>
            <a:r>
              <a:t>Dashboard.</a:t>
            </a:r>
          </a:p>
          <a:p>
            <a:r>
              <a:t>Analytics.</a:t>
            </a:r>
          </a:p>
          <a:p>
            <a:r>
              <a:t>Chat.</a:t>
            </a:r>
          </a:p>
          <a:p>
            <a:r>
              <a:t>Voice.</a:t>
            </a:r>
          </a:p>
          <a:p>
            <a:r>
              <a:t>Agents.</a:t>
            </a:r>
          </a:p>
          <a:p>
            <a:r>
              <a:t>Notifications.</a:t>
            </a:r>
          </a:p>
          <a:p/>
          <a:p>
            <a:r>
              <a:t>And suddenly the main feature doesn't work.</a:t>
            </a:r>
          </a:p>
          <a:p/>
          <a:p>
            <a:r>
              <a:t>[SHOW — left panel, top to bottom]</a:t>
            </a:r>
          </a:p>
          <a:p>
            <a:r>
              <a:t>Twenty features. Five half-working. Broken demo.</a:t>
            </a:r>
          </a:p>
          <a:p>
            <a:r>
              <a:t>This is what a feature-list MVP produces under time pressure.</a:t>
            </a:r>
          </a:p>
          <a:p/>
          <a:p>
            <a:r>
              <a:t>[SHOW — right panel]</a:t>
            </a:r>
          </a:p>
          <a:p>
            <a:r>
              <a:t>One user. One core workflow. One useful AI outcome. Working demo.</a:t>
            </a:r>
          </a:p>
          <a:p/>
          <a:p>
            <a:r>
              <a:t>Your MVP is not a list of features.</a:t>
            </a:r>
          </a:p>
          <a:p/>
          <a:p>
            <a:r>
              <a:t>Your MVP is a complete path from input to useful outcome.</a:t>
            </a:r>
          </a:p>
          <a:p/>
          <a:p>
            <a:r>
              <a:t>That is what you build first.</a:t>
            </a:r>
          </a:p>
          <a:p/>
          <a:p>
            <a:r>
              <a:t>[ASK]</a:t>
            </a:r>
          </a:p>
          <a:p>
            <a:r>
              <a:t>"Would you rather have ten unfinished features or one reliable feature that clearly solves the problem?"</a:t>
            </a:r>
          </a:p>
          <a:p/>
          <a:p>
            <a:r>
              <a:t>[PAUSE]</a:t>
            </a:r>
          </a:p>
          <a:p>
            <a:r>
              <a:t>Let them answer. Almost every class says the reliable feature.</a:t>
            </a:r>
          </a:p>
          <a:p/>
          <a:p>
            <a:r>
              <a:t>Then reinforce:</a:t>
            </a:r>
          </a:p>
          <a:p/>
          <a:p>
            <a:r>
              <a:t>"One reliable core flow gives you something you can demonstrate, test, explain and improve."</a:t>
            </a:r>
          </a:p>
          <a:p/>
          <a:p>
            <a:r>
              <a:t>[CHECK]</a:t>
            </a:r>
          </a:p>
          <a:p>
            <a:r>
              <a:t>"Think of your last project. How many features did you plan on day one — and how many actually worked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0:13–0:16 (3 min)</a:t>
            </a:r>
          </a:p>
          <a:p/>
          <a:p>
            <a:r>
              <a:t>Most teams think about the demo after building.</a:t>
            </a:r>
          </a:p>
          <a:p/>
          <a:p>
            <a:r>
              <a:t>I want you to do the opposite.</a:t>
            </a:r>
          </a:p>
          <a:p/>
          <a:p>
            <a:r>
              <a:t>Design the demo while you build.</a:t>
            </a:r>
          </a:p>
          <a:p/>
          <a:p>
            <a:r>
              <a:t>[SHOW — top chain, left to right]</a:t>
            </a:r>
          </a:p>
          <a:p>
            <a:r>
              <a:t>Your audience should understand:</a:t>
            </a:r>
          </a:p>
          <a:p/>
          <a:p>
            <a:r>
              <a:t>What was the problem?</a:t>
            </a:r>
          </a:p>
          <a:p>
            <a:r>
              <a:t>What did the user do?</a:t>
            </a:r>
          </a:p>
          <a:p>
            <a:r>
              <a:t>What did the AI actually do?</a:t>
            </a:r>
          </a:p>
          <a:p>
            <a:r>
              <a:t>What result came out?</a:t>
            </a:r>
          </a:p>
          <a:p>
            <a:r>
              <a:t>Why is that result useful?</a:t>
            </a:r>
          </a:p>
          <a:p/>
          <a:p>
            <a:r>
              <a:t>That's your demo story.</a:t>
            </a:r>
          </a:p>
          <a:p/>
          <a:p>
            <a:r>
              <a:t>[SHOW — example panel]</a:t>
            </a:r>
          </a:p>
          <a:p/>
          <a:p>
            <a:r>
              <a:t>"Student has 500 pages of college documentation."</a:t>
            </a:r>
          </a:p>
          <a:p/>
          <a:p>
            <a:r>
              <a:t>→ Upload</a:t>
            </a:r>
          </a:p>
          <a:p/>
          <a:p>
            <a:r>
              <a:t>→ Ask: "What are the internship eligibility rules?"</a:t>
            </a:r>
          </a:p>
          <a:p/>
          <a:p>
            <a:r>
              <a:t>→ Retrieve relevant content</a:t>
            </a:r>
          </a:p>
          <a:p/>
          <a:p>
            <a:r>
              <a:t>→ AI answers — and shows the source: Eligibility.md</a:t>
            </a:r>
          </a:p>
          <a:p/>
          <a:p>
            <a:r>
              <a:t>Then say:</a:t>
            </a:r>
          </a:p>
          <a:p/>
          <a:p>
            <a:r>
              <a:t>"That is already a story.</a:t>
            </a:r>
          </a:p>
          <a:p/>
          <a:p>
            <a:r>
              <a:t>You don't need twenty screens to explain value."</a:t>
            </a:r>
          </a:p>
          <a:p/>
          <a:p>
            <a:r>
              <a:t>[PAUSE — 5 seconds of silence so they absorb the example]</a:t>
            </a:r>
          </a:p>
          <a:p/>
          <a:p>
            <a:r>
              <a:t>[ASK]</a:t>
            </a:r>
          </a:p>
          <a:p>
            <a:r>
              <a:t>"If your demo needed a two-minute explanation before anyone understood the value, what would you cut?"</a:t>
            </a:r>
          </a:p>
          <a:p/>
          <a:p>
            <a:r>
              <a:t>Guide toward: cut everything before the first useful outcome.</a:t>
            </a:r>
          </a:p>
          <a:p/>
          <a:p>
            <a:r>
              <a:t>[CHECK]</a:t>
            </a:r>
          </a:p>
          <a:p>
            <a:r>
              <a:t>"Before the next slide, silently write your five demo beats — problem, action, AI, result, why — in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0:16–0:20 (4 min)</a:t>
            </a:r>
          </a:p>
          <a:p/>
          <a:p>
            <a:r>
              <a:t>Before opening the editor, let's do a 30-second quality gate.</a:t>
            </a:r>
          </a:p>
          <a:p/>
          <a:p>
            <a:r>
              <a:t>[CHECK — run it live, one item at a time, hands up for each YES]</a:t>
            </a:r>
          </a:p>
          <a:p/>
          <a:p>
            <a:r>
              <a:t>Can I explain the problem in one sentence?</a:t>
            </a:r>
          </a:p>
          <a:p/>
          <a:p>
            <a:r>
              <a:t>Do I know my user?</a:t>
            </a:r>
          </a:p>
          <a:p/>
          <a:p>
            <a:r>
              <a:t>Can I describe one complete happy path?</a:t>
            </a:r>
          </a:p>
          <a:p/>
          <a:p>
            <a:r>
              <a:t>Is AI actually necessary?</a:t>
            </a:r>
          </a:p>
          <a:p/>
          <a:p>
            <a:r>
              <a:t>Can I test the feature?</a:t>
            </a:r>
          </a:p>
          <a:p/>
          <a:p>
            <a:r>
              <a:t>Do I know what I will show during the demo?</a:t>
            </a:r>
          </a:p>
          <a:p/>
          <a:p>
            <a:r>
              <a:t>[PAUSE after all six]</a:t>
            </a:r>
          </a:p>
          <a:p/>
          <a:p>
            <a:r>
              <a:t>If the answer is no — don't add more features.</a:t>
            </a:r>
          </a:p>
          <a:p/>
          <a:p>
            <a:r>
              <a:t>Fix the definition first.</a:t>
            </a:r>
          </a:p>
          <a:p/>
          <a:p>
            <a:r>
              <a:t>[ASK]</a:t>
            </a:r>
          </a:p>
          <a:p>
            <a:r>
              <a:t>"Raise your hand if, on your last project, you would have failed at least one of these six checks on day one."</a:t>
            </a:r>
          </a:p>
          <a:p/>
          <a:p>
            <a:r>
              <a:t>[PAUSE — let the show of hands land. Most of the room will raise hands.]</a:t>
            </a:r>
          </a:p>
          <a:p/>
          <a:p>
            <a:r>
              <a:t>Then, calmly:</a:t>
            </a:r>
          </a:p>
          <a:p>
            <a:r>
              <a:t>"That is normal. The gate exists so day one mistakes don't reach day three. Use it every time — it takes thirty seconds and it protects hours."</a:t>
            </a:r>
          </a:p>
          <a:p/>
          <a:p>
            <a:r>
              <a:t>Read the bottom line together, out loud, once:</a:t>
            </a:r>
          </a:p>
          <a:p>
            <a:r>
              <a:t>"If you cannot explain the flow, don't add more code."</a:t>
            </a:r>
          </a:p>
          <a:p/>
          <a:p>
            <a:r>
              <a:t>[PAUSE 3 sec]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0:20–0:23 (3 min)</a:t>
            </a:r>
          </a:p>
          <a:p/>
          <a:p>
            <a:r>
              <a:t>Now we bring in OpenCode.</a:t>
            </a:r>
          </a:p>
          <a:p/>
          <a:p>
            <a:r>
              <a:t>[SHOW — the six-step strip]</a:t>
            </a:r>
          </a:p>
          <a:p>
            <a:r>
              <a:t>The goal is not to make the AI build everything without supervision.</a:t>
            </a:r>
          </a:p>
          <a:p/>
          <a:p>
            <a:r>
              <a:t>The goal is to use AI as an engineering accelerator.</a:t>
            </a:r>
          </a:p>
          <a:p/>
          <a:p>
            <a:r>
              <a:t>OpenCode is useful when you give it a specific task and enough context.</a:t>
            </a:r>
          </a:p>
          <a:p/>
          <a:p>
            <a:r>
              <a:t>The mistake is:</a:t>
            </a:r>
          </a:p>
          <a:p/>
          <a:p>
            <a:r>
              <a:t>"Build my entire hackathon project."</a:t>
            </a:r>
          </a:p>
          <a:p/>
          <a:p>
            <a:r>
              <a:t>[point at the ✗ box]</a:t>
            </a:r>
          </a:p>
          <a:p/>
          <a:p>
            <a:r>
              <a:t>A better request is:</a:t>
            </a:r>
          </a:p>
          <a:p/>
          <a:p>
            <a:r>
              <a:t>"Inspect the current project.</a:t>
            </a:r>
          </a:p>
          <a:p>
            <a:r>
              <a:t>Implement this one feature.</a:t>
            </a:r>
          </a:p>
          <a:p>
            <a:r>
              <a:t>Preserve the existing architecture.</a:t>
            </a:r>
          </a:p>
          <a:p>
            <a:r>
              <a:t>Add validation.</a:t>
            </a:r>
          </a:p>
          <a:p>
            <a:r>
              <a:t>Test it.</a:t>
            </a:r>
          </a:p>
          <a:p>
            <a:r>
              <a:t>Explain what changed."</a:t>
            </a:r>
          </a:p>
          <a:p/>
          <a:p>
            <a:r>
              <a:t>[point at the ✓ box]</a:t>
            </a:r>
          </a:p>
          <a:p/>
          <a:p>
            <a:r>
              <a:t>That gives you control.</a:t>
            </a:r>
          </a:p>
          <a:p/>
          <a:p>
            <a:r>
              <a:t>[ASK]</a:t>
            </a:r>
          </a:p>
          <a:p>
            <a:r>
              <a:t>"Why is the second prompt better?"</a:t>
            </a:r>
          </a:p>
          <a:p/>
          <a:p>
            <a:r>
              <a:t>[PAUSE]</a:t>
            </a:r>
          </a:p>
          <a:p>
            <a:r>
              <a:t>Guide toward:</a:t>
            </a:r>
          </a:p>
          <a:p>
            <a:r>
              <a:t>- less ambiguity</a:t>
            </a:r>
          </a:p>
          <a:p>
            <a:r>
              <a:t>- smaller task</a:t>
            </a:r>
          </a:p>
          <a:p>
            <a:r>
              <a:t>- easier testing</a:t>
            </a:r>
          </a:p>
          <a:p>
            <a:r>
              <a:t>- easier debugging</a:t>
            </a:r>
          </a:p>
          <a:p>
            <a:r>
              <a:t>- better control</a:t>
            </a:r>
          </a:p>
          <a:p/>
          <a:p>
            <a:r>
              <a:t>Then tap the center line:</a:t>
            </a:r>
          </a:p>
          <a:p>
            <a:r>
              <a:t>"And remember the rule in the middle — AI-generated code is not working software. You own every line it produces."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0:23–0:26 (3 min)</a:t>
            </a:r>
          </a:p>
          <a:p/>
          <a:p>
            <a:r>
              <a:t>This is how I want you to think about AI coding agents.</a:t>
            </a:r>
          </a:p>
          <a:p/>
          <a:p>
            <a:r>
              <a:t>[SHOW — walk the left column top to bottom]</a:t>
            </a:r>
          </a:p>
          <a:p/>
          <a:p>
            <a:r>
              <a:t>Give context.</a:t>
            </a:r>
          </a:p>
          <a:p>
            <a:r>
              <a:t>Give one task.</a:t>
            </a:r>
          </a:p>
          <a:p>
            <a:r>
              <a:t>Give constraints.</a:t>
            </a:r>
          </a:p>
          <a:p>
            <a:r>
              <a:t>Tell it what to test.</a:t>
            </a:r>
          </a:p>
          <a:p/>
          <a:p>
            <a:r>
              <a:t>Then — the part almost everyone skips — ask it to report what changed.</a:t>
            </a:r>
          </a:p>
          <a:p/>
          <a:p>
            <a:r>
              <a:t>[SHOW — the prompt panel]</a:t>
            </a:r>
          </a:p>
          <a:p/>
          <a:p>
            <a:r>
              <a:t>Read it with them:</a:t>
            </a:r>
          </a:p>
          <a:p/>
          <a:p>
            <a:r>
              <a:t>"Inspect this repository.</a:t>
            </a:r>
          </a:p>
          <a:p>
            <a:r>
              <a:t>Add a document-upload endpoint.</a:t>
            </a:r>
          </a:p>
          <a:p>
            <a:r>
              <a:t>Keep the existing architecture.</a:t>
            </a:r>
          </a:p>
          <a:p>
            <a:r>
              <a:t>Add validation and useful logging.</a:t>
            </a:r>
          </a:p>
          <a:p>
            <a:r>
              <a:t>Do not refactor unrelated files.</a:t>
            </a:r>
          </a:p>
          <a:p>
            <a:r>
              <a:t>Run the relevant test.</a:t>
            </a:r>
          </a:p>
          <a:p>
            <a:r>
              <a:t>Report: files changed, behavior added, test result, remaining risks."</a:t>
            </a:r>
          </a:p>
          <a:p/>
          <a:p>
            <a:r>
              <a:t>That last part is important.</a:t>
            </a:r>
          </a:p>
          <a:p/>
          <a:p>
            <a:r>
              <a:t>Don't just accept code.</a:t>
            </a:r>
          </a:p>
          <a:p/>
          <a:p>
            <a:r>
              <a:t>Ask what it changed.</a:t>
            </a:r>
          </a:p>
          <a:p/>
          <a:p>
            <a:r>
              <a:t>Ask whether it tested the change.</a:t>
            </a:r>
          </a:p>
          <a:p/>
          <a:p>
            <a:r>
              <a:t>Ask what remains uncertain.</a:t>
            </a:r>
          </a:p>
          <a:p/>
          <a:p>
            <a:r>
              <a:t>[DEMO]</a:t>
            </a:r>
          </a:p>
          <a:p>
            <a:r>
              <a:t>If the lab environment is available, paste this prompt live in OpenCode and let it run for 30–60 seconds.</a:t>
            </a:r>
          </a:p>
          <a:p/>
          <a:p>
            <a:r>
              <a:t>While it runs, say:</a:t>
            </a:r>
          </a:p>
          <a:p>
            <a:r>
              <a:t>"Watch the process, not just the final code."</a:t>
            </a:r>
          </a:p>
          <a:p/>
          <a:p>
            <a:r>
              <a:t>[PAUSE — watch it work. Narrate briefly: it is reading files first, not writing yet — that is the CONTEXT step doing its job.]</a:t>
            </a:r>
          </a:p>
          <a:p/>
          <a:p>
            <a:r>
              <a:t>[CHECK]</a:t>
            </a:r>
          </a:p>
          <a:p>
            <a:r>
              <a:t>"Before you use any agent tomorrow, your prompt must contain all five left-column items. If one is missing, the output is a guess.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0:26–0:28 (2 min)</a:t>
            </a:r>
          </a:p>
          <a:p/>
          <a:p>
            <a:r>
              <a:t>Now let's change the problem.</a:t>
            </a:r>
          </a:p>
          <a:p/>
          <a:p>
            <a:r>
              <a:t>Imagine our hackathon project has 500 pages of policies, manuals, FAQs and technical documents.</a:t>
            </a:r>
          </a:p>
          <a:p/>
          <a:p>
            <a:r>
              <a:t>We cannot simply paste all 500 pages into every prompt.</a:t>
            </a:r>
          </a:p>
          <a:p/>
          <a:p>
            <a:r>
              <a:t>[SHOW — top to bottom: docs → question → ???]</a:t>
            </a:r>
          </a:p>
          <a:p/>
          <a:p>
            <a:r>
              <a:t>So what do we need?</a:t>
            </a:r>
          </a:p>
          <a:p/>
          <a:p>
            <a:r>
              <a:t>We need a retrieval mechanism.</a:t>
            </a:r>
          </a:p>
          <a:p/>
          <a:p>
            <a:r>
              <a:t>That's where RAG comes in.</a:t>
            </a:r>
          </a:p>
          <a:p/>
          <a:p>
            <a:r>
              <a:t>[PAUSE — 2 seconds before the reveal]</a:t>
            </a:r>
          </a:p>
          <a:p/>
          <a:p>
            <a:r>
              <a:t>"RAG means Retrieval-Augmented Generation."</a:t>
            </a:r>
          </a:p>
          <a:p/>
          <a:p>
            <a:r>
              <a:t>[ASK]</a:t>
            </a:r>
          </a:p>
          <a:p>
            <a:r>
              <a:t>"What do you think retrieval means here?"</a:t>
            </a:r>
          </a:p>
          <a:p/>
          <a:p>
            <a:r>
              <a:t>[PAUSE]</a:t>
            </a:r>
          </a:p>
          <a:p>
            <a:r>
              <a:t>Let students answer before revealing the pipeline.</a:t>
            </a:r>
          </a:p>
          <a:p/>
          <a:p>
            <a:r>
              <a:t>Take 2–3 answers. Typical good ones: "searching for relevant parts", "finding the right chunk", "looking up before answering".</a:t>
            </a:r>
          </a:p>
          <a:p/>
          <a:p>
            <a:r>
              <a:t>Say:</a:t>
            </a:r>
          </a:p>
          <a:p>
            <a:r>
              <a:t>"Every answer you just heard is correct — and the next slide shows exactly how that search is built, stage by stage."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0:28–0:31 (3 min)</a:t>
            </a:r>
          </a:p>
          <a:p/>
          <a:p>
            <a:r>
              <a:t>Let's walk through this slowly.</a:t>
            </a:r>
          </a:p>
          <a:p/>
          <a:p>
            <a:r>
              <a:t>[SHOW — Zone A, left to right. Point at each box as you speak.]</a:t>
            </a:r>
          </a:p>
          <a:p/>
          <a:p>
            <a:r>
              <a:t>First, we have our documents.</a:t>
            </a:r>
          </a:p>
          <a:p/>
          <a:p>
            <a:r>
              <a:t>We break them into smaller chunks.</a:t>
            </a:r>
          </a:p>
          <a:p/>
          <a:p>
            <a:r>
              <a:t>Those chunks are converted into embeddings or another searchable representation.</a:t>
            </a:r>
          </a:p>
          <a:p/>
          <a:p>
            <a:r>
              <a:t>We store them in a search index, often a vector database.</a:t>
            </a:r>
          </a:p>
          <a:p/>
          <a:p>
            <a:r>
              <a:t>[PAUSE — finger on the divider]</a:t>
            </a:r>
          </a:p>
          <a:p>
            <a:r>
              <a:t>Everything above this line happens before any user asks anything.</a:t>
            </a:r>
          </a:p>
          <a:p/>
          <a:p>
            <a:r>
              <a:t>[SHOW — the orange elbow]</a:t>
            </a:r>
          </a:p>
          <a:p>
            <a:r>
              <a:t>And this arrow matters: the query side READS from that index. It does not re-process the documents every time.</a:t>
            </a:r>
          </a:p>
          <a:p/>
          <a:p>
            <a:r>
              <a:t>[SHOW — Zone B, left to right]</a:t>
            </a:r>
          </a:p>
          <a:p/>
          <a:p>
            <a:r>
              <a:t>Now the user asks a question.</a:t>
            </a:r>
          </a:p>
          <a:p/>
          <a:p>
            <a:r>
              <a:t>We represent the question in a form that can be searched.</a:t>
            </a:r>
          </a:p>
          <a:p/>
          <a:p>
            <a:r>
              <a:t>The system retrieves relevant chunks.</a:t>
            </a:r>
          </a:p>
          <a:p/>
          <a:p>
            <a:r>
              <a:t>Those chunks become context.</a:t>
            </a:r>
          </a:p>
          <a:p/>
          <a:p>
            <a:r>
              <a:t>That context is passed to the language model.</a:t>
            </a:r>
          </a:p>
          <a:p/>
          <a:p>
            <a:r>
              <a:t>And the LLM generates the final answer.</a:t>
            </a:r>
          </a:p>
          <a:p/>
          <a:p>
            <a:r>
              <a:t>That's the traditional RAG mental model.</a:t>
            </a:r>
          </a:p>
          <a:p/>
          <a:p>
            <a:r>
              <a:t>[PAUSE — 3 seconds]</a:t>
            </a:r>
          </a:p>
          <a:p/>
          <a:p>
            <a:r>
              <a:t>"Notice something important.</a:t>
            </a:r>
          </a:p>
          <a:p/>
          <a:p>
            <a:r>
              <a:t>The LLM isn't magically searching the entire knowledge base.</a:t>
            </a:r>
          </a:p>
          <a:p/>
          <a:p>
            <a:r>
              <a:t>There is a retrieval layer before generation."</a:t>
            </a:r>
          </a:p>
          <a:p/>
          <a:p>
            <a:r>
              <a:t>[CHECK]</a:t>
            </a:r>
          </a:p>
          <a:p>
            <a:r>
              <a:t>"Cover the bottom half with your hand. Can you recite the four ingestion stages? If not — look once more: documents, chunking, embeddings, index."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0:31–0:33 (2 min)</a:t>
            </a:r>
          </a:p>
          <a:p/>
          <a:p>
            <a:r>
              <a:t>Now this is where engineering starts.</a:t>
            </a:r>
          </a:p>
          <a:p/>
          <a:p>
            <a:r>
              <a:t>RAG is not just:</a:t>
            </a:r>
          </a:p>
          <a:p/>
          <a:p>
            <a:r>
              <a:t>Documents plus an LLM.</a:t>
            </a:r>
          </a:p>
          <a:p/>
          <a:p>
            <a:r>
              <a:t>[SHOW — walk the five columns left to right, tapping each orange FAILS WHEN band]</a:t>
            </a:r>
          </a:p>
          <a:p/>
          <a:p>
            <a:r>
              <a:t>Maybe your chunking is bad.</a:t>
            </a:r>
          </a:p>
          <a:p>
            <a:r>
              <a:t>Maybe your document was never indexed.</a:t>
            </a:r>
          </a:p>
          <a:p>
            <a:r>
              <a:t>Maybe retrieval returns irrelevant chunks.</a:t>
            </a:r>
          </a:p>
          <a:p>
            <a:r>
              <a:t>Maybe the right chunks are retrieved but not passed correctly.</a:t>
            </a:r>
          </a:p>
          <a:p>
            <a:r>
              <a:t>Maybe the context is good but the generation is poor.</a:t>
            </a:r>
          </a:p>
          <a:p/>
          <a:p>
            <a:r>
              <a:t>So whenever RAG fails, don't just blame the LLM.</a:t>
            </a:r>
          </a:p>
          <a:p/>
          <a:p>
            <a:r>
              <a:t>Find the first stage where the system became wrong.</a:t>
            </a:r>
          </a:p>
          <a:p/>
          <a:p>
            <a:r>
              <a:t>[ASK]</a:t>
            </a:r>
          </a:p>
          <a:p>
            <a:r>
              <a:t>"If retrieval returns zero chunks, is the LLM the first thing you should debug?"</a:t>
            </a:r>
          </a:p>
          <a:p/>
          <a:p>
            <a:r>
              <a:t>[PAUSE]</a:t>
            </a:r>
          </a:p>
          <a:p>
            <a:r>
              <a:t>Expected: "No."</a:t>
            </a:r>
          </a:p>
          <a:p/>
          <a:p>
            <a:r>
              <a:t>Mentor:</a:t>
            </a:r>
          </a:p>
          <a:p>
            <a:r>
              <a:t>"Exactly.</a:t>
            </a:r>
          </a:p>
          <a:p/>
          <a:p>
            <a:r>
              <a:t>If nothing was retrieved, generation never had a chance. Debug backwards — start at retrieval, then indexing, then chunking. The stage that broke first is the stage you fix first."</a:t>
            </a:r>
          </a:p>
          <a:p/>
          <a:p>
            <a:r>
              <a:t>[CHECK]</a:t>
            </a:r>
          </a:p>
          <a:p>
            <a:r>
              <a:t>"Quick one: your bot answers a policy question with total confidence — but from a rule that doesn't exist. Which of the five columns do you inspect first?" (Answer: 03 Retrieval, then 01/02 if the wrong doc came 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0:33–0:35.5 (2.5 min)</a:t>
            </a:r>
          </a:p>
          <a:p/>
          <a:p>
            <a:r>
              <a:t>Now look carefully at this.</a:t>
            </a:r>
          </a:p>
          <a:p/>
          <a:p>
            <a:r>
              <a:t>[SHOW — the three file cards, left to right]</a:t>
            </a:r>
          </a:p>
          <a:p/>
          <a:p>
            <a:r>
              <a:t>We have three knowledge concepts:</a:t>
            </a:r>
          </a:p>
          <a:p/>
          <a:p>
            <a:r>
              <a:t>Leave Rules.</a:t>
            </a:r>
          </a:p>
          <a:p>
            <a:r>
              <a:t>Eligibility.</a:t>
            </a:r>
          </a:p>
          <a:p>
            <a:r>
              <a:t>Exceptions.</a:t>
            </a:r>
          </a:p>
          <a:p/>
          <a:p>
            <a:r>
              <a:t>They are represented as Markdown documents.</a:t>
            </a:r>
          </a:p>
          <a:p/>
          <a:p>
            <a:r>
              <a:t>They have YAML metadata.</a:t>
            </a:r>
          </a:p>
          <a:p/>
          <a:p>
            <a:r>
              <a:t>And they link to each other.</a:t>
            </a:r>
          </a:p>
          <a:p/>
          <a:p>
            <a:r>
              <a:t>[point at the "links" arrows]</a:t>
            </a:r>
          </a:p>
          <a:p/>
          <a:p>
            <a:r>
              <a:t>This brings us to OKF.</a:t>
            </a:r>
          </a:p>
          <a:p/>
          <a:p>
            <a:r>
              <a:t>[PAUSE — 2 seconds]</a:t>
            </a:r>
          </a:p>
          <a:p/>
          <a:p>
            <a:r>
              <a:t>"OKF stands for Open Knowledge Format."</a:t>
            </a:r>
          </a:p>
          <a:p/>
          <a:p>
            <a:r>
              <a:t>Then explain:</a:t>
            </a:r>
          </a:p>
          <a:p/>
          <a:p>
            <a:r>
              <a:t>"Google Cloud introduced the Open Knowledge Format in 2026 as an open, vendor-neutral format for representing knowledge."</a:t>
            </a:r>
          </a:p>
          <a:p/>
          <a:p>
            <a:r>
              <a:t>"The key idea is not another chatbot.</a:t>
            </a:r>
          </a:p>
          <a:p/>
          <a:p>
            <a:r>
              <a:t>The key idea is structured, connected knowledge."</a:t>
            </a:r>
          </a:p>
          <a:p/>
          <a:p>
            <a:r>
              <a:t>[point at the four chips]</a:t>
            </a:r>
          </a:p>
          <a:p/>
          <a:p>
            <a:r>
              <a:t>Markdown files — anyone can read them.</a:t>
            </a:r>
          </a:p>
          <a:p>
            <a:r>
              <a:t>YAML metadata — the file describes itself.</a:t>
            </a:r>
          </a:p>
          <a:p>
            <a:r>
              <a:t>Explicit links — concepts point at each other.</a:t>
            </a:r>
          </a:p>
          <a:p>
            <a:r>
              <a:t>Connected concepts — knowledge as a network, not a pile.</a:t>
            </a:r>
          </a:p>
          <a:p/>
          <a:p>
            <a:r>
              <a:t>[ASK]</a:t>
            </a:r>
          </a:p>
          <a:p>
            <a:r>
              <a:t>"Compare this with a single 200-page PDF: which one is easier for a human to review — and which for an agent to traverse?"</a:t>
            </a:r>
          </a:p>
          <a:p/>
          <a:p>
            <a:r>
              <a:t>[PAUSE]</a:t>
            </a:r>
          </a:p>
          <a:p>
            <a:r>
              <a:t>Expected direction: the connected Markdown files, both for humans and machines.</a:t>
            </a:r>
          </a:p>
          <a:p/>
          <a:p>
            <a:r>
              <a:t>[CHECK]</a:t>
            </a:r>
          </a:p>
          <a:p>
            <a:r>
              <a:t>"Notice what is NOT on this slide: no vector database, no model, no framework. Hold that thought — it becomes the punchline in two slides."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0:35.5–0:37.5 (2 min)</a:t>
            </a:r>
          </a:p>
          <a:p/>
          <a:p>
            <a:r>
              <a:t>Look at the structure.</a:t>
            </a:r>
          </a:p>
          <a:p/>
          <a:p>
            <a:r>
              <a:t>[SHOW — panel, top to bottom. Tap each highlighted region as the right-hand annotation is named.]</a:t>
            </a:r>
          </a:p>
          <a:p/>
          <a:p>
            <a:r>
              <a:t>The file has a YAML frontmatter section.</a:t>
            </a:r>
          </a:p>
          <a:p/>
          <a:p>
            <a:r>
              <a:t>That is where metadata can live.</a:t>
            </a:r>
          </a:p>
          <a:p/>
          <a:p>
            <a:r>
              <a:t>One factual detail worth remembering: in OKF v0.2, type is the only always-required frontmatter key. Everything else is optional metadata you choose to add.</a:t>
            </a:r>
          </a:p>
          <a:p/>
          <a:p>
            <a:r>
              <a:t>Then we have normal Markdown content.</a:t>
            </a:r>
          </a:p>
          <a:p/>
          <a:p>
            <a:r>
              <a:t>And we can explicitly link one concept to another.</a:t>
            </a:r>
          </a:p>
          <a:p/>
          <a:p>
            <a:r>
              <a:t>[point at the two orange link lines]</a:t>
            </a:r>
          </a:p>
          <a:p/>
          <a:p>
            <a:r>
              <a:t>So knowledge doesn't have to live as one giant document.</a:t>
            </a:r>
          </a:p>
          <a:p/>
          <a:p>
            <a:r>
              <a:t>We can represent concepts separately and connect them.</a:t>
            </a:r>
          </a:p>
          <a:p/>
          <a:p>
            <a:r>
              <a:t>That makes the knowledge easier to understand, review and maintain.</a:t>
            </a:r>
          </a:p>
          <a:p/>
          <a:p>
            <a:r>
              <a:t>[PAUSE]</a:t>
            </a:r>
          </a:p>
          <a:p/>
          <a:p>
            <a:r>
              <a:t>Also notice what this file does NOT contain:</a:t>
            </a:r>
          </a:p>
          <a:p>
            <a:r>
              <a:t>no database connection, no embedding model, no API key.</a:t>
            </a:r>
          </a:p>
          <a:p/>
          <a:p>
            <a:r>
              <a:t>It is a file. If you can cat a file, you can read OKF.</a:t>
            </a:r>
          </a:p>
          <a:p/>
          <a:p>
            <a:r>
              <a:t>[ASK]</a:t>
            </a:r>
          </a:p>
          <a:p>
            <a:r>
              <a:t>"If Leave Rules grows to 40 exceptions, what do you do in this format — and what would you have done inside one giant PDF?"</a:t>
            </a:r>
          </a:p>
          <a:p/>
          <a:p>
            <a:r>
              <a:t>Guide toward: split into more linked concept files vs. drowning in one document.</a:t>
            </a:r>
          </a:p>
          <a:p/>
          <a:p>
            <a:r>
              <a:t>[CHECK]</a:t>
            </a:r>
          </a:p>
          <a:p>
            <a:r>
              <a:t>"Point at the frontmatter. What is the one key OKF always requires?" (Answer: type.)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0:37.5–0:39 (1.5 min)</a:t>
            </a:r>
          </a:p>
          <a:p/>
          <a:p>
            <a:r>
              <a:t>Here is the important architectural idea.</a:t>
            </a:r>
          </a:p>
          <a:p/>
          <a:p>
            <a:r>
              <a:t>[SHOW — top to bottom, layer by layer]</a:t>
            </a:r>
          </a:p>
          <a:p/>
          <a:p>
            <a:r>
              <a:t>OKF is about representing the knowledge itself.</a:t>
            </a:r>
          </a:p>
          <a:p/>
          <a:p>
            <a:r>
              <a:t>It does not prescribe one particular runtime.</a:t>
            </a:r>
          </a:p>
          <a:p/>
          <a:p>
            <a:r>
              <a:t>It does not say:</a:t>
            </a:r>
          </a:p>
          <a:p>
            <a:r>
              <a:t>Use this vector database.</a:t>
            </a:r>
          </a:p>
          <a:p>
            <a:r>
              <a:t>Use this search engine.</a:t>
            </a:r>
          </a:p>
          <a:p>
            <a:r>
              <a:t>Use this LLM.</a:t>
            </a:r>
          </a:p>
          <a:p/>
          <a:p>
            <a:r>
              <a:t>[point at layer 02]</a:t>
            </a:r>
          </a:p>
          <a:p>
            <a:r>
              <a:t>The knowledge bundle can be consumed by different systems — a file server, a search index, a knowledge UI, a graph viewer, an agent.</a:t>
            </a:r>
          </a:p>
          <a:p/>
          <a:p>
            <a:r>
              <a:t>That's why I want you to think about OKF as a knowledge representation layer.</a:t>
            </a:r>
          </a:p>
          <a:p/>
          <a:p>
            <a:r>
              <a:t>Then say:</a:t>
            </a:r>
          </a:p>
          <a:p/>
          <a:p>
            <a:r>
              <a:t>"The question changes from:</a:t>
            </a:r>
          </a:p>
          <a:p/>
          <a:p>
            <a:r>
              <a:t>'How do I retrieve a chunk?'</a:t>
            </a:r>
          </a:p>
          <a:p/>
          <a:p>
            <a:r>
              <a:t>to:</a:t>
            </a:r>
          </a:p>
          <a:p/>
          <a:p>
            <a:r>
              <a:t>'How should this knowledge be represented so humans and AI systems can understand and traverse it?'"</a:t>
            </a:r>
          </a:p>
          <a:p/>
          <a:p>
            <a:r>
              <a:t>[PAUSE — 3 seconds. Let the shift land.]</a:t>
            </a:r>
          </a:p>
          <a:p/>
          <a:p>
            <a:r>
              <a:t>[ASK]</a:t>
            </a:r>
          </a:p>
          <a:p>
            <a:r>
              <a:t>"Which layer would you debug if the knowledge itself is wrong and out of date — layer 1 or layer 3?"</a:t>
            </a:r>
          </a:p>
          <a:p/>
          <a:p>
            <a:r>
              <a:t>Expected: layer 1 — the knowledge layer.</a:t>
            </a:r>
          </a:p>
          <a:p/>
          <a:p>
            <a:r>
              <a:t>[CHECK]</a:t>
            </a:r>
          </a:p>
          <a:p>
            <a:r>
              <a:t>"Say it with me: OKF standardizes representation.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0:39–0:42 (3 min)</a:t>
            </a:r>
          </a:p>
          <a:p/>
          <a:p>
            <a:r>
              <a:t>This is the most important slide of today's technical section.</a:t>
            </a:r>
          </a:p>
          <a:p/>
          <a:p>
            <a:r>
              <a:t>[PAUSE — give them five seconds to just look at both panels]</a:t>
            </a:r>
          </a:p>
          <a:p/>
          <a:p>
            <a:r>
              <a:t>Do not think of OKF and RAG as two versions of the same thing.</a:t>
            </a:r>
          </a:p>
          <a:p/>
          <a:p>
            <a:r>
              <a:t>They operate at different layers.</a:t>
            </a:r>
          </a:p>
          <a:p/>
          <a:p>
            <a:r>
              <a:t>[SHOW — left panel]</a:t>
            </a:r>
          </a:p>
          <a:p>
            <a:r>
              <a:t>Traditional RAG is a retrieval-and-generation architecture.</a:t>
            </a:r>
          </a:p>
          <a:p/>
          <a:p>
            <a:r>
              <a:t>Its focus is finding relevant context for the user's query.</a:t>
            </a:r>
          </a:p>
          <a:p/>
          <a:p>
            <a:r>
              <a:t>Chunk → Embed → Search → Retrieve → Context → LLM.</a:t>
            </a:r>
          </a:p>
          <a:p/>
          <a:p>
            <a:r>
              <a:t>Its central question:</a:t>
            </a:r>
          </a:p>
          <a:p>
            <a:r>
              <a:t>"What should I retrieve for this query?"</a:t>
            </a:r>
          </a:p>
          <a:p/>
          <a:p>
            <a:r>
              <a:t>[SHOW — right panel]</a:t>
            </a:r>
          </a:p>
          <a:p>
            <a:r>
              <a:t>OKF is a knowledge representation format.</a:t>
            </a:r>
          </a:p>
          <a:p/>
          <a:p>
            <a:r>
              <a:t>Its focus is how the knowledge itself is represented and connected.</a:t>
            </a:r>
          </a:p>
          <a:p/>
          <a:p>
            <a:r>
              <a:t>Markdown + YAML frontmatter + links.</a:t>
            </a:r>
          </a:p>
          <a:p/>
          <a:p>
            <a:r>
              <a:t>Its central question:</a:t>
            </a:r>
          </a:p>
          <a:p>
            <a:r>
              <a:t>"How should this knowledge be represented?"</a:t>
            </a:r>
          </a:p>
          <a:p/>
          <a:p>
            <a:r>
              <a:t>So the simplest way to remember it is:</a:t>
            </a:r>
          </a:p>
          <a:p/>
          <a:p>
            <a:r>
              <a:t>RAG retrieves.</a:t>
            </a:r>
          </a:p>
          <a:p/>
          <a:p>
            <a:r>
              <a:t>OKF organizes and represents.</a:t>
            </a:r>
          </a:p>
          <a:p/>
          <a:p>
            <a:r>
              <a:t>[PAUSE — 4 seconds. This is the line they should write down.]</a:t>
            </a:r>
          </a:p>
          <a:p/>
          <a:p>
            <a:r>
              <a:t>[point at the black band]</a:t>
            </a:r>
          </a:p>
          <a:p>
            <a:r>
              <a:t>Neither one should be described as simply replacing the other.</a:t>
            </a:r>
          </a:p>
          <a:p/>
          <a:p>
            <a:r>
              <a:t>[ASK]</a:t>
            </a:r>
          </a:p>
          <a:p>
            <a:r>
              <a:t>"Quick check — if your retrieved chunks are perfect but your answer is still bad, which layer are you debugging?" (RAG — generation side.)</a:t>
            </a:r>
          </a:p>
          <a:p/>
          <a:p>
            <a:r>
              <a:t>"And if your source files are a mess before anything is even indexed?" (OKF / knowledge representation side.)</a:t>
            </a:r>
          </a:p>
          <a:p/>
          <a:p>
            <a:r>
              <a:t>[CHECK]</a:t>
            </a:r>
          </a:p>
          <a:p>
            <a:r>
              <a:t>"Write the two-sentence version in your notes: RAG retrieves. OKF organizes and represents."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0:42–0:45 (3 min)</a:t>
            </a:r>
          </a:p>
          <a:p/>
          <a:p>
            <a:r>
              <a:t>Yes, these concepts can work together.</a:t>
            </a:r>
          </a:p>
          <a:p/>
          <a:p>
            <a:r>
              <a:t>[SHOW — walk the pipeline left to right, using the three brackets above]</a:t>
            </a:r>
          </a:p>
          <a:p/>
          <a:p>
            <a:r>
              <a:t>Imagine your knowledge is maintained as an OKF bundle.</a:t>
            </a:r>
          </a:p>
          <a:p/>
          <a:p>
            <a:r>
              <a:t>[KNOWLEDGE LAYER]</a:t>
            </a:r>
          </a:p>
          <a:p/>
          <a:p>
            <a:r>
              <a:t>A consumer can search or traverse that knowledge.</a:t>
            </a:r>
          </a:p>
          <a:p/>
          <a:p>
            <a:r>
              <a:t>[RETRIEVAL LAYER]</a:t>
            </a:r>
          </a:p>
          <a:p/>
          <a:p>
            <a:r>
              <a:t>Relevant information can then be passed to an LLM or agent.</a:t>
            </a:r>
          </a:p>
          <a:p/>
          <a:p>
            <a:r>
              <a:t>[GENERATION LAYER]</a:t>
            </a:r>
          </a:p>
          <a:p/>
          <a:p>
            <a:r>
              <a:t>So we can have:</a:t>
            </a:r>
          </a:p>
          <a:p/>
          <a:p>
            <a:r>
              <a:t>OKF for the knowledge representation layer.</a:t>
            </a:r>
          </a:p>
          <a:p/>
          <a:p>
            <a:r>
              <a:t>A search or retrieval layer for finding relevant information.</a:t>
            </a:r>
          </a:p>
          <a:p/>
          <a:p>
            <a:r>
              <a:t>And an LLM or agent for reasoning or generation.</a:t>
            </a:r>
          </a:p>
          <a:p/>
          <a:p>
            <a:r>
              <a:t>That's a much better mental model than saying:</a:t>
            </a:r>
          </a:p>
          <a:p/>
          <a:p>
            <a:r>
              <a:t>"OKF versus RAG."</a:t>
            </a:r>
          </a:p>
          <a:p/>
          <a:p>
            <a:r>
              <a:t>[PAUSE — 3 seconds]</a:t>
            </a:r>
          </a:p>
          <a:p/>
          <a:p>
            <a:r>
              <a:t>[ASK]</a:t>
            </a:r>
          </a:p>
          <a:p>
            <a:r>
              <a:t>"If we are building a college AI assistant with Leave Rules, Eligibility and Exceptions, which part belongs to the knowledge layer?"</a:t>
            </a:r>
          </a:p>
          <a:p/>
          <a:p>
            <a:r>
              <a:t>[PAUSE]</a:t>
            </a:r>
          </a:p>
          <a:p>
            <a:r>
              <a:t>Guide toward OKF.</a:t>
            </a:r>
          </a:p>
          <a:p/>
          <a:p>
            <a:r>
              <a:t>[ASK continued]</a:t>
            </a:r>
          </a:p>
          <a:p>
            <a:r>
              <a:t>"And what part happens when the student asks a question?"</a:t>
            </a:r>
          </a:p>
          <a:p/>
          <a:p>
            <a:r>
              <a:t>[PAUSE]</a:t>
            </a:r>
          </a:p>
          <a:p>
            <a:r>
              <a:t>Guide toward retrieval/search.</a:t>
            </a:r>
          </a:p>
          <a:p/>
          <a:p>
            <a:r>
              <a:t>[CHECK]</a:t>
            </a:r>
          </a:p>
          <a:p>
            <a:r>
              <a:t>"Name all three layers in order, out loud, as a class." (Knowledge → Retrieval →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0:45–0:47 (2 min)</a:t>
            </a:r>
          </a:p>
          <a:p/>
          <a:p>
            <a:r>
              <a:t>Let's make sure you can actually use this.</a:t>
            </a:r>
          </a:p>
          <a:p/>
          <a:p>
            <a:r>
              <a:t>Imagine we are building a college AI assistant.</a:t>
            </a:r>
          </a:p>
          <a:p/>
          <a:p>
            <a:r>
              <a:t>We have:</a:t>
            </a:r>
          </a:p>
          <a:p/>
          <a:p>
            <a:r>
              <a:t>Leave Rules</a:t>
            </a:r>
          </a:p>
          <a:p>
            <a:r>
              <a:t>Eligibility</a:t>
            </a:r>
          </a:p>
          <a:p>
            <a:r>
              <a:t>Exceptions</a:t>
            </a:r>
          </a:p>
          <a:p/>
          <a:p>
            <a:r>
              <a:t>[SHOW — scenario strip, tap each chip]</a:t>
            </a:r>
          </a:p>
          <a:p/>
          <a:p>
            <a:r>
              <a:t>Now answer four questions.</a:t>
            </a:r>
          </a:p>
          <a:p/>
          <a:p>
            <a:r>
              <a:t>[PAUSE after each — 20–25 seconds per question, pairs first, then take one class answer each]</a:t>
            </a:r>
          </a:p>
          <a:p/>
          <a:p>
            <a:r>
              <a:t>[ASK]</a:t>
            </a:r>
          </a:p>
          <a:p>
            <a:r>
              <a:t>1. What becomes a concept document?</a:t>
            </a:r>
          </a:p>
          <a:p>
            <a:r>
              <a:t>   → Expected direction: Markdown concept files — one file per concept.</a:t>
            </a:r>
          </a:p>
          <a:p/>
          <a:p>
            <a:r>
              <a:t>2. What metadata could we store?</a:t>
            </a:r>
          </a:p>
          <a:p>
            <a:r>
              <a:t>   → Expected direction: YAML frontmatter — type, title, description, and any optional metadata your team needs.</a:t>
            </a:r>
          </a:p>
          <a:p/>
          <a:p>
            <a:r>
              <a:t>3. How could the concepts be connected?</a:t>
            </a:r>
          </a:p>
          <a:p>
            <a:r>
              <a:t>   → Expected direction: standard Markdown links between files.</a:t>
            </a:r>
          </a:p>
          <a:p/>
          <a:p>
            <a:r>
              <a:t>4. What component finds the relevant knowledge when a student asks?</a:t>
            </a:r>
          </a:p>
          <a:p>
            <a:r>
              <a:t>   → Expected direction: the search / retrieval layer — not the concept files themselves.</a:t>
            </a:r>
          </a:p>
          <a:p/>
          <a:p>
            <a:r>
              <a:t>[CHECK]</a:t>
            </a:r>
          </a:p>
          <a:p>
            <a:r>
              <a:t>After all four, summarize in one breath:</a:t>
            </a:r>
          </a:p>
          <a:p>
            <a:r>
              <a:t>"Concepts as Markdown, metadata as YAML, relationships as links, retrieval as its own layer. That is the whole architecture in four sentences."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0:47–0:48 (1 min) — FINAL CLOSE</a:t>
            </a:r>
          </a:p>
          <a:p/>
          <a:p>
            <a:r>
              <a:t>Before we finish, I want you to remember four things.</a:t>
            </a:r>
          </a:p>
          <a:p/>
          <a:p>
            <a:r>
              <a:t>First:</a:t>
            </a:r>
          </a:p>
          <a:p/>
          <a:p>
            <a:r>
              <a:t>A hackathon is a decision problem before it is a coding problem.</a:t>
            </a:r>
          </a:p>
          <a:p/>
          <a:p>
            <a:r>
              <a:t>Second:</a:t>
            </a:r>
          </a:p>
          <a:p/>
          <a:p>
            <a:r>
              <a:t>Use OpenCode to accelerate the engineering process, but never stop verifying what it produces.</a:t>
            </a:r>
          </a:p>
          <a:p/>
          <a:p>
            <a:r>
              <a:t>Third:</a:t>
            </a:r>
          </a:p>
          <a:p/>
          <a:p>
            <a:r>
              <a:t>Traditional RAG is about retrieving relevant context and giving that context to the LLM so it can generate a response.</a:t>
            </a:r>
          </a:p>
          <a:p/>
          <a:p>
            <a:r>
              <a:t>And fourth:</a:t>
            </a:r>
          </a:p>
          <a:p/>
          <a:p>
            <a:r>
              <a:t>OKF is about representing knowledge in a structured, connected and maintainable format.</a:t>
            </a:r>
          </a:p>
          <a:p/>
          <a:p>
            <a:r>
              <a:t>So when you build an AI system, don't start by asking only:</a:t>
            </a:r>
          </a:p>
          <a:p/>
          <a:p>
            <a:r>
              <a:t>"Which model should I use?"</a:t>
            </a:r>
          </a:p>
          <a:p/>
          <a:p>
            <a:r>
              <a:t>Ask:</a:t>
            </a:r>
          </a:p>
          <a:p/>
          <a:p>
            <a:r>
              <a:t>What problem are we solving?</a:t>
            </a:r>
          </a:p>
          <a:p>
            <a:r>
              <a:t>What knowledge do we have?</a:t>
            </a:r>
          </a:p>
          <a:p>
            <a:r>
              <a:t>How should that knowledge be represented?</a:t>
            </a:r>
          </a:p>
          <a:p>
            <a:r>
              <a:t>How should it be retrieved?</a:t>
            </a:r>
          </a:p>
          <a:p>
            <a:r>
              <a:t>And how will we prove that the system actually works?</a:t>
            </a:r>
          </a:p>
          <a:p/>
          <a:p>
            <a:r>
              <a:t>That is the difference between simply building an AI demo and thinking like an AI engineer.</a:t>
            </a:r>
          </a:p>
          <a:p/>
          <a:p>
            <a:r>
              <a:t>Build the smallest system that proves the idea.</a:t>
            </a:r>
          </a:p>
          <a:p/>
          <a:p>
            <a:r>
              <a:t>Then make the knowledge, retrieval and AI layers understandable, testable and maintainable.</a:t>
            </a:r>
          </a:p>
          <a:p/>
          <a:p>
            <a:r>
              <a:t>[SHOW — read the three lines on screen together, slowly]</a:t>
            </a:r>
          </a:p>
          <a:p/>
          <a:p>
            <a:r>
              <a:t>BUILD THE IDEA.</a:t>
            </a:r>
          </a:p>
          <a:p>
            <a:r>
              <a:t>PROVE THE VALUE.</a:t>
            </a:r>
          </a:p>
          <a:p>
            <a:r>
              <a:t>UNDERSTAND THE SYSTEM.</a:t>
            </a:r>
          </a:p>
          <a:p/>
          <a:p>
            <a:r>
              <a:t>[PAUSE 2 sec] — end of session. Total: 48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DAY 39 · TASKVEDA AI CAREER ACCELERATOR</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01</a:t>
            </a:r>
          </a:p>
        </p:txBody>
      </p:sp>
      <p:sp>
        <p:nvSpPr>
          <p:cNvPr id="7" name="TextBox 6"/>
          <p:cNvSpPr txBox="1"/>
          <p:nvPr/>
        </p:nvSpPr>
        <p:spPr>
          <a:xfrm>
            <a:off x="8778240" y="1234440"/>
            <a:ext cx="2743200" cy="2194560"/>
          </a:xfrm>
          <a:prstGeom prst="rect">
            <a:avLst/>
          </a:prstGeom>
          <a:noFill/>
        </p:spPr>
        <p:txBody>
          <a:bodyPr wrap="square" anchor="t" lIns="0" rIns="0" tIns="0" bIns="0">
            <a:spAutoFit/>
          </a:bodyPr>
          <a:lstStyle/>
          <a:p>
            <a:pPr algn="r"/>
            <a:r>
              <a:rPr sz="11500" b="1" i="0" lang="en-US" spc="-400">
                <a:solidFill>
                  <a:srgbClr val="F2F2F4"/>
                </a:solidFill>
                <a:latin typeface="Plus Jakarta Sans"/>
                <a:cs typeface="Plus Jakarta Sans"/>
              </a:rPr>
              <a:t>39</a:t>
            </a:r>
          </a:p>
        </p:txBody>
      </p:sp>
      <p:sp>
        <p:nvSpPr>
          <p:cNvPr id="8" name="Rectangle 7"/>
          <p:cNvSpPr/>
          <p:nvPr/>
        </p:nvSpPr>
        <p:spPr>
          <a:xfrm>
            <a:off x="685800" y="1938528"/>
            <a:ext cx="502920" cy="50292"/>
          </a:xfrm>
          <a:prstGeom prst="rect">
            <a:avLst/>
          </a:prstGeom>
          <a:solidFill>
            <a:srgbClr val="FF6B2C"/>
          </a:solidFill>
          <a:ln>
            <a:noFill/>
          </a:ln>
          <a:effectLst/>
        </p:spPr>
        <p:txBody>
          <a:bodyPr rtlCol="0" anchor="ctr" wrap="square"/>
          <a:lstStyle/>
          <a:p>
            <a:pPr algn="ctr"/>
          </a:p>
        </p:txBody>
      </p:sp>
      <p:sp>
        <p:nvSpPr>
          <p:cNvPr id="9" name="Oval 8"/>
          <p:cNvSpPr/>
          <p:nvPr/>
        </p:nvSpPr>
        <p:spPr>
          <a:xfrm>
            <a:off x="685800" y="2235708"/>
            <a:ext cx="53035" cy="53035"/>
          </a:xfrm>
          <a:prstGeom prst="ellipse">
            <a:avLst/>
          </a:prstGeom>
          <a:solidFill>
            <a:srgbClr val="FF6B2C"/>
          </a:solidFill>
          <a:ln>
            <a:noFill/>
          </a:ln>
          <a:effectLst/>
        </p:spPr>
        <p:txBody>
          <a:bodyPr rtlCol="0" anchor="ctr"/>
          <a:lstStyle/>
          <a:p>
            <a:pPr algn="ctr"/>
          </a:p>
        </p:txBody>
      </p:sp>
      <p:sp>
        <p:nvSpPr>
          <p:cNvPr id="10" name="TextBox 9"/>
          <p:cNvSpPr txBox="1"/>
          <p:nvPr/>
        </p:nvSpPr>
        <p:spPr>
          <a:xfrm>
            <a:off x="832104" y="2194560"/>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AI CAREER ACCELERATOR · DAY 39</a:t>
            </a:r>
          </a:p>
        </p:txBody>
      </p:sp>
      <p:sp>
        <p:nvSpPr>
          <p:cNvPr id="11" name="TextBox 10"/>
          <p:cNvSpPr txBox="1"/>
          <p:nvPr/>
        </p:nvSpPr>
        <p:spPr>
          <a:xfrm>
            <a:off x="649224" y="2505456"/>
            <a:ext cx="10972800" cy="960120"/>
          </a:xfrm>
          <a:prstGeom prst="rect">
            <a:avLst/>
          </a:prstGeom>
          <a:noFill/>
        </p:spPr>
        <p:txBody>
          <a:bodyPr wrap="square" anchor="t" lIns="0" rIns="0" tIns="0" bIns="0">
            <a:spAutoFit/>
          </a:bodyPr>
          <a:lstStyle/>
          <a:p>
            <a:pPr algn="l">
              <a:lnSpc>
                <a:spcPct val="100000"/>
              </a:lnSpc>
            </a:pPr>
            <a:r>
              <a:rPr sz="5300" b="1" i="0" lang="en-US" spc="-220">
                <a:solidFill>
                  <a:srgbClr val="0B0B0C"/>
                </a:solidFill>
                <a:latin typeface="Plus Jakarta Sans"/>
                <a:cs typeface="Plus Jakarta Sans"/>
              </a:rPr>
              <a:t>AI HACKATHON STRATEGY</a:t>
            </a:r>
          </a:p>
        </p:txBody>
      </p:sp>
      <p:sp>
        <p:nvSpPr>
          <p:cNvPr id="12" name="TextBox 11"/>
          <p:cNvSpPr txBox="1"/>
          <p:nvPr/>
        </p:nvSpPr>
        <p:spPr>
          <a:xfrm>
            <a:off x="685800" y="3584448"/>
            <a:ext cx="10058400" cy="384048"/>
          </a:xfrm>
          <a:prstGeom prst="rect">
            <a:avLst/>
          </a:prstGeom>
          <a:noFill/>
        </p:spPr>
        <p:txBody>
          <a:bodyPr wrap="square" anchor="t" lIns="0" rIns="0" tIns="0" bIns="0">
            <a:spAutoFit/>
          </a:bodyPr>
          <a:lstStyle/>
          <a:p>
            <a:pPr algn="l"/>
            <a:r>
              <a:rPr sz="1900" b="1" i="0" lang="en-US" spc="-30">
                <a:solidFill>
                  <a:srgbClr val="0B0B0C"/>
                </a:solidFill>
                <a:latin typeface="Plus Jakarta Sans"/>
                <a:cs typeface="Plus Jakarta Sans"/>
              </a:rPr>
              <a:t>Think.</a:t>
            </a:r>
            <a:r>
              <a:rPr sz="1900" b="1" i="0" lang="en-US" spc="-30">
                <a:solidFill>
                  <a:srgbClr val="0B0B0C"/>
                </a:solidFill>
                <a:latin typeface="Plus Jakarta Sans"/>
                <a:cs typeface="Plus Jakarta Sans"/>
              </a:rPr>
              <a:t>  Build.</a:t>
            </a:r>
            <a:r>
              <a:rPr sz="1900" b="1" i="0" lang="en-US" spc="-30">
                <a:solidFill>
                  <a:srgbClr val="0B0B0C"/>
                </a:solidFill>
                <a:latin typeface="Plus Jakarta Sans"/>
                <a:cs typeface="Plus Jakarta Sans"/>
              </a:rPr>
              <a:t>  Test.</a:t>
            </a:r>
            <a:r>
              <a:rPr sz="1900" b="1" i="0" lang="en-US" spc="-30">
                <a:solidFill>
                  <a:srgbClr val="FF6B2C"/>
                </a:solidFill>
                <a:latin typeface="Plus Jakarta Sans"/>
                <a:cs typeface="Plus Jakarta Sans"/>
              </a:rPr>
              <a:t>  Demo.</a:t>
            </a:r>
          </a:p>
        </p:txBody>
      </p:sp>
      <p:sp>
        <p:nvSpPr>
          <p:cNvPr id="13" name="TextBox 12"/>
          <p:cNvSpPr txBox="1"/>
          <p:nvPr/>
        </p:nvSpPr>
        <p:spPr>
          <a:xfrm>
            <a:off x="685800" y="4160520"/>
            <a:ext cx="8229600" cy="475488"/>
          </a:xfrm>
          <a:prstGeom prst="rect">
            <a:avLst/>
          </a:prstGeom>
          <a:noFill/>
        </p:spPr>
        <p:txBody>
          <a:bodyPr wrap="square" anchor="t" lIns="0" rIns="0" tIns="0" bIns="0">
            <a:spAutoFit/>
          </a:bodyPr>
          <a:lstStyle/>
          <a:p>
            <a:pPr algn="l">
              <a:lnSpc>
                <a:spcPct val="145000"/>
              </a:lnSpc>
              <a:spcAft>
                <a:spcPts val="200"/>
              </a:spcAft>
            </a:pPr>
            <a:r>
              <a:rPr sz="1050" b="0" i="0" lang="en-US">
                <a:solidFill>
                  <a:srgbClr val="9A9AA2"/>
                </a:solidFill>
                <a:latin typeface="Plus Jakarta Sans"/>
                <a:cs typeface="Plus Jakarta Sans"/>
              </a:rPr>
              <a:t>How to Think, Build, Debug and Explain an AI Project with OpenCode</a:t>
            </a:r>
          </a:p>
          <a:p>
            <a:pPr algn="l">
              <a:lnSpc>
                <a:spcPct val="145000"/>
              </a:lnSpc>
              <a:spcAft>
                <a:spcPts val="200"/>
              </a:spcAft>
            </a:pPr>
            <a:r>
              <a:rPr sz="1050" b="0" i="0" lang="en-US">
                <a:solidFill>
                  <a:srgbClr val="9A9AA2"/>
                </a:solidFill>
                <a:latin typeface="Plus Jakarta Sans"/>
                <a:cs typeface="Plus Jakarta Sans"/>
              </a:rPr>
              <a:t>Traditional RAG  ·  Open Knowledge Format (OKF)  ·  OKF vs RAG</a:t>
            </a:r>
          </a:p>
        </p:txBody>
      </p:sp>
      <p:sp>
        <p:nvSpPr>
          <p:cNvPr id="14" name="Rounded Rectangle 13"/>
          <p:cNvSpPr/>
          <p:nvPr/>
        </p:nvSpPr>
        <p:spPr>
          <a:xfrm>
            <a:off x="874760" y="5230368"/>
            <a:ext cx="1737360" cy="512064"/>
          </a:xfrm>
          <a:prstGeom prst="roundRect">
            <a:avLst>
              <a:gd name="adj" fmla="val 50000"/>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100" b="1" i="0" lang="en-US" spc="20">
                <a:solidFill>
                  <a:srgbClr val="0B0B0C"/>
                </a:solidFill>
                <a:latin typeface="Plus Jakarta Sans"/>
                <a:cs typeface="Plus Jakarta Sans"/>
              </a:rPr>
              <a:t>PROBLEM</a:t>
            </a:r>
          </a:p>
        </p:txBody>
      </p:sp>
      <p:sp>
        <p:nvSpPr>
          <p:cNvPr id="15" name="Rounded Rectangle 14"/>
          <p:cNvSpPr/>
          <p:nvPr/>
        </p:nvSpPr>
        <p:spPr>
          <a:xfrm>
            <a:off x="3051032" y="5230368"/>
            <a:ext cx="1737360" cy="512064"/>
          </a:xfrm>
          <a:prstGeom prst="roundRect">
            <a:avLst>
              <a:gd name="adj" fmla="val 50000"/>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100" b="1" i="0" lang="en-US" spc="20">
                <a:solidFill>
                  <a:srgbClr val="0B0B0C"/>
                </a:solidFill>
                <a:latin typeface="Plus Jakarta Sans"/>
                <a:cs typeface="Plus Jakarta Sans"/>
              </a:rPr>
              <a:t>AI</a:t>
            </a:r>
          </a:p>
        </p:txBody>
      </p:sp>
      <p:cxnSp>
        <p:nvCxnSpPr>
          <p:cNvPr id="16" name="Connector 15"/>
          <p:cNvCxnSpPr/>
          <p:nvPr/>
        </p:nvCxnSpPr>
        <p:spPr>
          <a:xfrm>
            <a:off x="2666984" y="5486400"/>
            <a:ext cx="329184" cy="0"/>
          </a:xfrm>
          <a:prstGeom prst="line">
            <a:avLst/>
          </a:prstGeom>
          <a:ln w="16510">
            <a:solidFill>
              <a:srgbClr val="FF6B2C"/>
            </a:solidFill>
            <a:tailEnd type="triangle" w="sm" len="sm"/>
          </a:ln>
        </p:spPr>
      </p:cxnSp>
      <p:sp>
        <p:nvSpPr>
          <p:cNvPr id="17" name="Rounded Rectangle 16"/>
          <p:cNvSpPr/>
          <p:nvPr/>
        </p:nvSpPr>
        <p:spPr>
          <a:xfrm>
            <a:off x="5227304" y="5230368"/>
            <a:ext cx="1737360" cy="512064"/>
          </a:xfrm>
          <a:prstGeom prst="roundRect">
            <a:avLst>
              <a:gd name="adj" fmla="val 50000"/>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100" b="1" i="0" lang="en-US" spc="20">
                <a:solidFill>
                  <a:srgbClr val="0B0B0C"/>
                </a:solidFill>
                <a:latin typeface="Plus Jakarta Sans"/>
                <a:cs typeface="Plus Jakarta Sans"/>
              </a:rPr>
              <a:t>BUILD</a:t>
            </a:r>
          </a:p>
        </p:txBody>
      </p:sp>
      <p:cxnSp>
        <p:nvCxnSpPr>
          <p:cNvPr id="18" name="Connector 17"/>
          <p:cNvCxnSpPr/>
          <p:nvPr/>
        </p:nvCxnSpPr>
        <p:spPr>
          <a:xfrm>
            <a:off x="4843256" y="5486400"/>
            <a:ext cx="329184" cy="0"/>
          </a:xfrm>
          <a:prstGeom prst="line">
            <a:avLst/>
          </a:prstGeom>
          <a:ln w="16510">
            <a:solidFill>
              <a:srgbClr val="FF6B2C"/>
            </a:solidFill>
            <a:tailEnd type="triangle" w="sm" len="sm"/>
          </a:ln>
        </p:spPr>
      </p:cxnSp>
      <p:sp>
        <p:nvSpPr>
          <p:cNvPr id="19" name="Rounded Rectangle 18"/>
          <p:cNvSpPr/>
          <p:nvPr/>
        </p:nvSpPr>
        <p:spPr>
          <a:xfrm>
            <a:off x="7403576" y="5230368"/>
            <a:ext cx="1737360" cy="512064"/>
          </a:xfrm>
          <a:prstGeom prst="roundRect">
            <a:avLst>
              <a:gd name="adj" fmla="val 50000"/>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100" b="1" i="0" lang="en-US" spc="20">
                <a:solidFill>
                  <a:srgbClr val="0B0B0C"/>
                </a:solidFill>
                <a:latin typeface="Plus Jakarta Sans"/>
                <a:cs typeface="Plus Jakarta Sans"/>
              </a:rPr>
              <a:t>TEST</a:t>
            </a:r>
          </a:p>
        </p:txBody>
      </p:sp>
      <p:cxnSp>
        <p:nvCxnSpPr>
          <p:cNvPr id="20" name="Connector 19"/>
          <p:cNvCxnSpPr/>
          <p:nvPr/>
        </p:nvCxnSpPr>
        <p:spPr>
          <a:xfrm>
            <a:off x="7019528" y="5486400"/>
            <a:ext cx="329184" cy="0"/>
          </a:xfrm>
          <a:prstGeom prst="line">
            <a:avLst/>
          </a:prstGeom>
          <a:ln w="16510">
            <a:solidFill>
              <a:srgbClr val="FF6B2C"/>
            </a:solidFill>
            <a:tailEnd type="triangle" w="sm" len="sm"/>
          </a:ln>
        </p:spPr>
      </p:cxnSp>
      <p:sp>
        <p:nvSpPr>
          <p:cNvPr id="21" name="Rounded Rectangle 20"/>
          <p:cNvSpPr/>
          <p:nvPr/>
        </p:nvSpPr>
        <p:spPr>
          <a:xfrm>
            <a:off x="9579848" y="5230368"/>
            <a:ext cx="1737360" cy="512064"/>
          </a:xfrm>
          <a:prstGeom prst="roundRect">
            <a:avLst>
              <a:gd name="adj" fmla="val 50000"/>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100" b="1" i="0" lang="en-US" spc="20">
                <a:solidFill>
                  <a:srgbClr val="FF6B2C"/>
                </a:solidFill>
                <a:latin typeface="Plus Jakarta Sans"/>
                <a:cs typeface="Plus Jakarta Sans"/>
              </a:rPr>
              <a:t>DEMO</a:t>
            </a:r>
          </a:p>
        </p:txBody>
      </p:sp>
      <p:cxnSp>
        <p:nvCxnSpPr>
          <p:cNvPr id="22" name="Connector 21"/>
          <p:cNvCxnSpPr/>
          <p:nvPr/>
        </p:nvCxnSpPr>
        <p:spPr>
          <a:xfrm>
            <a:off x="9195800" y="5486400"/>
            <a:ext cx="329184" cy="0"/>
          </a:xfrm>
          <a:prstGeom prst="line">
            <a:avLst/>
          </a:prstGeom>
          <a:ln w="16510">
            <a:solidFill>
              <a:srgbClr val="FF6B2C"/>
            </a:solidFill>
            <a:tailEnd type="triangle" w="sm" len="sm"/>
          </a:ln>
        </p:spPr>
      </p:cxnSp>
      <p:sp>
        <p:nvSpPr>
          <p:cNvPr id="23" name="TextBox 22"/>
          <p:cNvSpPr txBox="1"/>
          <p:nvPr/>
        </p:nvSpPr>
        <p:spPr>
          <a:xfrm>
            <a:off x="685800" y="5989320"/>
            <a:ext cx="10820369" cy="219456"/>
          </a:xfrm>
          <a:prstGeom prst="rect">
            <a:avLst/>
          </a:prstGeom>
          <a:noFill/>
        </p:spPr>
        <p:txBody>
          <a:bodyPr wrap="square" anchor="t" lIns="0" rIns="0" tIns="0" bIns="0">
            <a:spAutoFit/>
          </a:bodyPr>
          <a:lstStyle/>
          <a:p>
            <a:pPr algn="ctr"/>
            <a:r>
              <a:rPr sz="750" b="1" i="0" lang="en-US" spc="140">
                <a:solidFill>
                  <a:srgbClr val="9A9AA2"/>
                </a:solidFill>
                <a:latin typeface="Plus Jakarta Sans"/>
                <a:cs typeface="Plus Jakarta Sans"/>
              </a:rPr>
              <a:t>THE FLOW OF EVERY STRONG HACKATHON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MINDSET</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02</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THE FIRST MINDSET SHIFT</a:t>
            </a:r>
          </a:p>
        </p:txBody>
      </p:sp>
      <p:sp>
        <p:nvSpPr>
          <p:cNvPr id="9" name="TextBox 8"/>
          <p:cNvSpPr txBox="1"/>
          <p:nvPr/>
        </p:nvSpPr>
        <p:spPr>
          <a:xfrm>
            <a:off x="685800" y="1188720"/>
            <a:ext cx="4160520" cy="1874519"/>
          </a:xfrm>
          <a:prstGeom prst="rect">
            <a:avLst/>
          </a:prstGeom>
          <a:noFill/>
        </p:spPr>
        <p:txBody>
          <a:bodyPr wrap="square" anchor="t" lIns="0" rIns="0" tIns="0" bIns="0">
            <a:spAutoFit/>
          </a:bodyPr>
          <a:lstStyle/>
          <a:p>
            <a:pPr algn="l">
              <a:lnSpc>
                <a:spcPct val="112000"/>
              </a:lnSpc>
            </a:pPr>
            <a:r>
              <a:rPr sz="2300" b="1" i="0" lang="en-US" spc="-50">
                <a:solidFill>
                  <a:srgbClr val="0B0B0C"/>
                </a:solidFill>
                <a:latin typeface="Plus Jakarta Sans"/>
                <a:cs typeface="Plus Jakarta Sans"/>
              </a:rPr>
              <a:t>A Hackathon Is a Decision Problem Before It Is a Coding Problem</a:t>
            </a:r>
          </a:p>
        </p:txBody>
      </p:sp>
      <p:sp>
        <p:nvSpPr>
          <p:cNvPr id="10" name="Rectangle 9"/>
          <p:cNvSpPr/>
          <p:nvPr/>
        </p:nvSpPr>
        <p:spPr>
          <a:xfrm>
            <a:off x="685800" y="3310128"/>
            <a:ext cx="41148" cy="960120"/>
          </a:xfrm>
          <a:prstGeom prst="rect">
            <a:avLst/>
          </a:prstGeom>
          <a:solidFill>
            <a:srgbClr val="FF6B2C"/>
          </a:solidFill>
          <a:ln>
            <a:noFill/>
          </a:ln>
          <a:effectLst/>
        </p:spPr>
        <p:txBody>
          <a:bodyPr rtlCol="0" anchor="ctr" wrap="square"/>
          <a:lstStyle/>
          <a:p>
            <a:pPr algn="ctr"/>
          </a:p>
        </p:txBody>
      </p:sp>
      <p:sp>
        <p:nvSpPr>
          <p:cNvPr id="11" name="TextBox 10"/>
          <p:cNvSpPr txBox="1"/>
          <p:nvPr/>
        </p:nvSpPr>
        <p:spPr>
          <a:xfrm>
            <a:off x="886968" y="3346704"/>
            <a:ext cx="3840480" cy="914400"/>
          </a:xfrm>
          <a:prstGeom prst="rect">
            <a:avLst/>
          </a:prstGeom>
          <a:noFill/>
        </p:spPr>
        <p:txBody>
          <a:bodyPr wrap="square" anchor="t" lIns="0" rIns="0" tIns="0" bIns="0">
            <a:spAutoFit/>
          </a:bodyPr>
          <a:lstStyle/>
          <a:p>
            <a:pPr algn="l">
              <a:lnSpc>
                <a:spcPct val="130000"/>
              </a:lnSpc>
            </a:pPr>
            <a:r>
              <a:rPr sz="1550" b="1" i="0" lang="en-US" spc="-30">
                <a:solidFill>
                  <a:srgbClr val="1A1A1D"/>
                </a:solidFill>
                <a:latin typeface="Plus Jakarta Sans"/>
                <a:cs typeface="Plus Jakarta Sans"/>
              </a:rPr>
              <a:t>“Don't build everything.
Prove one thing.”</a:t>
            </a:r>
          </a:p>
        </p:txBody>
      </p:sp>
      <p:sp>
        <p:nvSpPr>
          <p:cNvPr id="12" name="TextBox 11"/>
          <p:cNvSpPr txBox="1"/>
          <p:nvPr/>
        </p:nvSpPr>
        <p:spPr>
          <a:xfrm>
            <a:off x="685800" y="4617720"/>
            <a:ext cx="4023360" cy="1371600"/>
          </a:xfrm>
          <a:prstGeom prst="rect">
            <a:avLst/>
          </a:prstGeom>
          <a:noFill/>
        </p:spPr>
        <p:txBody>
          <a:bodyPr wrap="square" anchor="t" lIns="0" rIns="0" tIns="0" bIns="0">
            <a:spAutoFit/>
          </a:bodyPr>
          <a:lstStyle/>
          <a:p>
            <a:pPr algn="l">
              <a:lnSpc>
                <a:spcPct val="155000"/>
              </a:lnSpc>
            </a:pPr>
            <a:r>
              <a:rPr sz="1050" b="0" i="0" lang="en-US">
                <a:solidFill>
                  <a:srgbClr val="63636B"/>
                </a:solidFill>
                <a:latin typeface="Plus Jakarta Sans"/>
                <a:cs typeface="Plus Jakarta Sans"/>
              </a:rPr>
              <a:t>Technology choices come after the problem, the user, the outcome and the AI role are clear. That sequence alone saves hours.</a:t>
            </a:r>
          </a:p>
        </p:txBody>
      </p:sp>
      <p:sp>
        <p:nvSpPr>
          <p:cNvPr id="13" name="TextBox 12"/>
          <p:cNvSpPr txBox="1"/>
          <p:nvPr/>
        </p:nvSpPr>
        <p:spPr>
          <a:xfrm>
            <a:off x="5349240" y="960120"/>
            <a:ext cx="6153912" cy="219456"/>
          </a:xfrm>
          <a:prstGeom prst="rect">
            <a:avLst/>
          </a:prstGeom>
          <a:noFill/>
        </p:spPr>
        <p:txBody>
          <a:bodyPr wrap="square" anchor="t" lIns="0" rIns="0" tIns="0" bIns="0">
            <a:spAutoFit/>
          </a:bodyPr>
          <a:lstStyle/>
          <a:p>
            <a:pPr algn="l"/>
            <a:r>
              <a:rPr sz="850" b="1" i="0" lang="en-US" spc="140">
                <a:solidFill>
                  <a:srgbClr val="FF6B2C"/>
                </a:solidFill>
                <a:latin typeface="Plus Jakarta Sans"/>
                <a:cs typeface="Plus Jakarta Sans"/>
              </a:rPr>
              <a:t>THE DECISION SEQUENCE</a:t>
            </a:r>
          </a:p>
        </p:txBody>
      </p:sp>
      <p:sp>
        <p:nvSpPr>
          <p:cNvPr id="14" name="TextBox 13"/>
          <p:cNvSpPr txBox="1"/>
          <p:nvPr/>
        </p:nvSpPr>
        <p:spPr>
          <a:xfrm>
            <a:off x="5349240" y="1298448"/>
            <a:ext cx="6153912" cy="219456"/>
          </a:xfrm>
          <a:prstGeom prst="rect">
            <a:avLst/>
          </a:prstGeom>
          <a:noFill/>
        </p:spPr>
        <p:txBody>
          <a:bodyPr wrap="square" anchor="t" lIns="0" rIns="0" tIns="0" bIns="0">
            <a:spAutoFit/>
          </a:bodyPr>
          <a:lstStyle/>
          <a:p>
            <a:pPr algn="l"/>
            <a:r>
              <a:rPr sz="750" b="1" i="0" lang="en-US" spc="120">
                <a:solidFill>
                  <a:srgbClr val="9A9AA2"/>
                </a:solidFill>
                <a:latin typeface="Plus Jakarta Sans"/>
                <a:cs typeface="Plus Jakarta Sans"/>
              </a:rPr>
              <a:t>FIRST — DECIDE</a:t>
            </a:r>
          </a:p>
        </p:txBody>
      </p:sp>
      <p:sp>
        <p:nvSpPr>
          <p:cNvPr id="15" name="Rounded Rectangle 14"/>
          <p:cNvSpPr/>
          <p:nvPr/>
        </p:nvSpPr>
        <p:spPr>
          <a:xfrm>
            <a:off x="5349240" y="1591056"/>
            <a:ext cx="6153912" cy="429768"/>
          </a:xfrm>
          <a:prstGeom prst="roundRect">
            <a:avLst>
              <a:gd name="adj" fmla="val 14893"/>
            </a:avLst>
          </a:prstGeom>
          <a:solidFill>
            <a:srgbClr val="FFF4EE"/>
          </a:solidFill>
          <a:ln w="12700">
            <a:solidFill>
              <a:srgbClr val="FFE6D8"/>
            </a:solidFill>
          </a:ln>
          <a:effectLst/>
        </p:spPr>
        <p:txBody>
          <a:bodyPr rtlCol="0" anchor="ctr" wrap="square"/>
          <a:lstStyle/>
          <a:p>
            <a:pPr algn="ctr"/>
          </a:p>
        </p:txBody>
      </p:sp>
      <p:sp>
        <p:nvSpPr>
          <p:cNvPr id="16" name="Rectangle 15"/>
          <p:cNvSpPr/>
          <p:nvPr/>
        </p:nvSpPr>
        <p:spPr>
          <a:xfrm>
            <a:off x="5349240" y="1673352"/>
            <a:ext cx="41148" cy="265176"/>
          </a:xfrm>
          <a:prstGeom prst="rect">
            <a:avLst/>
          </a:prstGeom>
          <a:solidFill>
            <a:srgbClr val="FF6B2C"/>
          </a:solidFill>
          <a:ln>
            <a:noFill/>
          </a:ln>
          <a:effectLst/>
        </p:spPr>
        <p:txBody>
          <a:bodyPr rtlCol="0" anchor="ctr" wrap="square"/>
          <a:lstStyle/>
          <a:p>
            <a:pPr algn="ctr"/>
          </a:p>
        </p:txBody>
      </p:sp>
      <p:sp>
        <p:nvSpPr>
          <p:cNvPr id="17" name="TextBox 16"/>
          <p:cNvSpPr txBox="1"/>
          <p:nvPr/>
        </p:nvSpPr>
        <p:spPr>
          <a:xfrm>
            <a:off x="5550407" y="1591056"/>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PROBLEM</a:t>
            </a:r>
          </a:p>
        </p:txBody>
      </p:sp>
      <p:sp>
        <p:nvSpPr>
          <p:cNvPr id="18" name="TextBox 17"/>
          <p:cNvSpPr txBox="1"/>
          <p:nvPr/>
        </p:nvSpPr>
        <p:spPr>
          <a:xfrm>
            <a:off x="7635240" y="1591056"/>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what actually hurts</a:t>
            </a:r>
          </a:p>
        </p:txBody>
      </p:sp>
      <p:cxnSp>
        <p:nvCxnSpPr>
          <p:cNvPr id="19" name="Connector 18"/>
          <p:cNvCxnSpPr/>
          <p:nvPr/>
        </p:nvCxnSpPr>
        <p:spPr>
          <a:xfrm>
            <a:off x="5897879" y="2034540"/>
            <a:ext cx="0" cy="91440"/>
          </a:xfrm>
          <a:prstGeom prst="line">
            <a:avLst/>
          </a:prstGeom>
          <a:ln w="13970">
            <a:solidFill>
              <a:srgbClr val="9A9AA2"/>
            </a:solidFill>
            <a:tailEnd type="triangle" w="sm" len="sm"/>
          </a:ln>
        </p:spPr>
      </p:cxnSp>
      <p:sp>
        <p:nvSpPr>
          <p:cNvPr id="20" name="Rounded Rectangle 19"/>
          <p:cNvSpPr/>
          <p:nvPr/>
        </p:nvSpPr>
        <p:spPr>
          <a:xfrm>
            <a:off x="5349240" y="2139696"/>
            <a:ext cx="6153912" cy="429768"/>
          </a:xfrm>
          <a:prstGeom prst="roundRect">
            <a:avLst>
              <a:gd name="adj" fmla="val 14893"/>
            </a:avLst>
          </a:prstGeom>
          <a:solidFill>
            <a:srgbClr val="FFF4EE"/>
          </a:solidFill>
          <a:ln w="12700">
            <a:solidFill>
              <a:srgbClr val="FFE6D8"/>
            </a:solidFill>
          </a:ln>
          <a:effectLst/>
        </p:spPr>
        <p:txBody>
          <a:bodyPr rtlCol="0" anchor="ctr" wrap="square"/>
          <a:lstStyle/>
          <a:p>
            <a:pPr algn="ctr"/>
          </a:p>
        </p:txBody>
      </p:sp>
      <p:sp>
        <p:nvSpPr>
          <p:cNvPr id="21" name="Rectangle 20"/>
          <p:cNvSpPr/>
          <p:nvPr/>
        </p:nvSpPr>
        <p:spPr>
          <a:xfrm>
            <a:off x="5349240" y="2221991"/>
            <a:ext cx="41148" cy="265176"/>
          </a:xfrm>
          <a:prstGeom prst="rect">
            <a:avLst/>
          </a:prstGeom>
          <a:solidFill>
            <a:srgbClr val="FF6B2C"/>
          </a:solidFill>
          <a:ln>
            <a:noFill/>
          </a:ln>
          <a:effectLst/>
        </p:spPr>
        <p:txBody>
          <a:bodyPr rtlCol="0" anchor="ctr" wrap="square"/>
          <a:lstStyle/>
          <a:p>
            <a:pPr algn="ctr"/>
          </a:p>
        </p:txBody>
      </p:sp>
      <p:sp>
        <p:nvSpPr>
          <p:cNvPr id="22" name="TextBox 21"/>
          <p:cNvSpPr txBox="1"/>
          <p:nvPr/>
        </p:nvSpPr>
        <p:spPr>
          <a:xfrm>
            <a:off x="5550407" y="2139696"/>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USER</a:t>
            </a:r>
          </a:p>
        </p:txBody>
      </p:sp>
      <p:sp>
        <p:nvSpPr>
          <p:cNvPr id="23" name="TextBox 22"/>
          <p:cNvSpPr txBox="1"/>
          <p:nvPr/>
        </p:nvSpPr>
        <p:spPr>
          <a:xfrm>
            <a:off x="7635240" y="2139696"/>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who experiences it</a:t>
            </a:r>
          </a:p>
        </p:txBody>
      </p:sp>
      <p:cxnSp>
        <p:nvCxnSpPr>
          <p:cNvPr id="24" name="Connector 23"/>
          <p:cNvCxnSpPr/>
          <p:nvPr/>
        </p:nvCxnSpPr>
        <p:spPr>
          <a:xfrm>
            <a:off x="5897879" y="2583179"/>
            <a:ext cx="0" cy="91441"/>
          </a:xfrm>
          <a:prstGeom prst="line">
            <a:avLst/>
          </a:prstGeom>
          <a:ln w="13970">
            <a:solidFill>
              <a:srgbClr val="9A9AA2"/>
            </a:solidFill>
            <a:tailEnd type="triangle" w="sm" len="sm"/>
          </a:ln>
        </p:spPr>
      </p:cxnSp>
      <p:sp>
        <p:nvSpPr>
          <p:cNvPr id="25" name="Rounded Rectangle 24"/>
          <p:cNvSpPr/>
          <p:nvPr/>
        </p:nvSpPr>
        <p:spPr>
          <a:xfrm>
            <a:off x="5349240" y="2688336"/>
            <a:ext cx="6153912" cy="429768"/>
          </a:xfrm>
          <a:prstGeom prst="roundRect">
            <a:avLst>
              <a:gd name="adj" fmla="val 14893"/>
            </a:avLst>
          </a:prstGeom>
          <a:solidFill>
            <a:srgbClr val="FFF4EE"/>
          </a:solidFill>
          <a:ln w="12700">
            <a:solidFill>
              <a:srgbClr val="FFE6D8"/>
            </a:solidFill>
          </a:ln>
          <a:effectLst/>
        </p:spPr>
        <p:txBody>
          <a:bodyPr rtlCol="0" anchor="ctr" wrap="square"/>
          <a:lstStyle/>
          <a:p>
            <a:pPr algn="ctr"/>
          </a:p>
        </p:txBody>
      </p:sp>
      <p:sp>
        <p:nvSpPr>
          <p:cNvPr id="26" name="Rectangle 25"/>
          <p:cNvSpPr/>
          <p:nvPr/>
        </p:nvSpPr>
        <p:spPr>
          <a:xfrm>
            <a:off x="5349240" y="2770632"/>
            <a:ext cx="41148" cy="265176"/>
          </a:xfrm>
          <a:prstGeom prst="rect">
            <a:avLst/>
          </a:prstGeom>
          <a:solidFill>
            <a:srgbClr val="FF6B2C"/>
          </a:solidFill>
          <a:ln>
            <a:noFill/>
          </a:ln>
          <a:effectLst/>
        </p:spPr>
        <p:txBody>
          <a:bodyPr rtlCol="0" anchor="ctr" wrap="square"/>
          <a:lstStyle/>
          <a:p>
            <a:pPr algn="ctr"/>
          </a:p>
        </p:txBody>
      </p:sp>
      <p:sp>
        <p:nvSpPr>
          <p:cNvPr id="27" name="TextBox 26"/>
          <p:cNvSpPr txBox="1"/>
          <p:nvPr/>
        </p:nvSpPr>
        <p:spPr>
          <a:xfrm>
            <a:off x="5550407" y="2688336"/>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OUTCOME</a:t>
            </a:r>
          </a:p>
        </p:txBody>
      </p:sp>
      <p:sp>
        <p:nvSpPr>
          <p:cNvPr id="28" name="TextBox 27"/>
          <p:cNvSpPr txBox="1"/>
          <p:nvPr/>
        </p:nvSpPr>
        <p:spPr>
          <a:xfrm>
            <a:off x="7635240" y="2688336"/>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what they need</a:t>
            </a:r>
          </a:p>
        </p:txBody>
      </p:sp>
      <p:cxnSp>
        <p:nvCxnSpPr>
          <p:cNvPr id="29" name="Connector 28"/>
          <p:cNvCxnSpPr/>
          <p:nvPr/>
        </p:nvCxnSpPr>
        <p:spPr>
          <a:xfrm>
            <a:off x="5897879" y="3131820"/>
            <a:ext cx="0" cy="91440"/>
          </a:xfrm>
          <a:prstGeom prst="line">
            <a:avLst/>
          </a:prstGeom>
          <a:ln w="13970">
            <a:solidFill>
              <a:srgbClr val="9A9AA2"/>
            </a:solidFill>
            <a:tailEnd type="triangle" w="sm" len="sm"/>
          </a:ln>
        </p:spPr>
      </p:cxnSp>
      <p:sp>
        <p:nvSpPr>
          <p:cNvPr id="30" name="Rounded Rectangle 29"/>
          <p:cNvSpPr/>
          <p:nvPr/>
        </p:nvSpPr>
        <p:spPr>
          <a:xfrm>
            <a:off x="5349240" y="3236976"/>
            <a:ext cx="6153912" cy="429768"/>
          </a:xfrm>
          <a:prstGeom prst="roundRect">
            <a:avLst>
              <a:gd name="adj" fmla="val 14893"/>
            </a:avLst>
          </a:prstGeom>
          <a:solidFill>
            <a:srgbClr val="FFF4EE"/>
          </a:solidFill>
          <a:ln w="12700">
            <a:solidFill>
              <a:srgbClr val="FFE6D8"/>
            </a:solidFill>
          </a:ln>
          <a:effectLst/>
        </p:spPr>
        <p:txBody>
          <a:bodyPr rtlCol="0" anchor="ctr" wrap="square"/>
          <a:lstStyle/>
          <a:p>
            <a:pPr algn="ctr"/>
          </a:p>
        </p:txBody>
      </p:sp>
      <p:sp>
        <p:nvSpPr>
          <p:cNvPr id="31" name="Rectangle 30"/>
          <p:cNvSpPr/>
          <p:nvPr/>
        </p:nvSpPr>
        <p:spPr>
          <a:xfrm>
            <a:off x="5349240" y="3319272"/>
            <a:ext cx="41148" cy="265176"/>
          </a:xfrm>
          <a:prstGeom prst="rect">
            <a:avLst/>
          </a:prstGeom>
          <a:solidFill>
            <a:srgbClr val="FF6B2C"/>
          </a:solidFill>
          <a:ln>
            <a:noFill/>
          </a:ln>
          <a:effectLst/>
        </p:spPr>
        <p:txBody>
          <a:bodyPr rtlCol="0" anchor="ctr" wrap="square"/>
          <a:lstStyle/>
          <a:p>
            <a:pPr algn="ctr"/>
          </a:p>
        </p:txBody>
      </p:sp>
      <p:sp>
        <p:nvSpPr>
          <p:cNvPr id="32" name="TextBox 31"/>
          <p:cNvSpPr txBox="1"/>
          <p:nvPr/>
        </p:nvSpPr>
        <p:spPr>
          <a:xfrm>
            <a:off x="5550407" y="3236976"/>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AI ROLE</a:t>
            </a:r>
          </a:p>
        </p:txBody>
      </p:sp>
      <p:sp>
        <p:nvSpPr>
          <p:cNvPr id="33" name="TextBox 32"/>
          <p:cNvSpPr txBox="1"/>
          <p:nvPr/>
        </p:nvSpPr>
        <p:spPr>
          <a:xfrm>
            <a:off x="7635240" y="3236976"/>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where AI adds value</a:t>
            </a:r>
          </a:p>
        </p:txBody>
      </p:sp>
      <p:cxnSp>
        <p:nvCxnSpPr>
          <p:cNvPr id="34" name="Connector 33"/>
          <p:cNvCxnSpPr/>
          <p:nvPr/>
        </p:nvCxnSpPr>
        <p:spPr>
          <a:xfrm>
            <a:off x="5897879" y="3680459"/>
            <a:ext cx="0" cy="91441"/>
          </a:xfrm>
          <a:prstGeom prst="line">
            <a:avLst/>
          </a:prstGeom>
          <a:ln w="13970">
            <a:solidFill>
              <a:srgbClr val="9A9AA2"/>
            </a:solidFill>
            <a:tailEnd type="triangle" w="sm" len="sm"/>
          </a:ln>
        </p:spPr>
      </p:cxnSp>
      <p:sp>
        <p:nvSpPr>
          <p:cNvPr id="35" name="Rounded Rectangle 34"/>
          <p:cNvSpPr/>
          <p:nvPr/>
        </p:nvSpPr>
        <p:spPr>
          <a:xfrm>
            <a:off x="5349240" y="3785615"/>
            <a:ext cx="6153912" cy="429768"/>
          </a:xfrm>
          <a:prstGeom prst="roundRect">
            <a:avLst>
              <a:gd name="adj" fmla="val 14893"/>
            </a:avLst>
          </a:prstGeom>
          <a:solidFill>
            <a:srgbClr val="FFF4EE"/>
          </a:solidFill>
          <a:ln w="12700">
            <a:solidFill>
              <a:srgbClr val="FFE6D8"/>
            </a:solidFill>
          </a:ln>
          <a:effectLst/>
        </p:spPr>
        <p:txBody>
          <a:bodyPr rtlCol="0" anchor="ctr" wrap="square"/>
          <a:lstStyle/>
          <a:p>
            <a:pPr algn="ctr"/>
          </a:p>
        </p:txBody>
      </p:sp>
      <p:sp>
        <p:nvSpPr>
          <p:cNvPr id="36" name="Rectangle 35"/>
          <p:cNvSpPr/>
          <p:nvPr/>
        </p:nvSpPr>
        <p:spPr>
          <a:xfrm>
            <a:off x="5349240" y="3867911"/>
            <a:ext cx="41148" cy="265176"/>
          </a:xfrm>
          <a:prstGeom prst="rect">
            <a:avLst/>
          </a:prstGeom>
          <a:solidFill>
            <a:srgbClr val="FF6B2C"/>
          </a:solidFill>
          <a:ln>
            <a:noFill/>
          </a:ln>
          <a:effectLst/>
        </p:spPr>
        <p:txBody>
          <a:bodyPr rtlCol="0" anchor="ctr" wrap="square"/>
          <a:lstStyle/>
          <a:p>
            <a:pPr algn="ctr"/>
          </a:p>
        </p:txBody>
      </p:sp>
      <p:sp>
        <p:nvSpPr>
          <p:cNvPr id="37" name="TextBox 36"/>
          <p:cNvSpPr txBox="1"/>
          <p:nvPr/>
        </p:nvSpPr>
        <p:spPr>
          <a:xfrm>
            <a:off x="5550407" y="3785615"/>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MVP</a:t>
            </a:r>
          </a:p>
        </p:txBody>
      </p:sp>
      <p:sp>
        <p:nvSpPr>
          <p:cNvPr id="38" name="TextBox 37"/>
          <p:cNvSpPr txBox="1"/>
          <p:nvPr/>
        </p:nvSpPr>
        <p:spPr>
          <a:xfrm>
            <a:off x="7635240" y="3785615"/>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smallest useful proof</a:t>
            </a:r>
          </a:p>
        </p:txBody>
      </p:sp>
      <p:cxnSp>
        <p:nvCxnSpPr>
          <p:cNvPr id="39" name="Connector 38"/>
          <p:cNvCxnSpPr/>
          <p:nvPr/>
        </p:nvCxnSpPr>
        <p:spPr>
          <a:xfrm>
            <a:off x="5897879" y="4229099"/>
            <a:ext cx="0" cy="91441"/>
          </a:xfrm>
          <a:prstGeom prst="line">
            <a:avLst/>
          </a:prstGeom>
          <a:ln w="13970">
            <a:solidFill>
              <a:srgbClr val="9A9AA2"/>
            </a:solidFill>
            <a:tailEnd type="triangle" w="sm" len="sm"/>
          </a:ln>
        </p:spPr>
      </p:cxnSp>
      <p:sp>
        <p:nvSpPr>
          <p:cNvPr id="40" name="TextBox 39"/>
          <p:cNvSpPr txBox="1"/>
          <p:nvPr/>
        </p:nvSpPr>
        <p:spPr>
          <a:xfrm>
            <a:off x="5349240" y="4425695"/>
            <a:ext cx="6153912" cy="219456"/>
          </a:xfrm>
          <a:prstGeom prst="rect">
            <a:avLst/>
          </a:prstGeom>
          <a:noFill/>
        </p:spPr>
        <p:txBody>
          <a:bodyPr wrap="square" anchor="t" lIns="0" rIns="0" tIns="0" bIns="0">
            <a:spAutoFit/>
          </a:bodyPr>
          <a:lstStyle/>
          <a:p>
            <a:pPr algn="l"/>
            <a:r>
              <a:rPr sz="750" b="1" i="0" lang="en-US" spc="120">
                <a:solidFill>
                  <a:srgbClr val="9A9AA2"/>
                </a:solidFill>
                <a:latin typeface="Plus Jakarta Sans"/>
                <a:cs typeface="Plus Jakarta Sans"/>
              </a:rPr>
              <a:t>THEN — EXECUTE</a:t>
            </a:r>
          </a:p>
        </p:txBody>
      </p:sp>
      <p:sp>
        <p:nvSpPr>
          <p:cNvPr id="41" name="Rounded Rectangle 40"/>
          <p:cNvSpPr/>
          <p:nvPr/>
        </p:nvSpPr>
        <p:spPr>
          <a:xfrm>
            <a:off x="5349240" y="4718303"/>
            <a:ext cx="6153912" cy="429768"/>
          </a:xfrm>
          <a:prstGeom prst="roundRect">
            <a:avLst>
              <a:gd name="adj" fmla="val 14893"/>
            </a:avLst>
          </a:prstGeom>
          <a:solidFill>
            <a:srgbClr val="FFFFFF"/>
          </a:solidFill>
          <a:ln w="12700">
            <a:solidFill>
              <a:srgbClr val="E7E7EA"/>
            </a:solidFill>
          </a:ln>
          <a:effectLst/>
        </p:spPr>
        <p:txBody>
          <a:bodyPr rtlCol="0" anchor="ctr" wrap="square"/>
          <a:lstStyle/>
          <a:p>
            <a:pPr algn="ctr"/>
          </a:p>
        </p:txBody>
      </p:sp>
      <p:sp>
        <p:nvSpPr>
          <p:cNvPr id="42" name="Rectangle 41"/>
          <p:cNvSpPr/>
          <p:nvPr/>
        </p:nvSpPr>
        <p:spPr>
          <a:xfrm>
            <a:off x="5349240" y="4800599"/>
            <a:ext cx="41148" cy="265176"/>
          </a:xfrm>
          <a:prstGeom prst="rect">
            <a:avLst/>
          </a:prstGeom>
          <a:solidFill>
            <a:srgbClr val="9A9AA2"/>
          </a:solidFill>
          <a:ln>
            <a:noFill/>
          </a:ln>
          <a:effectLst/>
        </p:spPr>
        <p:txBody>
          <a:bodyPr rtlCol="0" anchor="ctr" wrap="square"/>
          <a:lstStyle/>
          <a:p>
            <a:pPr algn="ctr"/>
          </a:p>
        </p:txBody>
      </p:sp>
      <p:sp>
        <p:nvSpPr>
          <p:cNvPr id="43" name="TextBox 42"/>
          <p:cNvSpPr txBox="1"/>
          <p:nvPr/>
        </p:nvSpPr>
        <p:spPr>
          <a:xfrm>
            <a:off x="5550407" y="4718303"/>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BUILD</a:t>
            </a:r>
          </a:p>
        </p:txBody>
      </p:sp>
      <p:sp>
        <p:nvSpPr>
          <p:cNvPr id="44" name="TextBox 43"/>
          <p:cNvSpPr txBox="1"/>
          <p:nvPr/>
        </p:nvSpPr>
        <p:spPr>
          <a:xfrm>
            <a:off x="7635240" y="4718303"/>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one complete path</a:t>
            </a:r>
          </a:p>
        </p:txBody>
      </p:sp>
      <p:cxnSp>
        <p:nvCxnSpPr>
          <p:cNvPr id="45" name="Connector 44"/>
          <p:cNvCxnSpPr/>
          <p:nvPr/>
        </p:nvCxnSpPr>
        <p:spPr>
          <a:xfrm>
            <a:off x="5897879" y="5161787"/>
            <a:ext cx="0" cy="91440"/>
          </a:xfrm>
          <a:prstGeom prst="line">
            <a:avLst/>
          </a:prstGeom>
          <a:ln w="13970">
            <a:solidFill>
              <a:srgbClr val="9A9AA2"/>
            </a:solidFill>
            <a:tailEnd type="triangle" w="sm" len="sm"/>
          </a:ln>
        </p:spPr>
      </p:cxnSp>
      <p:sp>
        <p:nvSpPr>
          <p:cNvPr id="46" name="Rounded Rectangle 45"/>
          <p:cNvSpPr/>
          <p:nvPr/>
        </p:nvSpPr>
        <p:spPr>
          <a:xfrm>
            <a:off x="5349240" y="5266943"/>
            <a:ext cx="6153912" cy="429768"/>
          </a:xfrm>
          <a:prstGeom prst="roundRect">
            <a:avLst>
              <a:gd name="adj" fmla="val 14893"/>
            </a:avLst>
          </a:prstGeom>
          <a:solidFill>
            <a:srgbClr val="FFFFFF"/>
          </a:solidFill>
          <a:ln w="12700">
            <a:solidFill>
              <a:srgbClr val="E7E7EA"/>
            </a:solidFill>
          </a:ln>
          <a:effectLst/>
        </p:spPr>
        <p:txBody>
          <a:bodyPr rtlCol="0" anchor="ctr" wrap="square"/>
          <a:lstStyle/>
          <a:p>
            <a:pPr algn="ctr"/>
          </a:p>
        </p:txBody>
      </p:sp>
      <p:sp>
        <p:nvSpPr>
          <p:cNvPr id="47" name="Rectangle 46"/>
          <p:cNvSpPr/>
          <p:nvPr/>
        </p:nvSpPr>
        <p:spPr>
          <a:xfrm>
            <a:off x="5349240" y="5349239"/>
            <a:ext cx="41148" cy="265176"/>
          </a:xfrm>
          <a:prstGeom prst="rect">
            <a:avLst/>
          </a:prstGeom>
          <a:solidFill>
            <a:srgbClr val="9A9AA2"/>
          </a:solidFill>
          <a:ln>
            <a:noFill/>
          </a:ln>
          <a:effectLst/>
        </p:spPr>
        <p:txBody>
          <a:bodyPr rtlCol="0" anchor="ctr" wrap="square"/>
          <a:lstStyle/>
          <a:p>
            <a:pPr algn="ctr"/>
          </a:p>
        </p:txBody>
      </p:sp>
      <p:sp>
        <p:nvSpPr>
          <p:cNvPr id="48" name="TextBox 47"/>
          <p:cNvSpPr txBox="1"/>
          <p:nvPr/>
        </p:nvSpPr>
        <p:spPr>
          <a:xfrm>
            <a:off x="5550407" y="5266943"/>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TEST</a:t>
            </a:r>
          </a:p>
        </p:txBody>
      </p:sp>
      <p:sp>
        <p:nvSpPr>
          <p:cNvPr id="49" name="TextBox 48"/>
          <p:cNvSpPr txBox="1"/>
          <p:nvPr/>
        </p:nvSpPr>
        <p:spPr>
          <a:xfrm>
            <a:off x="7635240" y="5266943"/>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prove it works</a:t>
            </a:r>
          </a:p>
        </p:txBody>
      </p:sp>
      <p:cxnSp>
        <p:nvCxnSpPr>
          <p:cNvPr id="50" name="Connector 49"/>
          <p:cNvCxnSpPr/>
          <p:nvPr/>
        </p:nvCxnSpPr>
        <p:spPr>
          <a:xfrm>
            <a:off x="5897879" y="5710427"/>
            <a:ext cx="0" cy="91440"/>
          </a:xfrm>
          <a:prstGeom prst="line">
            <a:avLst/>
          </a:prstGeom>
          <a:ln w="13970">
            <a:solidFill>
              <a:srgbClr val="9A9AA2"/>
            </a:solidFill>
            <a:tailEnd type="triangle" w="sm" len="sm"/>
          </a:ln>
        </p:spPr>
      </p:cxnSp>
      <p:sp>
        <p:nvSpPr>
          <p:cNvPr id="51" name="Rounded Rectangle 50"/>
          <p:cNvSpPr/>
          <p:nvPr/>
        </p:nvSpPr>
        <p:spPr>
          <a:xfrm>
            <a:off x="5349240" y="5815583"/>
            <a:ext cx="6153912" cy="429768"/>
          </a:xfrm>
          <a:prstGeom prst="roundRect">
            <a:avLst>
              <a:gd name="adj" fmla="val 14893"/>
            </a:avLst>
          </a:prstGeom>
          <a:solidFill>
            <a:srgbClr val="FFFFFF"/>
          </a:solidFill>
          <a:ln w="12700">
            <a:solidFill>
              <a:srgbClr val="E7E7EA"/>
            </a:solidFill>
          </a:ln>
          <a:effectLst/>
        </p:spPr>
        <p:txBody>
          <a:bodyPr rtlCol="0" anchor="ctr" wrap="square"/>
          <a:lstStyle/>
          <a:p>
            <a:pPr algn="ctr"/>
          </a:p>
        </p:txBody>
      </p:sp>
      <p:sp>
        <p:nvSpPr>
          <p:cNvPr id="52" name="Rectangle 51"/>
          <p:cNvSpPr/>
          <p:nvPr/>
        </p:nvSpPr>
        <p:spPr>
          <a:xfrm>
            <a:off x="5349240" y="5897879"/>
            <a:ext cx="41148" cy="265176"/>
          </a:xfrm>
          <a:prstGeom prst="rect">
            <a:avLst/>
          </a:prstGeom>
          <a:solidFill>
            <a:srgbClr val="9A9AA2"/>
          </a:solidFill>
          <a:ln>
            <a:noFill/>
          </a:ln>
          <a:effectLst/>
        </p:spPr>
        <p:txBody>
          <a:bodyPr rtlCol="0" anchor="ctr" wrap="square"/>
          <a:lstStyle/>
          <a:p>
            <a:pPr algn="ctr"/>
          </a:p>
        </p:txBody>
      </p:sp>
      <p:sp>
        <p:nvSpPr>
          <p:cNvPr id="53" name="TextBox 52"/>
          <p:cNvSpPr txBox="1"/>
          <p:nvPr/>
        </p:nvSpPr>
        <p:spPr>
          <a:xfrm>
            <a:off x="5550407" y="5815583"/>
            <a:ext cx="2194560" cy="429768"/>
          </a:xfrm>
          <a:prstGeom prst="rect">
            <a:avLst/>
          </a:prstGeom>
          <a:noFill/>
        </p:spPr>
        <p:txBody>
          <a:bodyPr wrap="square" anchor="ctr" lIns="0" rIns="0" tIns="0" bIns="0">
            <a:spAutoFit/>
          </a:bodyPr>
          <a:lstStyle/>
          <a:p>
            <a:pPr algn="l"/>
            <a:r>
              <a:rPr sz="1150" b="1" i="0" lang="en-US" spc="30">
                <a:solidFill>
                  <a:srgbClr val="0B0B0C"/>
                </a:solidFill>
                <a:latin typeface="Plus Jakarta Sans"/>
                <a:cs typeface="Plus Jakarta Sans"/>
              </a:rPr>
              <a:t>DEMO</a:t>
            </a:r>
          </a:p>
        </p:txBody>
      </p:sp>
      <p:sp>
        <p:nvSpPr>
          <p:cNvPr id="54" name="TextBox 53"/>
          <p:cNvSpPr txBox="1"/>
          <p:nvPr/>
        </p:nvSpPr>
        <p:spPr>
          <a:xfrm>
            <a:off x="7635240" y="5815583"/>
            <a:ext cx="3639312" cy="429768"/>
          </a:xfrm>
          <a:prstGeom prst="rect">
            <a:avLst/>
          </a:prstGeom>
          <a:noFill/>
        </p:spPr>
        <p:txBody>
          <a:bodyPr wrap="square" anchor="ctr" lIns="0" rIns="0" tIns="0" bIns="0">
            <a:spAutoFit/>
          </a:bodyPr>
          <a:lstStyle/>
          <a:p>
            <a:pPr algn="r"/>
            <a:r>
              <a:rPr sz="950" b="0" i="0" lang="en-US">
                <a:solidFill>
                  <a:srgbClr val="63636B"/>
                </a:solidFill>
                <a:latin typeface="Plus Jakarta Sans"/>
                <a:cs typeface="Plus Jakarta Sans"/>
              </a:rPr>
              <a:t>show the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PROBLEM → USER → AI → MVP</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03</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BREAK THE PROBLEM DOWN</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Before You Code</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Five questions. Answer them out loud. No editor yet.</a:t>
            </a:r>
          </a:p>
        </p:txBody>
      </p:sp>
      <p:sp>
        <p:nvSpPr>
          <p:cNvPr id="11" name="TextBox 10"/>
          <p:cNvSpPr txBox="1"/>
          <p:nvPr/>
        </p:nvSpPr>
        <p:spPr>
          <a:xfrm>
            <a:off x="685800" y="2103120"/>
            <a:ext cx="868680" cy="548640"/>
          </a:xfrm>
          <a:prstGeom prst="rect">
            <a:avLst/>
          </a:prstGeom>
          <a:noFill/>
        </p:spPr>
        <p:txBody>
          <a:bodyPr wrap="square" anchor="ctr" lIns="0" rIns="0" tIns="0" bIns="0">
            <a:spAutoFit/>
          </a:bodyPr>
          <a:lstStyle/>
          <a:p>
            <a:pPr algn="l"/>
            <a:r>
              <a:rPr sz="2100" b="1" i="0" lang="en-US" spc="-50">
                <a:solidFill>
                  <a:srgbClr val="FF6B2C"/>
                </a:solidFill>
                <a:latin typeface="Plus Jakarta Sans"/>
                <a:cs typeface="Plus Jakarta Sans"/>
              </a:rPr>
              <a:t>01</a:t>
            </a:r>
          </a:p>
        </p:txBody>
      </p:sp>
      <p:sp>
        <p:nvSpPr>
          <p:cNvPr id="12" name="TextBox 11"/>
          <p:cNvSpPr txBox="1"/>
          <p:nvPr/>
        </p:nvSpPr>
        <p:spPr>
          <a:xfrm>
            <a:off x="1600200" y="2103120"/>
            <a:ext cx="9905969" cy="548640"/>
          </a:xfrm>
          <a:prstGeom prst="rect">
            <a:avLst/>
          </a:prstGeom>
          <a:noFill/>
        </p:spPr>
        <p:txBody>
          <a:bodyPr wrap="square" anchor="ctr" lIns="0" rIns="0" tIns="0" bIns="0">
            <a:spAutoFit/>
          </a:bodyPr>
          <a:lstStyle/>
          <a:p>
            <a:pPr algn="l"/>
            <a:r>
              <a:rPr sz="1700" b="1" i="0" lang="en-US" spc="-20">
                <a:solidFill>
                  <a:srgbClr val="0B0B0C"/>
                </a:solidFill>
                <a:latin typeface="Plus Jakarta Sans"/>
                <a:cs typeface="Plus Jakarta Sans"/>
              </a:rPr>
              <a:t>WHAT PROBLEM ARE WE SOLVING?</a:t>
            </a:r>
          </a:p>
        </p:txBody>
      </p:sp>
      <p:cxnSp>
        <p:nvCxnSpPr>
          <p:cNvPr id="13" name="Connector 12"/>
          <p:cNvCxnSpPr/>
          <p:nvPr/>
        </p:nvCxnSpPr>
        <p:spPr>
          <a:xfrm>
            <a:off x="685800" y="2779776"/>
            <a:ext cx="10820369" cy="0"/>
          </a:xfrm>
          <a:prstGeom prst="line">
            <a:avLst/>
          </a:prstGeom>
          <a:ln w="12700">
            <a:solidFill>
              <a:srgbClr val="E7E7EA"/>
            </a:solidFill>
          </a:ln>
        </p:spPr>
      </p:cxnSp>
      <p:sp>
        <p:nvSpPr>
          <p:cNvPr id="14" name="TextBox 13"/>
          <p:cNvSpPr txBox="1"/>
          <p:nvPr/>
        </p:nvSpPr>
        <p:spPr>
          <a:xfrm>
            <a:off x="685800" y="2907791"/>
            <a:ext cx="868680" cy="548640"/>
          </a:xfrm>
          <a:prstGeom prst="rect">
            <a:avLst/>
          </a:prstGeom>
          <a:noFill/>
        </p:spPr>
        <p:txBody>
          <a:bodyPr wrap="square" anchor="ctr" lIns="0" rIns="0" tIns="0" bIns="0">
            <a:spAutoFit/>
          </a:bodyPr>
          <a:lstStyle/>
          <a:p>
            <a:pPr algn="l"/>
            <a:r>
              <a:rPr sz="2100" b="1" i="0" lang="en-US" spc="-50">
                <a:solidFill>
                  <a:srgbClr val="FF6B2C"/>
                </a:solidFill>
                <a:latin typeface="Plus Jakarta Sans"/>
                <a:cs typeface="Plus Jakarta Sans"/>
              </a:rPr>
              <a:t>02</a:t>
            </a:r>
          </a:p>
        </p:txBody>
      </p:sp>
      <p:sp>
        <p:nvSpPr>
          <p:cNvPr id="15" name="TextBox 14"/>
          <p:cNvSpPr txBox="1"/>
          <p:nvPr/>
        </p:nvSpPr>
        <p:spPr>
          <a:xfrm>
            <a:off x="1600200" y="2907791"/>
            <a:ext cx="9905969" cy="548640"/>
          </a:xfrm>
          <a:prstGeom prst="rect">
            <a:avLst/>
          </a:prstGeom>
          <a:noFill/>
        </p:spPr>
        <p:txBody>
          <a:bodyPr wrap="square" anchor="ctr" lIns="0" rIns="0" tIns="0" bIns="0">
            <a:spAutoFit/>
          </a:bodyPr>
          <a:lstStyle/>
          <a:p>
            <a:pPr algn="l"/>
            <a:r>
              <a:rPr sz="1700" b="1" i="0" lang="en-US" spc="-20">
                <a:solidFill>
                  <a:srgbClr val="0B0B0C"/>
                </a:solidFill>
                <a:latin typeface="Plus Jakarta Sans"/>
                <a:cs typeface="Plus Jakarta Sans"/>
              </a:rPr>
              <a:t>WHO HAS THIS PROBLEM?</a:t>
            </a:r>
          </a:p>
        </p:txBody>
      </p:sp>
      <p:cxnSp>
        <p:nvCxnSpPr>
          <p:cNvPr id="16" name="Connector 15"/>
          <p:cNvCxnSpPr/>
          <p:nvPr/>
        </p:nvCxnSpPr>
        <p:spPr>
          <a:xfrm>
            <a:off x="685800" y="3584448"/>
            <a:ext cx="10820369" cy="0"/>
          </a:xfrm>
          <a:prstGeom prst="line">
            <a:avLst/>
          </a:prstGeom>
          <a:ln w="12700">
            <a:solidFill>
              <a:srgbClr val="E7E7EA"/>
            </a:solidFill>
          </a:ln>
        </p:spPr>
      </p:cxnSp>
      <p:sp>
        <p:nvSpPr>
          <p:cNvPr id="17" name="TextBox 16"/>
          <p:cNvSpPr txBox="1"/>
          <p:nvPr/>
        </p:nvSpPr>
        <p:spPr>
          <a:xfrm>
            <a:off x="685800" y="3712463"/>
            <a:ext cx="868680" cy="548640"/>
          </a:xfrm>
          <a:prstGeom prst="rect">
            <a:avLst/>
          </a:prstGeom>
          <a:noFill/>
        </p:spPr>
        <p:txBody>
          <a:bodyPr wrap="square" anchor="ctr" lIns="0" rIns="0" tIns="0" bIns="0">
            <a:spAutoFit/>
          </a:bodyPr>
          <a:lstStyle/>
          <a:p>
            <a:pPr algn="l"/>
            <a:r>
              <a:rPr sz="2100" b="1" i="0" lang="en-US" spc="-50">
                <a:solidFill>
                  <a:srgbClr val="FF6B2C"/>
                </a:solidFill>
                <a:latin typeface="Plus Jakarta Sans"/>
                <a:cs typeface="Plus Jakarta Sans"/>
              </a:rPr>
              <a:t>03</a:t>
            </a:r>
          </a:p>
        </p:txBody>
      </p:sp>
      <p:sp>
        <p:nvSpPr>
          <p:cNvPr id="18" name="TextBox 17"/>
          <p:cNvSpPr txBox="1"/>
          <p:nvPr/>
        </p:nvSpPr>
        <p:spPr>
          <a:xfrm>
            <a:off x="1600200" y="3712463"/>
            <a:ext cx="9905969" cy="548640"/>
          </a:xfrm>
          <a:prstGeom prst="rect">
            <a:avLst/>
          </a:prstGeom>
          <a:noFill/>
        </p:spPr>
        <p:txBody>
          <a:bodyPr wrap="square" anchor="ctr" lIns="0" rIns="0" tIns="0" bIns="0">
            <a:spAutoFit/>
          </a:bodyPr>
          <a:lstStyle/>
          <a:p>
            <a:pPr algn="l"/>
            <a:r>
              <a:rPr sz="1700" b="1" i="0" lang="en-US" spc="-20">
                <a:solidFill>
                  <a:srgbClr val="0B0B0C"/>
                </a:solidFill>
                <a:latin typeface="Plus Jakarta Sans"/>
                <a:cs typeface="Plus Jakarta Sans"/>
              </a:rPr>
              <a:t>WHAT OUTCOME DO THEY NEED?</a:t>
            </a:r>
          </a:p>
        </p:txBody>
      </p:sp>
      <p:cxnSp>
        <p:nvCxnSpPr>
          <p:cNvPr id="19" name="Connector 18"/>
          <p:cNvCxnSpPr/>
          <p:nvPr/>
        </p:nvCxnSpPr>
        <p:spPr>
          <a:xfrm>
            <a:off x="685800" y="4389120"/>
            <a:ext cx="10820369" cy="0"/>
          </a:xfrm>
          <a:prstGeom prst="line">
            <a:avLst/>
          </a:prstGeom>
          <a:ln w="12700">
            <a:solidFill>
              <a:srgbClr val="E7E7EA"/>
            </a:solidFill>
          </a:ln>
        </p:spPr>
      </p:cxnSp>
      <p:sp>
        <p:nvSpPr>
          <p:cNvPr id="20" name="TextBox 19"/>
          <p:cNvSpPr txBox="1"/>
          <p:nvPr/>
        </p:nvSpPr>
        <p:spPr>
          <a:xfrm>
            <a:off x="685800" y="4517136"/>
            <a:ext cx="868680" cy="548640"/>
          </a:xfrm>
          <a:prstGeom prst="rect">
            <a:avLst/>
          </a:prstGeom>
          <a:noFill/>
        </p:spPr>
        <p:txBody>
          <a:bodyPr wrap="square" anchor="ctr" lIns="0" rIns="0" tIns="0" bIns="0">
            <a:spAutoFit/>
          </a:bodyPr>
          <a:lstStyle/>
          <a:p>
            <a:pPr algn="l"/>
            <a:r>
              <a:rPr sz="2100" b="1" i="0" lang="en-US" spc="-50">
                <a:solidFill>
                  <a:srgbClr val="FF6B2C"/>
                </a:solidFill>
                <a:latin typeface="Plus Jakarta Sans"/>
                <a:cs typeface="Plus Jakarta Sans"/>
              </a:rPr>
              <a:t>04</a:t>
            </a:r>
          </a:p>
        </p:txBody>
      </p:sp>
      <p:sp>
        <p:nvSpPr>
          <p:cNvPr id="21" name="TextBox 20"/>
          <p:cNvSpPr txBox="1"/>
          <p:nvPr/>
        </p:nvSpPr>
        <p:spPr>
          <a:xfrm>
            <a:off x="1600200" y="4517136"/>
            <a:ext cx="9905969" cy="548640"/>
          </a:xfrm>
          <a:prstGeom prst="rect">
            <a:avLst/>
          </a:prstGeom>
          <a:noFill/>
        </p:spPr>
        <p:txBody>
          <a:bodyPr wrap="square" anchor="ctr" lIns="0" rIns="0" tIns="0" bIns="0">
            <a:spAutoFit/>
          </a:bodyPr>
          <a:lstStyle/>
          <a:p>
            <a:pPr algn="l"/>
            <a:r>
              <a:rPr sz="1700" b="1" i="0" lang="en-US" spc="-20">
                <a:solidFill>
                  <a:srgbClr val="0B0B0C"/>
                </a:solidFill>
                <a:latin typeface="Plus Jakarta Sans"/>
                <a:cs typeface="Plus Jakarta Sans"/>
              </a:rPr>
              <a:t>WHERE DOES AI ACTUALLY HELP?</a:t>
            </a:r>
          </a:p>
        </p:txBody>
      </p:sp>
      <p:cxnSp>
        <p:nvCxnSpPr>
          <p:cNvPr id="22" name="Connector 21"/>
          <p:cNvCxnSpPr/>
          <p:nvPr/>
        </p:nvCxnSpPr>
        <p:spPr>
          <a:xfrm>
            <a:off x="685800" y="5193792"/>
            <a:ext cx="10820369" cy="0"/>
          </a:xfrm>
          <a:prstGeom prst="line">
            <a:avLst/>
          </a:prstGeom>
          <a:ln w="12700">
            <a:solidFill>
              <a:srgbClr val="E7E7EA"/>
            </a:solidFill>
          </a:ln>
        </p:spPr>
      </p:cxnSp>
      <p:sp>
        <p:nvSpPr>
          <p:cNvPr id="23" name="TextBox 22"/>
          <p:cNvSpPr txBox="1"/>
          <p:nvPr/>
        </p:nvSpPr>
        <p:spPr>
          <a:xfrm>
            <a:off x="685800" y="5321807"/>
            <a:ext cx="868680" cy="548640"/>
          </a:xfrm>
          <a:prstGeom prst="rect">
            <a:avLst/>
          </a:prstGeom>
          <a:noFill/>
        </p:spPr>
        <p:txBody>
          <a:bodyPr wrap="square" anchor="ctr" lIns="0" rIns="0" tIns="0" bIns="0">
            <a:spAutoFit/>
          </a:bodyPr>
          <a:lstStyle/>
          <a:p>
            <a:pPr algn="l"/>
            <a:r>
              <a:rPr sz="2100" b="1" i="0" lang="en-US" spc="-50">
                <a:solidFill>
                  <a:srgbClr val="FF6B2C"/>
                </a:solidFill>
                <a:latin typeface="Plus Jakarta Sans"/>
                <a:cs typeface="Plus Jakarta Sans"/>
              </a:rPr>
              <a:t>05</a:t>
            </a:r>
          </a:p>
        </p:txBody>
      </p:sp>
      <p:sp>
        <p:nvSpPr>
          <p:cNvPr id="24" name="TextBox 23"/>
          <p:cNvSpPr txBox="1"/>
          <p:nvPr/>
        </p:nvSpPr>
        <p:spPr>
          <a:xfrm>
            <a:off x="1600200" y="5321807"/>
            <a:ext cx="9905969" cy="548640"/>
          </a:xfrm>
          <a:prstGeom prst="rect">
            <a:avLst/>
          </a:prstGeom>
          <a:noFill/>
        </p:spPr>
        <p:txBody>
          <a:bodyPr wrap="square" anchor="ctr" lIns="0" rIns="0" tIns="0" bIns="0">
            <a:spAutoFit/>
          </a:bodyPr>
          <a:lstStyle/>
          <a:p>
            <a:pPr algn="l"/>
            <a:r>
              <a:rPr sz="1700" b="1" i="0" lang="en-US" spc="-20">
                <a:solidFill>
                  <a:srgbClr val="0B0B0C"/>
                </a:solidFill>
                <a:latin typeface="Plus Jakarta Sans"/>
                <a:cs typeface="Plus Jakarta Sans"/>
              </a:rPr>
              <a:t>WHAT IS THE SMALLEST USEFUL MVP?</a:t>
            </a:r>
          </a:p>
        </p:txBody>
      </p:sp>
      <p:cxnSp>
        <p:nvCxnSpPr>
          <p:cNvPr id="25" name="Connector 24"/>
          <p:cNvCxnSpPr/>
          <p:nvPr/>
        </p:nvCxnSpPr>
        <p:spPr>
          <a:xfrm>
            <a:off x="685800" y="5998464"/>
            <a:ext cx="10820369" cy="0"/>
          </a:xfrm>
          <a:prstGeom prst="line">
            <a:avLst/>
          </a:prstGeom>
          <a:ln w="12700">
            <a:solidFill>
              <a:srgbClr val="E7E7EA"/>
            </a:solidFill>
          </a:ln>
        </p:spPr>
      </p:cxnSp>
      <p:sp>
        <p:nvSpPr>
          <p:cNvPr id="26" name="TextBox 25"/>
          <p:cNvSpPr txBox="1"/>
          <p:nvPr/>
        </p:nvSpPr>
        <p:spPr>
          <a:xfrm>
            <a:off x="685800" y="6217919"/>
            <a:ext cx="10820369" cy="274320"/>
          </a:xfrm>
          <a:prstGeom prst="rect">
            <a:avLst/>
          </a:prstGeom>
          <a:noFill/>
        </p:spPr>
        <p:txBody>
          <a:bodyPr wrap="square" anchor="t" lIns="0" rIns="0" tIns="0" bIns="0">
            <a:spAutoFit/>
          </a:bodyPr>
          <a:lstStyle/>
          <a:p>
            <a:pPr algn="ctr"/>
            <a:r>
              <a:rPr sz="1100" b="0" i="0" lang="en-US">
                <a:solidFill>
                  <a:srgbClr val="9A9AA2"/>
                </a:solidFill>
                <a:latin typeface="Plus Jakarta Sans"/>
                <a:cs typeface="Plus Jakarta Sans"/>
              </a:rPr>
              <a:t>Not the app. Not the chatbot. Not the dashboard. The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DEMO-READY MVP</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04</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THE MVP DECISION</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MVP ≠ Feature List</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Your MVP is a complete path from input to useful outcome.</a:t>
            </a:r>
          </a:p>
        </p:txBody>
      </p:sp>
      <p:sp>
        <p:nvSpPr>
          <p:cNvPr id="11" name="Rounded Rectangle 10"/>
          <p:cNvSpPr/>
          <p:nvPr/>
        </p:nvSpPr>
        <p:spPr>
          <a:xfrm>
            <a:off x="685800" y="2212848"/>
            <a:ext cx="5148072" cy="3639312"/>
          </a:xfrm>
          <a:prstGeom prst="roundRect">
            <a:avLst>
              <a:gd name="adj" fmla="val 3015"/>
            </a:avLst>
          </a:prstGeom>
          <a:solidFill>
            <a:srgbClr val="FAFAFB"/>
          </a:solidFill>
          <a:ln w="12700">
            <a:solidFill>
              <a:srgbClr val="E7E7EA"/>
            </a:solidFill>
          </a:ln>
          <a:effectLst/>
        </p:spPr>
        <p:txBody>
          <a:bodyPr rtlCol="0" anchor="ctr" wrap="square"/>
          <a:lstStyle/>
          <a:p>
            <a:pPr algn="ctr"/>
          </a:p>
        </p:txBody>
      </p:sp>
      <p:sp>
        <p:nvSpPr>
          <p:cNvPr id="12" name="TextBox 11"/>
          <p:cNvSpPr txBox="1"/>
          <p:nvPr/>
        </p:nvSpPr>
        <p:spPr>
          <a:xfrm>
            <a:off x="960120" y="2395728"/>
            <a:ext cx="2743200" cy="237744"/>
          </a:xfrm>
          <a:prstGeom prst="rect">
            <a:avLst/>
          </a:prstGeom>
          <a:noFill/>
        </p:spPr>
        <p:txBody>
          <a:bodyPr wrap="square" anchor="t" lIns="0" rIns="0" tIns="0" bIns="0">
            <a:spAutoFit/>
          </a:bodyPr>
          <a:lstStyle/>
          <a:p>
            <a:pPr algn="l"/>
            <a:r>
              <a:rPr sz="1000" b="1" i="0" lang="en-US" spc="150">
                <a:solidFill>
                  <a:srgbClr val="9A9AA2"/>
                </a:solidFill>
                <a:latin typeface="Plus Jakarta Sans"/>
                <a:cs typeface="Plus Jakarta Sans"/>
              </a:rPr>
              <a:t>BAD BUILD</a:t>
            </a:r>
          </a:p>
        </p:txBody>
      </p:sp>
      <p:cxnSp>
        <p:nvCxnSpPr>
          <p:cNvPr id="13" name="Connector 12"/>
          <p:cNvCxnSpPr/>
          <p:nvPr/>
        </p:nvCxnSpPr>
        <p:spPr>
          <a:xfrm>
            <a:off x="960120" y="2724912"/>
            <a:ext cx="4599432" cy="0"/>
          </a:xfrm>
          <a:prstGeom prst="line">
            <a:avLst/>
          </a:prstGeom>
          <a:ln w="12700">
            <a:solidFill>
              <a:srgbClr val="E7E7EA"/>
            </a:solidFill>
          </a:ln>
        </p:spPr>
      </p:cxnSp>
      <p:sp>
        <p:nvSpPr>
          <p:cNvPr id="14" name="Rounded Rectangle 13"/>
          <p:cNvSpPr/>
          <p:nvPr/>
        </p:nvSpPr>
        <p:spPr>
          <a:xfrm>
            <a:off x="1188720" y="2944368"/>
            <a:ext cx="4142232" cy="548640"/>
          </a:xfrm>
          <a:prstGeom prst="roundRect">
            <a:avLst>
              <a:gd name="adj" fmla="val 13333"/>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350" b="1" i="0" lang="en-US" spc="20">
                <a:solidFill>
                  <a:srgbClr val="1A1A1D"/>
                </a:solidFill>
                <a:latin typeface="Plus Jakarta Sans"/>
                <a:cs typeface="Plus Jakarta Sans"/>
              </a:rPr>
              <a:t>20 FEATURES</a:t>
            </a:r>
          </a:p>
        </p:txBody>
      </p:sp>
      <p:cxnSp>
        <p:nvCxnSpPr>
          <p:cNvPr id="15" name="Connector 14"/>
          <p:cNvCxnSpPr/>
          <p:nvPr/>
        </p:nvCxnSpPr>
        <p:spPr>
          <a:xfrm>
            <a:off x="3259836" y="3520439"/>
            <a:ext cx="0" cy="292609"/>
          </a:xfrm>
          <a:prstGeom prst="line">
            <a:avLst/>
          </a:prstGeom>
          <a:ln w="15240">
            <a:solidFill>
              <a:srgbClr val="9A9AA2"/>
            </a:solidFill>
            <a:tailEnd type="triangle" w="sm" len="sm"/>
          </a:ln>
        </p:spPr>
      </p:cxnSp>
      <p:sp>
        <p:nvSpPr>
          <p:cNvPr id="16" name="Rounded Rectangle 15"/>
          <p:cNvSpPr/>
          <p:nvPr/>
        </p:nvSpPr>
        <p:spPr>
          <a:xfrm>
            <a:off x="1188720" y="3840479"/>
            <a:ext cx="4142232" cy="548640"/>
          </a:xfrm>
          <a:prstGeom prst="roundRect">
            <a:avLst>
              <a:gd name="adj" fmla="val 13333"/>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350" b="1" i="0" lang="en-US" spc="20">
                <a:solidFill>
                  <a:srgbClr val="1A1A1D"/>
                </a:solidFill>
                <a:latin typeface="Plus Jakarta Sans"/>
                <a:cs typeface="Plus Jakarta Sans"/>
              </a:rPr>
              <a:t>5 HALF-WORKING</a:t>
            </a:r>
          </a:p>
        </p:txBody>
      </p:sp>
      <p:cxnSp>
        <p:nvCxnSpPr>
          <p:cNvPr id="17" name="Connector 16"/>
          <p:cNvCxnSpPr/>
          <p:nvPr/>
        </p:nvCxnSpPr>
        <p:spPr>
          <a:xfrm>
            <a:off x="3259836" y="4416551"/>
            <a:ext cx="0" cy="292608"/>
          </a:xfrm>
          <a:prstGeom prst="line">
            <a:avLst/>
          </a:prstGeom>
          <a:ln w="15240">
            <a:solidFill>
              <a:srgbClr val="9A9AA2"/>
            </a:solidFill>
            <a:tailEnd type="triangle" w="sm" len="sm"/>
          </a:ln>
        </p:spPr>
      </p:cxnSp>
      <p:sp>
        <p:nvSpPr>
          <p:cNvPr id="18" name="Rounded Rectangle 17"/>
          <p:cNvSpPr/>
          <p:nvPr/>
        </p:nvSpPr>
        <p:spPr>
          <a:xfrm>
            <a:off x="1188720" y="4736592"/>
            <a:ext cx="4142232" cy="548640"/>
          </a:xfrm>
          <a:prstGeom prst="roundRect">
            <a:avLst>
              <a:gd name="adj" fmla="val 13333"/>
            </a:avLst>
          </a:prstGeom>
          <a:solidFill>
            <a:srgbClr val="F2F2F4"/>
          </a:solidFill>
          <a:ln w="12700">
            <a:solidFill>
              <a:srgbClr val="E7E7EA"/>
            </a:solidFill>
          </a:ln>
          <a:effectLst/>
        </p:spPr>
        <p:txBody>
          <a:bodyPr rtlCol="0" anchor="ctr" wrap="square" lIns="64008" rIns="64008" tIns="18288" bIns="18288"/>
          <a:lstStyle/>
          <a:p>
            <a:pPr algn="ctr">
              <a:lnSpc>
                <a:spcPct val="105000"/>
              </a:lnSpc>
            </a:pPr>
            <a:r>
              <a:rPr sz="1350" b="1" i="0" lang="en-US" spc="20">
                <a:solidFill>
                  <a:srgbClr val="9A9AA2"/>
                </a:solidFill>
                <a:latin typeface="Plus Jakarta Sans"/>
                <a:cs typeface="Plus Jakarta Sans"/>
              </a:rPr>
              <a:t>BROKEN DEMO</a:t>
            </a:r>
          </a:p>
        </p:txBody>
      </p:sp>
      <p:cxnSp>
        <p:nvCxnSpPr>
          <p:cNvPr id="19" name="Connector 18"/>
          <p:cNvCxnSpPr/>
          <p:nvPr/>
        </p:nvCxnSpPr>
        <p:spPr>
          <a:xfrm>
            <a:off x="2103120" y="5010912"/>
            <a:ext cx="2313432" cy="0"/>
          </a:xfrm>
          <a:prstGeom prst="line">
            <a:avLst/>
          </a:prstGeom>
          <a:ln w="17780">
            <a:solidFill>
              <a:srgbClr val="9A9AA2"/>
            </a:solidFill>
          </a:ln>
        </p:spPr>
      </p:cxnSp>
      <p:sp>
        <p:nvSpPr>
          <p:cNvPr id="20" name="Rounded Rectangle 19"/>
          <p:cNvSpPr/>
          <p:nvPr/>
        </p:nvSpPr>
        <p:spPr>
          <a:xfrm>
            <a:off x="6355080" y="2212848"/>
            <a:ext cx="5148072" cy="3639312"/>
          </a:xfrm>
          <a:prstGeom prst="roundRect">
            <a:avLst>
              <a:gd name="adj" fmla="val 3015"/>
            </a:avLst>
          </a:prstGeom>
          <a:solidFill>
            <a:srgbClr val="FFFFFF"/>
          </a:solidFill>
          <a:ln w="19050">
            <a:solidFill>
              <a:srgbClr val="FF6B2C"/>
            </a:solidFill>
          </a:ln>
          <a:effectLst/>
        </p:spPr>
        <p:txBody>
          <a:bodyPr rtlCol="0" anchor="ctr" wrap="square"/>
          <a:lstStyle/>
          <a:p>
            <a:pPr algn="ctr"/>
          </a:p>
        </p:txBody>
      </p:sp>
      <p:sp>
        <p:nvSpPr>
          <p:cNvPr id="21" name="TextBox 20"/>
          <p:cNvSpPr txBox="1"/>
          <p:nvPr/>
        </p:nvSpPr>
        <p:spPr>
          <a:xfrm>
            <a:off x="6629400" y="2395728"/>
            <a:ext cx="2743200" cy="237744"/>
          </a:xfrm>
          <a:prstGeom prst="rect">
            <a:avLst/>
          </a:prstGeom>
          <a:noFill/>
        </p:spPr>
        <p:txBody>
          <a:bodyPr wrap="square" anchor="t" lIns="0" rIns="0" tIns="0" bIns="0">
            <a:spAutoFit/>
          </a:bodyPr>
          <a:lstStyle/>
          <a:p>
            <a:pPr algn="l"/>
            <a:r>
              <a:rPr sz="1000" b="1" i="0" lang="en-US" spc="150">
                <a:solidFill>
                  <a:srgbClr val="FF6B2C"/>
                </a:solidFill>
                <a:latin typeface="Plus Jakarta Sans"/>
                <a:cs typeface="Plus Jakarta Sans"/>
              </a:rPr>
              <a:t>GOOD BUILD</a:t>
            </a:r>
          </a:p>
        </p:txBody>
      </p:sp>
      <p:cxnSp>
        <p:nvCxnSpPr>
          <p:cNvPr id="22" name="Connector 21"/>
          <p:cNvCxnSpPr/>
          <p:nvPr/>
        </p:nvCxnSpPr>
        <p:spPr>
          <a:xfrm>
            <a:off x="6629400" y="2724912"/>
            <a:ext cx="4599432" cy="0"/>
          </a:xfrm>
          <a:prstGeom prst="line">
            <a:avLst/>
          </a:prstGeom>
          <a:ln w="12700">
            <a:solidFill>
              <a:srgbClr val="E7E7EA"/>
            </a:solidFill>
          </a:ln>
        </p:spPr>
      </p:cxnSp>
      <p:sp>
        <p:nvSpPr>
          <p:cNvPr id="23" name="Rounded Rectangle 22"/>
          <p:cNvSpPr/>
          <p:nvPr/>
        </p:nvSpPr>
        <p:spPr>
          <a:xfrm>
            <a:off x="6812280" y="2871215"/>
            <a:ext cx="4233672" cy="502920"/>
          </a:xfrm>
          <a:prstGeom prst="roundRect">
            <a:avLst>
              <a:gd name="adj" fmla="val 14545"/>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250" b="1" i="0" lang="en-US" spc="20">
                <a:solidFill>
                  <a:srgbClr val="0B0B0C"/>
                </a:solidFill>
                <a:latin typeface="Plus Jakarta Sans"/>
                <a:cs typeface="Plus Jakarta Sans"/>
              </a:rPr>
              <a:t>ONE USER</a:t>
            </a:r>
          </a:p>
        </p:txBody>
      </p:sp>
      <p:cxnSp>
        <p:nvCxnSpPr>
          <p:cNvPr id="24" name="Connector 23"/>
          <p:cNvCxnSpPr/>
          <p:nvPr/>
        </p:nvCxnSpPr>
        <p:spPr>
          <a:xfrm>
            <a:off x="8929116" y="3401567"/>
            <a:ext cx="0" cy="246888"/>
          </a:xfrm>
          <a:prstGeom prst="line">
            <a:avLst/>
          </a:prstGeom>
          <a:ln w="15240">
            <a:solidFill>
              <a:srgbClr val="9A9AA2"/>
            </a:solidFill>
            <a:tailEnd type="triangle" w="sm" len="sm"/>
          </a:ln>
        </p:spPr>
      </p:cxnSp>
      <p:sp>
        <p:nvSpPr>
          <p:cNvPr id="25" name="Rounded Rectangle 24"/>
          <p:cNvSpPr/>
          <p:nvPr/>
        </p:nvSpPr>
        <p:spPr>
          <a:xfrm>
            <a:off x="6812280" y="3675887"/>
            <a:ext cx="4233672" cy="502920"/>
          </a:xfrm>
          <a:prstGeom prst="roundRect">
            <a:avLst>
              <a:gd name="adj" fmla="val 14545"/>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250" b="1" i="0" lang="en-US" spc="20">
                <a:solidFill>
                  <a:srgbClr val="0B0B0C"/>
                </a:solidFill>
                <a:latin typeface="Plus Jakarta Sans"/>
                <a:cs typeface="Plus Jakarta Sans"/>
              </a:rPr>
              <a:t>ONE CORE WORKFLOW</a:t>
            </a:r>
          </a:p>
        </p:txBody>
      </p:sp>
      <p:cxnSp>
        <p:nvCxnSpPr>
          <p:cNvPr id="26" name="Connector 25"/>
          <p:cNvCxnSpPr/>
          <p:nvPr/>
        </p:nvCxnSpPr>
        <p:spPr>
          <a:xfrm>
            <a:off x="8929116" y="4206240"/>
            <a:ext cx="0" cy="246887"/>
          </a:xfrm>
          <a:prstGeom prst="line">
            <a:avLst/>
          </a:prstGeom>
          <a:ln w="15240">
            <a:solidFill>
              <a:srgbClr val="9A9AA2"/>
            </a:solidFill>
            <a:tailEnd type="triangle" w="sm" len="sm"/>
          </a:ln>
        </p:spPr>
      </p:cxnSp>
      <p:sp>
        <p:nvSpPr>
          <p:cNvPr id="27" name="Rounded Rectangle 26"/>
          <p:cNvSpPr/>
          <p:nvPr/>
        </p:nvSpPr>
        <p:spPr>
          <a:xfrm>
            <a:off x="6812280" y="4480559"/>
            <a:ext cx="4233672" cy="502920"/>
          </a:xfrm>
          <a:prstGeom prst="roundRect">
            <a:avLst>
              <a:gd name="adj" fmla="val 14545"/>
            </a:avLst>
          </a:prstGeom>
          <a:solidFill>
            <a:srgbClr val="FFFFFF"/>
          </a:solidFill>
          <a:ln w="12700">
            <a:solidFill>
              <a:srgbClr val="E7E7EA"/>
            </a:solidFill>
          </a:ln>
          <a:effectLst/>
        </p:spPr>
        <p:txBody>
          <a:bodyPr rtlCol="0" anchor="ctr" wrap="square" lIns="64008" rIns="64008" tIns="18288" bIns="18288"/>
          <a:lstStyle/>
          <a:p>
            <a:pPr algn="ctr">
              <a:lnSpc>
                <a:spcPct val="105000"/>
              </a:lnSpc>
            </a:pPr>
            <a:r>
              <a:rPr sz="1250" b="1" i="0" lang="en-US" spc="20">
                <a:solidFill>
                  <a:srgbClr val="0B0B0C"/>
                </a:solidFill>
                <a:latin typeface="Plus Jakarta Sans"/>
                <a:cs typeface="Plus Jakarta Sans"/>
              </a:rPr>
              <a:t>ONE USEFUL AI OUTCOME</a:t>
            </a:r>
          </a:p>
        </p:txBody>
      </p:sp>
      <p:cxnSp>
        <p:nvCxnSpPr>
          <p:cNvPr id="28" name="Connector 27"/>
          <p:cNvCxnSpPr/>
          <p:nvPr/>
        </p:nvCxnSpPr>
        <p:spPr>
          <a:xfrm>
            <a:off x="8929116" y="5010912"/>
            <a:ext cx="0" cy="246887"/>
          </a:xfrm>
          <a:prstGeom prst="line">
            <a:avLst/>
          </a:prstGeom>
          <a:ln w="15240">
            <a:solidFill>
              <a:srgbClr val="FF6B2C"/>
            </a:solidFill>
            <a:tailEnd type="triangle" w="sm" len="sm"/>
          </a:ln>
        </p:spPr>
      </p:cxnSp>
      <p:sp>
        <p:nvSpPr>
          <p:cNvPr id="29" name="Rounded Rectangle 28"/>
          <p:cNvSpPr/>
          <p:nvPr/>
        </p:nvSpPr>
        <p:spPr>
          <a:xfrm>
            <a:off x="6812280" y="5285231"/>
            <a:ext cx="4233672" cy="502920"/>
          </a:xfrm>
          <a:prstGeom prst="roundRect">
            <a:avLst>
              <a:gd name="adj" fmla="val 14545"/>
            </a:avLst>
          </a:prstGeom>
          <a:solidFill>
            <a:srgbClr val="FF6B2C"/>
          </a:solidFill>
          <a:ln w="12700">
            <a:solidFill>
              <a:srgbClr val="FF6B2C"/>
            </a:solidFill>
          </a:ln>
          <a:effectLst/>
        </p:spPr>
        <p:txBody>
          <a:bodyPr rtlCol="0" anchor="ctr" wrap="square" lIns="64008" rIns="64008" tIns="18288" bIns="18288"/>
          <a:lstStyle/>
          <a:p>
            <a:pPr algn="ctr">
              <a:lnSpc>
                <a:spcPct val="105000"/>
              </a:lnSpc>
            </a:pPr>
            <a:r>
              <a:rPr sz="1250" b="1" i="0" lang="en-US" spc="20">
                <a:solidFill>
                  <a:srgbClr val="FFFFFF"/>
                </a:solidFill>
                <a:latin typeface="Plus Jakarta Sans"/>
                <a:cs typeface="Plus Jakarta Sans"/>
              </a:rPr>
              <a:t>WORKING DEMO</a:t>
            </a:r>
          </a:p>
        </p:txBody>
      </p:sp>
      <p:sp>
        <p:nvSpPr>
          <p:cNvPr id="30" name="Rounded Rectangle 29"/>
          <p:cNvSpPr/>
          <p:nvPr/>
        </p:nvSpPr>
        <p:spPr>
          <a:xfrm>
            <a:off x="685800" y="5925312"/>
            <a:ext cx="10820369" cy="457200"/>
          </a:xfrm>
          <a:prstGeom prst="roundRect">
            <a:avLst>
              <a:gd name="adj" fmla="val 16000"/>
            </a:avLst>
          </a:prstGeom>
          <a:solidFill>
            <a:srgbClr val="FFF4EE"/>
          </a:solidFill>
          <a:ln>
            <a:noFill/>
          </a:ln>
          <a:effectLst/>
        </p:spPr>
        <p:txBody>
          <a:bodyPr rtlCol="0" anchor="ctr" wrap="square"/>
          <a:lstStyle/>
          <a:p>
            <a:pPr algn="ctr"/>
          </a:p>
        </p:txBody>
      </p:sp>
      <p:sp>
        <p:nvSpPr>
          <p:cNvPr id="31" name="Rectangle 30"/>
          <p:cNvSpPr/>
          <p:nvPr/>
        </p:nvSpPr>
        <p:spPr>
          <a:xfrm>
            <a:off x="685800" y="5980176"/>
            <a:ext cx="45720" cy="347472"/>
          </a:xfrm>
          <a:prstGeom prst="rect">
            <a:avLst/>
          </a:prstGeom>
          <a:solidFill>
            <a:srgbClr val="FF6B2C"/>
          </a:solidFill>
          <a:ln>
            <a:noFill/>
          </a:ln>
          <a:effectLst/>
        </p:spPr>
        <p:txBody>
          <a:bodyPr rtlCol="0" anchor="ctr" wrap="square"/>
          <a:lstStyle/>
          <a:p>
            <a:pPr algn="ctr"/>
          </a:p>
        </p:txBody>
      </p:sp>
      <p:sp>
        <p:nvSpPr>
          <p:cNvPr id="32" name="TextBox 31"/>
          <p:cNvSpPr txBox="1"/>
          <p:nvPr/>
        </p:nvSpPr>
        <p:spPr>
          <a:xfrm>
            <a:off x="960120" y="5925312"/>
            <a:ext cx="10271729" cy="457200"/>
          </a:xfrm>
          <a:prstGeom prst="rect">
            <a:avLst/>
          </a:prstGeom>
          <a:noFill/>
        </p:spPr>
        <p:txBody>
          <a:bodyPr wrap="square" anchor="ctr" lIns="0" rIns="0" tIns="0" bIns="0">
            <a:spAutoFit/>
          </a:bodyPr>
          <a:lstStyle/>
          <a:p>
            <a:pPr algn="l"/>
            <a:r>
              <a:rPr sz="1500" b="1" i="0" lang="en-US" spc="-20">
                <a:solidFill>
                  <a:srgbClr val="0B0B0C"/>
                </a:solidFill>
                <a:latin typeface="Plus Jakarta Sans"/>
                <a:cs typeface="Plus Jakarta Sans"/>
              </a:rPr>
              <a:t>Build one complete path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DEMO DESIGN</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05</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DESIGN WHILE YOU BUILD</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Design the Demo While You Build</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Your audience should understand the value in one story — not twenty screens.</a:t>
            </a:r>
          </a:p>
        </p:txBody>
      </p:sp>
      <p:sp>
        <p:nvSpPr>
          <p:cNvPr id="11" name="Rounded Rectangle 10"/>
          <p:cNvSpPr/>
          <p:nvPr/>
        </p:nvSpPr>
        <p:spPr>
          <a:xfrm>
            <a:off x="685800" y="2240280"/>
            <a:ext cx="1929987" cy="1024128"/>
          </a:xfrm>
          <a:prstGeom prst="roundRect">
            <a:avLst>
              <a:gd name="adj" fmla="val 8035"/>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100" b="1" i="0" lang="en-US" spc="20">
                <a:solidFill>
                  <a:srgbClr val="0B0B0C"/>
                </a:solidFill>
                <a:latin typeface="Plus Jakarta Sans"/>
                <a:cs typeface="Plus Jakarta Sans"/>
              </a:rPr>
              <a:t>PROBLEM</a:t>
            </a:r>
          </a:p>
        </p:txBody>
      </p:sp>
      <p:sp>
        <p:nvSpPr>
          <p:cNvPr id="12" name="Rounded Rectangle 11"/>
          <p:cNvSpPr/>
          <p:nvPr/>
        </p:nvSpPr>
        <p:spPr>
          <a:xfrm>
            <a:off x="2908395" y="2240280"/>
            <a:ext cx="1929987" cy="1024128"/>
          </a:xfrm>
          <a:prstGeom prst="roundRect">
            <a:avLst>
              <a:gd name="adj" fmla="val 8035"/>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100" b="1" i="0" lang="en-US" spc="20">
                <a:solidFill>
                  <a:srgbClr val="0B0B0C"/>
                </a:solidFill>
                <a:latin typeface="Plus Jakarta Sans"/>
                <a:cs typeface="Plus Jakarta Sans"/>
              </a:rPr>
              <a:t>USER ACTION</a:t>
            </a:r>
          </a:p>
        </p:txBody>
      </p:sp>
      <p:cxnSp>
        <p:nvCxnSpPr>
          <p:cNvPr id="13" name="Connector 12"/>
          <p:cNvCxnSpPr/>
          <p:nvPr/>
        </p:nvCxnSpPr>
        <p:spPr>
          <a:xfrm>
            <a:off x="2661507" y="2752344"/>
            <a:ext cx="201168" cy="0"/>
          </a:xfrm>
          <a:prstGeom prst="line">
            <a:avLst/>
          </a:prstGeom>
          <a:ln w="15875">
            <a:solidFill>
              <a:srgbClr val="9A9AA2"/>
            </a:solidFill>
            <a:tailEnd type="triangle" w="sm" len="sm"/>
          </a:ln>
        </p:spPr>
      </p:cxnSp>
      <p:sp>
        <p:nvSpPr>
          <p:cNvPr id="14" name="Rounded Rectangle 13"/>
          <p:cNvSpPr/>
          <p:nvPr/>
        </p:nvSpPr>
        <p:spPr>
          <a:xfrm>
            <a:off x="5130991" y="2240280"/>
            <a:ext cx="1929987" cy="1024128"/>
          </a:xfrm>
          <a:prstGeom prst="roundRect">
            <a:avLst>
              <a:gd name="adj" fmla="val 8035"/>
            </a:avLst>
          </a:prstGeom>
          <a:solidFill>
            <a:srgbClr val="FFFFFF"/>
          </a:solidFill>
          <a:ln w="19050">
            <a:solidFill>
              <a:srgbClr val="FF6B2C"/>
            </a:solidFill>
          </a:ln>
          <a:effectLst/>
        </p:spPr>
        <p:txBody>
          <a:bodyPr rtlCol="0" anchor="ctr" wrap="square" lIns="45720" rIns="45720" tIns="18288" bIns="18288"/>
          <a:lstStyle/>
          <a:p>
            <a:pPr algn="ctr">
              <a:lnSpc>
                <a:spcPct val="104000"/>
              </a:lnSpc>
            </a:pPr>
            <a:r>
              <a:rPr sz="1100" b="1" i="0" lang="en-US" spc="20">
                <a:solidFill>
                  <a:srgbClr val="0B0B0C"/>
                </a:solidFill>
                <a:latin typeface="Plus Jakarta Sans"/>
                <a:cs typeface="Plus Jakarta Sans"/>
              </a:rPr>
              <a:t>AI DOES SOMETHING
USEFUL</a:t>
            </a:r>
          </a:p>
        </p:txBody>
      </p:sp>
      <p:cxnSp>
        <p:nvCxnSpPr>
          <p:cNvPr id="15" name="Connector 14"/>
          <p:cNvCxnSpPr/>
          <p:nvPr/>
        </p:nvCxnSpPr>
        <p:spPr>
          <a:xfrm>
            <a:off x="4884103" y="2752344"/>
            <a:ext cx="201168" cy="0"/>
          </a:xfrm>
          <a:prstGeom prst="line">
            <a:avLst/>
          </a:prstGeom>
          <a:ln w="15875">
            <a:solidFill>
              <a:srgbClr val="9A9AA2"/>
            </a:solidFill>
            <a:tailEnd type="triangle" w="sm" len="sm"/>
          </a:ln>
        </p:spPr>
      </p:cxnSp>
      <p:sp>
        <p:nvSpPr>
          <p:cNvPr id="16" name="Rounded Rectangle 15"/>
          <p:cNvSpPr/>
          <p:nvPr/>
        </p:nvSpPr>
        <p:spPr>
          <a:xfrm>
            <a:off x="7353586" y="2240280"/>
            <a:ext cx="1929987" cy="1024128"/>
          </a:xfrm>
          <a:prstGeom prst="roundRect">
            <a:avLst>
              <a:gd name="adj" fmla="val 8035"/>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100" b="1" i="0" lang="en-US" spc="20">
                <a:solidFill>
                  <a:srgbClr val="0B0B0C"/>
                </a:solidFill>
                <a:latin typeface="Plus Jakarta Sans"/>
                <a:cs typeface="Plus Jakarta Sans"/>
              </a:rPr>
              <a:t>RESULT</a:t>
            </a:r>
          </a:p>
        </p:txBody>
      </p:sp>
      <p:cxnSp>
        <p:nvCxnSpPr>
          <p:cNvPr id="17" name="Connector 16"/>
          <p:cNvCxnSpPr/>
          <p:nvPr/>
        </p:nvCxnSpPr>
        <p:spPr>
          <a:xfrm>
            <a:off x="7106698" y="2752344"/>
            <a:ext cx="201168" cy="0"/>
          </a:xfrm>
          <a:prstGeom prst="line">
            <a:avLst/>
          </a:prstGeom>
          <a:ln w="15875">
            <a:solidFill>
              <a:srgbClr val="9A9AA2"/>
            </a:solidFill>
            <a:tailEnd type="triangle" w="sm" len="sm"/>
          </a:ln>
        </p:spPr>
      </p:cxnSp>
      <p:sp>
        <p:nvSpPr>
          <p:cNvPr id="18" name="Rounded Rectangle 17"/>
          <p:cNvSpPr/>
          <p:nvPr/>
        </p:nvSpPr>
        <p:spPr>
          <a:xfrm>
            <a:off x="9576182" y="2240280"/>
            <a:ext cx="1929987" cy="1024128"/>
          </a:xfrm>
          <a:prstGeom prst="roundRect">
            <a:avLst>
              <a:gd name="adj" fmla="val 8035"/>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100" b="1" i="0" lang="en-US" spc="20">
                <a:solidFill>
                  <a:srgbClr val="0B0B0C"/>
                </a:solidFill>
                <a:latin typeface="Plus Jakarta Sans"/>
                <a:cs typeface="Plus Jakarta Sans"/>
              </a:rPr>
              <a:t>WHY IT MATTERS</a:t>
            </a:r>
          </a:p>
        </p:txBody>
      </p:sp>
      <p:cxnSp>
        <p:nvCxnSpPr>
          <p:cNvPr id="19" name="Connector 18"/>
          <p:cNvCxnSpPr/>
          <p:nvPr/>
        </p:nvCxnSpPr>
        <p:spPr>
          <a:xfrm>
            <a:off x="9329294" y="2752344"/>
            <a:ext cx="201168" cy="0"/>
          </a:xfrm>
          <a:prstGeom prst="line">
            <a:avLst/>
          </a:prstGeom>
          <a:ln w="15875">
            <a:solidFill>
              <a:srgbClr val="9A9AA2"/>
            </a:solidFill>
            <a:tailEnd type="triangle" w="sm" len="sm"/>
          </a:ln>
        </p:spPr>
      </p:cxnSp>
      <p:sp>
        <p:nvSpPr>
          <p:cNvPr id="20" name="Rounded Rectangle 19"/>
          <p:cNvSpPr/>
          <p:nvPr/>
        </p:nvSpPr>
        <p:spPr>
          <a:xfrm>
            <a:off x="685800" y="3794760"/>
            <a:ext cx="10820369" cy="1965960"/>
          </a:xfrm>
          <a:prstGeom prst="roundRect">
            <a:avLst>
              <a:gd name="adj" fmla="val 5581"/>
            </a:avLst>
          </a:prstGeom>
          <a:solidFill>
            <a:srgbClr val="FAFAFB"/>
          </a:solidFill>
          <a:ln w="12700">
            <a:solidFill>
              <a:srgbClr val="E7E7EA"/>
            </a:solidFill>
          </a:ln>
          <a:effectLst/>
        </p:spPr>
        <p:txBody>
          <a:bodyPr rtlCol="0" anchor="ctr" wrap="square"/>
          <a:lstStyle/>
          <a:p>
            <a:pPr algn="ctr"/>
          </a:p>
        </p:txBody>
      </p:sp>
      <p:sp>
        <p:nvSpPr>
          <p:cNvPr id="21" name="TextBox 20"/>
          <p:cNvSpPr txBox="1"/>
          <p:nvPr/>
        </p:nvSpPr>
        <p:spPr>
          <a:xfrm>
            <a:off x="960120" y="3977639"/>
            <a:ext cx="7315200" cy="219456"/>
          </a:xfrm>
          <a:prstGeom prst="rect">
            <a:avLst/>
          </a:prstGeom>
          <a:noFill/>
        </p:spPr>
        <p:txBody>
          <a:bodyPr wrap="square" anchor="t" lIns="0" rIns="0" tIns="0" bIns="0">
            <a:spAutoFit/>
          </a:bodyPr>
          <a:lstStyle/>
          <a:p>
            <a:pPr algn="l"/>
            <a:r>
              <a:rPr sz="850" b="1" i="0" lang="en-US" spc="140">
                <a:solidFill>
                  <a:srgbClr val="FF6B2C"/>
                </a:solidFill>
                <a:latin typeface="Plus Jakarta Sans"/>
                <a:cs typeface="Plus Jakarta Sans"/>
              </a:rPr>
              <a:t>EXAMPLE — COLLEGE DOCS ASSISTANT</a:t>
            </a:r>
          </a:p>
        </p:txBody>
      </p:sp>
      <p:sp>
        <p:nvSpPr>
          <p:cNvPr id="22" name="TextBox 21"/>
          <p:cNvSpPr txBox="1"/>
          <p:nvPr/>
        </p:nvSpPr>
        <p:spPr>
          <a:xfrm>
            <a:off x="960120" y="4297680"/>
            <a:ext cx="4206240" cy="777240"/>
          </a:xfrm>
          <a:prstGeom prst="rect">
            <a:avLst/>
          </a:prstGeom>
          <a:noFill/>
        </p:spPr>
        <p:txBody>
          <a:bodyPr wrap="square" anchor="t" lIns="0" rIns="0" tIns="0" bIns="0">
            <a:spAutoFit/>
          </a:bodyPr>
          <a:lstStyle/>
          <a:p>
            <a:pPr algn="l">
              <a:lnSpc>
                <a:spcPct val="145000"/>
              </a:lnSpc>
            </a:pPr>
            <a:r>
              <a:rPr sz="1150" b="0" i="0" lang="en-US">
                <a:solidFill>
                  <a:srgbClr val="63636B"/>
                </a:solidFill>
                <a:latin typeface="Plus Jakarta Sans"/>
                <a:cs typeface="Plus Jakarta Sans"/>
              </a:rPr>
              <a:t>Student has 500 pages of
college documentation.</a:t>
            </a:r>
          </a:p>
        </p:txBody>
      </p:sp>
      <p:cxnSp>
        <p:nvCxnSpPr>
          <p:cNvPr id="23" name="Connector 22"/>
          <p:cNvCxnSpPr/>
          <p:nvPr/>
        </p:nvCxnSpPr>
        <p:spPr>
          <a:xfrm>
            <a:off x="5074920" y="4663440"/>
            <a:ext cx="640080" cy="0"/>
          </a:xfrm>
          <a:prstGeom prst="line">
            <a:avLst/>
          </a:prstGeom>
          <a:ln w="16510">
            <a:solidFill>
              <a:srgbClr val="9A9AA2"/>
            </a:solidFill>
            <a:tailEnd type="triangle" w="sm" len="sm"/>
          </a:ln>
        </p:spPr>
      </p:cxnSp>
      <p:sp>
        <p:nvSpPr>
          <p:cNvPr id="24" name="Rounded Rectangle 23"/>
          <p:cNvSpPr/>
          <p:nvPr/>
        </p:nvSpPr>
        <p:spPr>
          <a:xfrm>
            <a:off x="5897880" y="4315968"/>
            <a:ext cx="5120640" cy="694944"/>
          </a:xfrm>
          <a:prstGeom prst="roundRect">
            <a:avLst>
              <a:gd name="adj" fmla="val 11842"/>
            </a:avLst>
          </a:prstGeom>
          <a:solidFill>
            <a:srgbClr val="FFFFFF"/>
          </a:solidFill>
          <a:ln w="12700">
            <a:solidFill>
              <a:srgbClr val="E7E7EA"/>
            </a:solidFill>
          </a:ln>
          <a:effectLst/>
        </p:spPr>
        <p:txBody>
          <a:bodyPr rtlCol="0" anchor="ctr" wrap="square"/>
          <a:lstStyle/>
          <a:p>
            <a:pPr algn="ctr"/>
          </a:p>
        </p:txBody>
      </p:sp>
      <p:sp>
        <p:nvSpPr>
          <p:cNvPr id="25" name="TextBox 24"/>
          <p:cNvSpPr txBox="1"/>
          <p:nvPr/>
        </p:nvSpPr>
        <p:spPr>
          <a:xfrm>
            <a:off x="6080760" y="4315968"/>
            <a:ext cx="4754880" cy="694944"/>
          </a:xfrm>
          <a:prstGeom prst="rect">
            <a:avLst/>
          </a:prstGeom>
          <a:noFill/>
        </p:spPr>
        <p:txBody>
          <a:bodyPr wrap="square" anchor="ctr" lIns="0" rIns="0" tIns="0" bIns="0">
            <a:spAutoFit/>
          </a:bodyPr>
          <a:lstStyle/>
          <a:p>
            <a:pPr algn="l"/>
            <a:r>
              <a:rPr sz="1100" b="0" i="0" lang="en-US">
                <a:solidFill>
                  <a:srgbClr val="222225"/>
                </a:solidFill>
                <a:latin typeface="Menlo"/>
                <a:cs typeface="Menlo"/>
              </a:rPr>
              <a:t>“What are the internship eligibility rules?”</a:t>
            </a:r>
          </a:p>
        </p:txBody>
      </p:sp>
      <p:sp>
        <p:nvSpPr>
          <p:cNvPr id="26" name="Rounded Rectangle 25"/>
          <p:cNvSpPr/>
          <p:nvPr/>
        </p:nvSpPr>
        <p:spPr>
          <a:xfrm>
            <a:off x="5897880" y="5138928"/>
            <a:ext cx="5120640" cy="438912"/>
          </a:xfrm>
          <a:prstGeom prst="roundRect">
            <a:avLst>
              <a:gd name="adj" fmla="val 16666"/>
            </a:avLst>
          </a:prstGeom>
          <a:solidFill>
            <a:srgbClr val="FFF4EE"/>
          </a:solidFill>
          <a:ln w="12700">
            <a:solidFill>
              <a:srgbClr val="FFE6D8"/>
            </a:solidFill>
          </a:ln>
          <a:effectLst/>
        </p:spPr>
        <p:txBody>
          <a:bodyPr rtlCol="0" anchor="ctr" wrap="square"/>
          <a:lstStyle/>
          <a:p>
            <a:pPr algn="ctr"/>
          </a:p>
        </p:txBody>
      </p:sp>
      <p:sp>
        <p:nvSpPr>
          <p:cNvPr id="27" name="TextBox 26"/>
          <p:cNvSpPr txBox="1"/>
          <p:nvPr/>
        </p:nvSpPr>
        <p:spPr>
          <a:xfrm>
            <a:off x="6080760" y="5138928"/>
            <a:ext cx="4754880" cy="438912"/>
          </a:xfrm>
          <a:prstGeom prst="rect">
            <a:avLst/>
          </a:prstGeom>
          <a:noFill/>
        </p:spPr>
        <p:txBody>
          <a:bodyPr wrap="square" anchor="ctr" lIns="0" rIns="0" tIns="0" bIns="0">
            <a:spAutoFit/>
          </a:bodyPr>
          <a:lstStyle/>
          <a:p>
            <a:pPr algn="l"/>
            <a:r>
              <a:rPr sz="1100" b="1" i="0" lang="en-US">
                <a:solidFill>
                  <a:srgbClr val="0B0B0C"/>
                </a:solidFill>
                <a:latin typeface="Plus Jakarta Sans"/>
                <a:cs typeface="Plus Jakarta Sans"/>
              </a:rPr>
              <a:t>Retrieve → answer with source</a:t>
            </a:r>
            <a:r>
              <a:rPr sz="950" b="0" i="0" lang="en-US">
                <a:solidFill>
                  <a:srgbClr val="FF6B2C"/>
                </a:solidFill>
                <a:latin typeface="Menlo"/>
                <a:cs typeface="Menlo"/>
              </a:rPr>
              <a:t>   ·   Eligibility.md</a:t>
            </a:r>
          </a:p>
        </p:txBody>
      </p:sp>
      <p:sp>
        <p:nvSpPr>
          <p:cNvPr id="28" name="TextBox 27"/>
          <p:cNvSpPr txBox="1"/>
          <p:nvPr/>
        </p:nvSpPr>
        <p:spPr>
          <a:xfrm>
            <a:off x="960120" y="5193792"/>
            <a:ext cx="4206240" cy="365760"/>
          </a:xfrm>
          <a:prstGeom prst="rect">
            <a:avLst/>
          </a:prstGeom>
          <a:noFill/>
        </p:spPr>
        <p:txBody>
          <a:bodyPr wrap="square" anchor="t" lIns="0" rIns="0" tIns="0" bIns="0">
            <a:spAutoFit/>
          </a:bodyPr>
          <a:lstStyle/>
          <a:p>
            <a:pPr algn="l">
              <a:lnSpc>
                <a:spcPct val="130000"/>
              </a:lnSpc>
            </a:pPr>
            <a:r>
              <a:rPr sz="1100" b="1" i="0" lang="en-US">
                <a:solidFill>
                  <a:srgbClr val="0B0B0C"/>
                </a:solidFill>
                <a:latin typeface="Plus Jakarta Sans"/>
                <a:cs typeface="Plus Jakarta Sans"/>
              </a:rPr>
              <a:t>Upload → ask → retrieve → answer.</a:t>
            </a:r>
          </a:p>
        </p:txBody>
      </p:sp>
      <p:sp>
        <p:nvSpPr>
          <p:cNvPr id="29" name="TextBox 28"/>
          <p:cNvSpPr txBox="1"/>
          <p:nvPr/>
        </p:nvSpPr>
        <p:spPr>
          <a:xfrm>
            <a:off x="685800" y="5989320"/>
            <a:ext cx="10820369" cy="274320"/>
          </a:xfrm>
          <a:prstGeom prst="rect">
            <a:avLst/>
          </a:prstGeom>
          <a:noFill/>
        </p:spPr>
        <p:txBody>
          <a:bodyPr wrap="square" anchor="t" lIns="0" rIns="0" tIns="0" bIns="0">
            <a:spAutoFit/>
          </a:bodyPr>
          <a:lstStyle/>
          <a:p>
            <a:pPr algn="ctr"/>
            <a:r>
              <a:rPr sz="1100" b="0" i="0" lang="en-US">
                <a:solidFill>
                  <a:srgbClr val="9A9AA2"/>
                </a:solidFill>
                <a:latin typeface="Plus Jakarta Sans"/>
                <a:cs typeface="Plus Jakarta Sans"/>
              </a:rPr>
              <a:t>That is already a story. You don't need twenty screens to explain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QUALITY GATE</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06</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30-SECOND CHECK</a:t>
            </a:r>
          </a:p>
        </p:txBody>
      </p:sp>
      <p:sp>
        <p:nvSpPr>
          <p:cNvPr id="9" name="TextBox 8"/>
          <p:cNvSpPr txBox="1"/>
          <p:nvPr/>
        </p:nvSpPr>
        <p:spPr>
          <a:xfrm>
            <a:off x="685800" y="1133856"/>
            <a:ext cx="10820369" cy="768096"/>
          </a:xfrm>
          <a:prstGeom prst="rect">
            <a:avLst/>
          </a:prstGeom>
          <a:noFill/>
        </p:spPr>
        <p:txBody>
          <a:bodyPr wrap="square" anchor="t" lIns="0" rIns="0" tIns="0" bIns="0">
            <a:spAutoFit/>
          </a:bodyPr>
          <a:lstStyle/>
          <a:p>
            <a:pPr algn="l">
              <a:lnSpc>
                <a:spcPct val="110000"/>
              </a:lnSpc>
            </a:pPr>
            <a:r>
              <a:rPr sz="2700" b="1" i="0" lang="en-US" spc="-60">
                <a:solidFill>
                  <a:srgbClr val="0B0B0C"/>
                </a:solidFill>
                <a:latin typeface="Plus Jakarta Sans"/>
                <a:cs typeface="Plus Jakarta Sans"/>
              </a:rPr>
              <a:t>STOP. CHECK THIS BEFORE YOU CODE.</a:t>
            </a:r>
          </a:p>
        </p:txBody>
      </p:sp>
      <p:sp>
        <p:nvSpPr>
          <p:cNvPr id="10" name="TextBox 9"/>
          <p:cNvSpPr txBox="1"/>
          <p:nvPr/>
        </p:nvSpPr>
        <p:spPr>
          <a:xfrm>
            <a:off x="685800" y="1847088"/>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Six answers. If any is missing — fix the definition, not the code.</a:t>
            </a:r>
          </a:p>
        </p:txBody>
      </p:sp>
      <p:sp>
        <p:nvSpPr>
          <p:cNvPr id="11" name="Rounded Rectangle 10"/>
          <p:cNvSpPr/>
          <p:nvPr/>
        </p:nvSpPr>
        <p:spPr>
          <a:xfrm>
            <a:off x="685800" y="2331720"/>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12" name="TextBox 11"/>
          <p:cNvSpPr txBox="1"/>
          <p:nvPr/>
        </p:nvSpPr>
        <p:spPr>
          <a:xfrm>
            <a:off x="1188720" y="2240280"/>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One-sentence problem</a:t>
            </a:r>
          </a:p>
        </p:txBody>
      </p:sp>
      <p:cxnSp>
        <p:nvCxnSpPr>
          <p:cNvPr id="13" name="Connector 12"/>
          <p:cNvCxnSpPr/>
          <p:nvPr/>
        </p:nvCxnSpPr>
        <p:spPr>
          <a:xfrm>
            <a:off x="685800" y="2807208"/>
            <a:ext cx="5148072" cy="0"/>
          </a:xfrm>
          <a:prstGeom prst="line">
            <a:avLst/>
          </a:prstGeom>
          <a:ln w="12700">
            <a:solidFill>
              <a:srgbClr val="E7E7EA"/>
            </a:solidFill>
          </a:ln>
        </p:spPr>
      </p:cxnSp>
      <p:sp>
        <p:nvSpPr>
          <p:cNvPr id="14" name="Rounded Rectangle 13"/>
          <p:cNvSpPr/>
          <p:nvPr/>
        </p:nvSpPr>
        <p:spPr>
          <a:xfrm>
            <a:off x="6355080" y="2331720"/>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15" name="TextBox 14"/>
          <p:cNvSpPr txBox="1"/>
          <p:nvPr/>
        </p:nvSpPr>
        <p:spPr>
          <a:xfrm>
            <a:off x="6858000" y="2240280"/>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One target user</a:t>
            </a:r>
          </a:p>
        </p:txBody>
      </p:sp>
      <p:cxnSp>
        <p:nvCxnSpPr>
          <p:cNvPr id="16" name="Connector 15"/>
          <p:cNvCxnSpPr/>
          <p:nvPr/>
        </p:nvCxnSpPr>
        <p:spPr>
          <a:xfrm>
            <a:off x="6355080" y="2807208"/>
            <a:ext cx="5148072" cy="0"/>
          </a:xfrm>
          <a:prstGeom prst="line">
            <a:avLst/>
          </a:prstGeom>
          <a:ln w="12700">
            <a:solidFill>
              <a:srgbClr val="E7E7EA"/>
            </a:solidFill>
          </a:ln>
        </p:spPr>
      </p:cxnSp>
      <p:sp>
        <p:nvSpPr>
          <p:cNvPr id="17" name="Rounded Rectangle 16"/>
          <p:cNvSpPr/>
          <p:nvPr/>
        </p:nvSpPr>
        <p:spPr>
          <a:xfrm>
            <a:off x="685800" y="3136392"/>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18" name="TextBox 17"/>
          <p:cNvSpPr txBox="1"/>
          <p:nvPr/>
        </p:nvSpPr>
        <p:spPr>
          <a:xfrm>
            <a:off x="1188720" y="3044952"/>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One happy path</a:t>
            </a:r>
          </a:p>
        </p:txBody>
      </p:sp>
      <p:cxnSp>
        <p:nvCxnSpPr>
          <p:cNvPr id="19" name="Connector 18"/>
          <p:cNvCxnSpPr/>
          <p:nvPr/>
        </p:nvCxnSpPr>
        <p:spPr>
          <a:xfrm>
            <a:off x="685800" y="3611880"/>
            <a:ext cx="5148072" cy="0"/>
          </a:xfrm>
          <a:prstGeom prst="line">
            <a:avLst/>
          </a:prstGeom>
          <a:ln w="12700">
            <a:solidFill>
              <a:srgbClr val="E7E7EA"/>
            </a:solidFill>
          </a:ln>
        </p:spPr>
      </p:cxnSp>
      <p:sp>
        <p:nvSpPr>
          <p:cNvPr id="20" name="Rounded Rectangle 19"/>
          <p:cNvSpPr/>
          <p:nvPr/>
        </p:nvSpPr>
        <p:spPr>
          <a:xfrm>
            <a:off x="6355080" y="3136392"/>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21" name="TextBox 20"/>
          <p:cNvSpPr txBox="1"/>
          <p:nvPr/>
        </p:nvSpPr>
        <p:spPr>
          <a:xfrm>
            <a:off x="6858000" y="3044952"/>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Clear AI role</a:t>
            </a:r>
          </a:p>
        </p:txBody>
      </p:sp>
      <p:cxnSp>
        <p:nvCxnSpPr>
          <p:cNvPr id="22" name="Connector 21"/>
          <p:cNvCxnSpPr/>
          <p:nvPr/>
        </p:nvCxnSpPr>
        <p:spPr>
          <a:xfrm>
            <a:off x="6355080" y="3611880"/>
            <a:ext cx="5148072" cy="0"/>
          </a:xfrm>
          <a:prstGeom prst="line">
            <a:avLst/>
          </a:prstGeom>
          <a:ln w="12700">
            <a:solidFill>
              <a:srgbClr val="E7E7EA"/>
            </a:solidFill>
          </a:ln>
        </p:spPr>
      </p:cxnSp>
      <p:sp>
        <p:nvSpPr>
          <p:cNvPr id="23" name="Rounded Rectangle 22"/>
          <p:cNvSpPr/>
          <p:nvPr/>
        </p:nvSpPr>
        <p:spPr>
          <a:xfrm>
            <a:off x="685800" y="3941063"/>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24" name="TextBox 23"/>
          <p:cNvSpPr txBox="1"/>
          <p:nvPr/>
        </p:nvSpPr>
        <p:spPr>
          <a:xfrm>
            <a:off x="1188720" y="3849624"/>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Testable MVP</a:t>
            </a:r>
          </a:p>
        </p:txBody>
      </p:sp>
      <p:cxnSp>
        <p:nvCxnSpPr>
          <p:cNvPr id="25" name="Connector 24"/>
          <p:cNvCxnSpPr/>
          <p:nvPr/>
        </p:nvCxnSpPr>
        <p:spPr>
          <a:xfrm>
            <a:off x="685800" y="4416552"/>
            <a:ext cx="5148072" cy="0"/>
          </a:xfrm>
          <a:prstGeom prst="line">
            <a:avLst/>
          </a:prstGeom>
          <a:ln w="12700">
            <a:solidFill>
              <a:srgbClr val="E7E7EA"/>
            </a:solidFill>
          </a:ln>
        </p:spPr>
      </p:cxnSp>
      <p:sp>
        <p:nvSpPr>
          <p:cNvPr id="26" name="Rounded Rectangle 25"/>
          <p:cNvSpPr/>
          <p:nvPr/>
        </p:nvSpPr>
        <p:spPr>
          <a:xfrm>
            <a:off x="6355080" y="3941063"/>
            <a:ext cx="274320" cy="274320"/>
          </a:xfrm>
          <a:prstGeom prst="roundRect">
            <a:avLst>
              <a:gd name="adj" fmla="val 16666"/>
            </a:avLst>
          </a:prstGeom>
          <a:solidFill>
            <a:srgbClr val="FFFFFF"/>
          </a:solidFill>
          <a:ln w="17780">
            <a:solidFill>
              <a:srgbClr val="222225"/>
            </a:solidFill>
          </a:ln>
          <a:effectLst/>
        </p:spPr>
        <p:txBody>
          <a:bodyPr rtlCol="0" anchor="ctr" wrap="square"/>
          <a:lstStyle/>
          <a:p>
            <a:pPr algn="ctr"/>
          </a:p>
        </p:txBody>
      </p:sp>
      <p:sp>
        <p:nvSpPr>
          <p:cNvPr id="27" name="TextBox 26"/>
          <p:cNvSpPr txBox="1"/>
          <p:nvPr/>
        </p:nvSpPr>
        <p:spPr>
          <a:xfrm>
            <a:off x="6858000" y="3849624"/>
            <a:ext cx="4480560" cy="457200"/>
          </a:xfrm>
          <a:prstGeom prst="rect">
            <a:avLst/>
          </a:prstGeom>
          <a:noFill/>
        </p:spPr>
        <p:txBody>
          <a:bodyPr wrap="square" anchor="ctr" lIns="0" rIns="0" tIns="0" bIns="0">
            <a:spAutoFit/>
          </a:bodyPr>
          <a:lstStyle/>
          <a:p>
            <a:pPr algn="l"/>
            <a:r>
              <a:rPr sz="1550" b="1" i="0" lang="en-US" spc="-20">
                <a:solidFill>
                  <a:srgbClr val="0B0B0C"/>
                </a:solidFill>
                <a:latin typeface="Plus Jakarta Sans"/>
                <a:cs typeface="Plus Jakarta Sans"/>
              </a:rPr>
              <a:t>Demo evidence</a:t>
            </a:r>
          </a:p>
        </p:txBody>
      </p:sp>
      <p:cxnSp>
        <p:nvCxnSpPr>
          <p:cNvPr id="28" name="Connector 27"/>
          <p:cNvCxnSpPr/>
          <p:nvPr/>
        </p:nvCxnSpPr>
        <p:spPr>
          <a:xfrm>
            <a:off x="6355080" y="4416552"/>
            <a:ext cx="5148072" cy="0"/>
          </a:xfrm>
          <a:prstGeom prst="line">
            <a:avLst/>
          </a:prstGeom>
          <a:ln w="12700">
            <a:solidFill>
              <a:srgbClr val="E7E7EA"/>
            </a:solidFill>
          </a:ln>
        </p:spPr>
      </p:cxnSp>
      <p:sp>
        <p:nvSpPr>
          <p:cNvPr id="29" name="Rounded Rectangle 28"/>
          <p:cNvSpPr/>
          <p:nvPr/>
        </p:nvSpPr>
        <p:spPr>
          <a:xfrm>
            <a:off x="685800" y="5166360"/>
            <a:ext cx="10820369" cy="1051560"/>
          </a:xfrm>
          <a:prstGeom prst="roundRect">
            <a:avLst>
              <a:gd name="adj" fmla="val 10434"/>
            </a:avLst>
          </a:prstGeom>
          <a:solidFill>
            <a:srgbClr val="0B0B0C"/>
          </a:solidFill>
          <a:ln>
            <a:noFill/>
          </a:ln>
          <a:effectLst/>
        </p:spPr>
        <p:txBody>
          <a:bodyPr rtlCol="0" anchor="ctr" wrap="square"/>
          <a:lstStyle/>
          <a:p>
            <a:pPr algn="ctr"/>
          </a:p>
        </p:txBody>
      </p:sp>
      <p:sp>
        <p:nvSpPr>
          <p:cNvPr id="30" name="Rectangle 29"/>
          <p:cNvSpPr/>
          <p:nvPr/>
        </p:nvSpPr>
        <p:spPr>
          <a:xfrm>
            <a:off x="685800" y="5276088"/>
            <a:ext cx="45720" cy="832104"/>
          </a:xfrm>
          <a:prstGeom prst="rect">
            <a:avLst/>
          </a:prstGeom>
          <a:solidFill>
            <a:srgbClr val="FF6B2C"/>
          </a:solidFill>
          <a:ln>
            <a:noFill/>
          </a:ln>
          <a:effectLst/>
        </p:spPr>
        <p:txBody>
          <a:bodyPr rtlCol="0" anchor="ctr" wrap="square"/>
          <a:lstStyle/>
          <a:p>
            <a:pPr algn="ctr"/>
          </a:p>
        </p:txBody>
      </p:sp>
      <p:sp>
        <p:nvSpPr>
          <p:cNvPr id="31" name="TextBox 30"/>
          <p:cNvSpPr txBox="1"/>
          <p:nvPr/>
        </p:nvSpPr>
        <p:spPr>
          <a:xfrm>
            <a:off x="1051560" y="5166360"/>
            <a:ext cx="10088849" cy="1051560"/>
          </a:xfrm>
          <a:prstGeom prst="rect">
            <a:avLst/>
          </a:prstGeom>
          <a:noFill/>
        </p:spPr>
        <p:txBody>
          <a:bodyPr wrap="square" anchor="ctr" lIns="0" rIns="0" tIns="0" bIns="0">
            <a:spAutoFit/>
          </a:bodyPr>
          <a:lstStyle/>
          <a:p>
            <a:pPr algn="l"/>
            <a:r>
              <a:rPr sz="2000" b="1" i="0" lang="en-US" spc="-40">
                <a:solidFill>
                  <a:srgbClr val="FFFFFF"/>
                </a:solidFill>
                <a:latin typeface="Plus Jakarta Sans"/>
                <a:cs typeface="Plus Jakarta Sans"/>
              </a:rPr>
              <a:t>“If you cannot explain the flow, don't add more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OPENCODE WORKFLOW</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07</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AI AS AN ENGINEERING ACCELERATOR</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Use OpenCode Like an Engineer</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Give it a specific task and enough context. Never give it the whole project in one sentence.</a:t>
            </a:r>
          </a:p>
        </p:txBody>
      </p:sp>
      <p:sp>
        <p:nvSpPr>
          <p:cNvPr id="11" name="Rounded Rectangle 10"/>
          <p:cNvSpPr/>
          <p:nvPr/>
        </p:nvSpPr>
        <p:spPr>
          <a:xfrm>
            <a:off x="685800"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01</a:t>
            </a:r>
          </a:p>
          <a:p>
            <a:pPr algn="ctr">
              <a:lnSpc>
                <a:spcPct val="104000"/>
              </a:lnSpc>
            </a:pPr>
            <a:r>
              <a:rPr sz="1050" b="1" i="0" lang="en-US" spc="20">
                <a:solidFill>
                  <a:srgbClr val="0B0B0C"/>
                </a:solidFill>
                <a:latin typeface="Plus Jakarta Sans"/>
                <a:cs typeface="Plus Jakarta Sans"/>
              </a:rPr>
              <a:t>UNDERSTAND</a:t>
            </a:r>
          </a:p>
        </p:txBody>
      </p:sp>
      <p:sp>
        <p:nvSpPr>
          <p:cNvPr id="12" name="Rounded Rectangle 11"/>
          <p:cNvSpPr/>
          <p:nvPr/>
        </p:nvSpPr>
        <p:spPr>
          <a:xfrm>
            <a:off x="2534914"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02</a:t>
            </a:r>
          </a:p>
          <a:p>
            <a:pPr algn="ctr">
              <a:lnSpc>
                <a:spcPct val="104000"/>
              </a:lnSpc>
            </a:pPr>
            <a:r>
              <a:rPr sz="1050" b="1" i="0" lang="en-US" spc="20">
                <a:solidFill>
                  <a:srgbClr val="0B0B0C"/>
                </a:solidFill>
                <a:latin typeface="Plus Jakarta Sans"/>
                <a:cs typeface="Plus Jakarta Sans"/>
              </a:rPr>
              <a:t>PLAN</a:t>
            </a:r>
          </a:p>
        </p:txBody>
      </p:sp>
      <p:cxnSp>
        <p:nvCxnSpPr>
          <p:cNvPr id="13" name="Connector 12"/>
          <p:cNvCxnSpPr/>
          <p:nvPr/>
        </p:nvCxnSpPr>
        <p:spPr>
          <a:xfrm>
            <a:off x="2306314" y="2994660"/>
            <a:ext cx="182880" cy="0"/>
          </a:xfrm>
          <a:prstGeom prst="line">
            <a:avLst/>
          </a:prstGeom>
          <a:ln w="15875">
            <a:solidFill>
              <a:srgbClr val="9A9AA2"/>
            </a:solidFill>
            <a:tailEnd type="triangle" w="sm" len="sm"/>
          </a:ln>
        </p:spPr>
      </p:cxnSp>
      <p:sp>
        <p:nvSpPr>
          <p:cNvPr id="14" name="Rounded Rectangle 13"/>
          <p:cNvSpPr/>
          <p:nvPr/>
        </p:nvSpPr>
        <p:spPr>
          <a:xfrm>
            <a:off x="4384029"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03</a:t>
            </a:r>
          </a:p>
          <a:p>
            <a:pPr algn="ctr">
              <a:lnSpc>
                <a:spcPct val="104000"/>
              </a:lnSpc>
            </a:pPr>
            <a:r>
              <a:rPr sz="1050" b="1" i="0" lang="en-US" spc="20">
                <a:solidFill>
                  <a:srgbClr val="0B0B0C"/>
                </a:solidFill>
                <a:latin typeface="Plus Jakarta Sans"/>
                <a:cs typeface="Plus Jakarta Sans"/>
              </a:rPr>
              <a:t>BUILD</a:t>
            </a:r>
          </a:p>
        </p:txBody>
      </p:sp>
      <p:cxnSp>
        <p:nvCxnSpPr>
          <p:cNvPr id="15" name="Connector 14"/>
          <p:cNvCxnSpPr/>
          <p:nvPr/>
        </p:nvCxnSpPr>
        <p:spPr>
          <a:xfrm>
            <a:off x="4155429" y="2994660"/>
            <a:ext cx="182880" cy="0"/>
          </a:xfrm>
          <a:prstGeom prst="line">
            <a:avLst/>
          </a:prstGeom>
          <a:ln w="15875">
            <a:solidFill>
              <a:srgbClr val="9A9AA2"/>
            </a:solidFill>
            <a:tailEnd type="triangle" w="sm" len="sm"/>
          </a:ln>
        </p:spPr>
      </p:cxnSp>
      <p:sp>
        <p:nvSpPr>
          <p:cNvPr id="16" name="Rounded Rectangle 15"/>
          <p:cNvSpPr/>
          <p:nvPr/>
        </p:nvSpPr>
        <p:spPr>
          <a:xfrm>
            <a:off x="6233144"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04</a:t>
            </a:r>
          </a:p>
          <a:p>
            <a:pPr algn="ctr">
              <a:lnSpc>
                <a:spcPct val="104000"/>
              </a:lnSpc>
            </a:pPr>
            <a:r>
              <a:rPr sz="1050" b="1" i="0" lang="en-US" spc="20">
                <a:solidFill>
                  <a:srgbClr val="0B0B0C"/>
                </a:solidFill>
                <a:latin typeface="Plus Jakarta Sans"/>
                <a:cs typeface="Plus Jakarta Sans"/>
              </a:rPr>
              <a:t>TEST</a:t>
            </a:r>
          </a:p>
        </p:txBody>
      </p:sp>
      <p:cxnSp>
        <p:nvCxnSpPr>
          <p:cNvPr id="17" name="Connector 16"/>
          <p:cNvCxnSpPr/>
          <p:nvPr/>
        </p:nvCxnSpPr>
        <p:spPr>
          <a:xfrm>
            <a:off x="6004544" y="2994660"/>
            <a:ext cx="182880" cy="0"/>
          </a:xfrm>
          <a:prstGeom prst="line">
            <a:avLst/>
          </a:prstGeom>
          <a:ln w="15875">
            <a:solidFill>
              <a:srgbClr val="9A9AA2"/>
            </a:solidFill>
            <a:tailEnd type="triangle" w="sm" len="sm"/>
          </a:ln>
        </p:spPr>
      </p:cxnSp>
      <p:sp>
        <p:nvSpPr>
          <p:cNvPr id="18" name="Rounded Rectangle 17"/>
          <p:cNvSpPr/>
          <p:nvPr/>
        </p:nvSpPr>
        <p:spPr>
          <a:xfrm>
            <a:off x="8082259"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05</a:t>
            </a:r>
          </a:p>
          <a:p>
            <a:pPr algn="ctr">
              <a:lnSpc>
                <a:spcPct val="104000"/>
              </a:lnSpc>
            </a:pPr>
            <a:r>
              <a:rPr sz="1050" b="1" i="0" lang="en-US" spc="20">
                <a:solidFill>
                  <a:srgbClr val="0B0B0C"/>
                </a:solidFill>
                <a:latin typeface="Plus Jakarta Sans"/>
                <a:cs typeface="Plus Jakarta Sans"/>
              </a:rPr>
              <a:t>DEBUG</a:t>
            </a:r>
          </a:p>
        </p:txBody>
      </p:sp>
      <p:cxnSp>
        <p:nvCxnSpPr>
          <p:cNvPr id="19" name="Connector 18"/>
          <p:cNvCxnSpPr/>
          <p:nvPr/>
        </p:nvCxnSpPr>
        <p:spPr>
          <a:xfrm>
            <a:off x="7853659" y="2994660"/>
            <a:ext cx="182880" cy="0"/>
          </a:xfrm>
          <a:prstGeom prst="line">
            <a:avLst/>
          </a:prstGeom>
          <a:ln w="15875">
            <a:solidFill>
              <a:srgbClr val="9A9AA2"/>
            </a:solidFill>
            <a:tailEnd type="triangle" w="sm" len="sm"/>
          </a:ln>
        </p:spPr>
      </p:cxnSp>
      <p:sp>
        <p:nvSpPr>
          <p:cNvPr id="20" name="Rounded Rectangle 19"/>
          <p:cNvSpPr/>
          <p:nvPr/>
        </p:nvSpPr>
        <p:spPr>
          <a:xfrm>
            <a:off x="9931374" y="2514600"/>
            <a:ext cx="1574794" cy="960120"/>
          </a:xfrm>
          <a:prstGeom prst="roundRect">
            <a:avLst>
              <a:gd name="adj" fmla="val 8571"/>
            </a:avLst>
          </a:prstGeom>
          <a:solidFill>
            <a:srgbClr val="FFFFFF"/>
          </a:solidFill>
          <a:ln w="12700">
            <a:solidFill>
              <a:srgbClr val="E7E7EA"/>
            </a:solidFill>
          </a:ln>
          <a:effectLst/>
        </p:spPr>
        <p:txBody>
          <a:bodyPr rtlCol="0" anchor="ctr" wrap="square" lIns="45720" rIns="45720" tIns="18288" bIns="18288"/>
          <a:lstStyle/>
          <a:p>
            <a:pPr algn="ctr">
              <a:lnSpc>
                <a:spcPct val="100000"/>
              </a:lnSpc>
            </a:pPr>
            <a:r>
              <a:rPr sz="750" b="1" i="0" lang="en-US" spc="100">
                <a:solidFill>
                  <a:srgbClr val="FF6B2C"/>
                </a:solidFill>
                <a:latin typeface="Plus Jakarta Sans"/>
                <a:cs typeface="Plus Jakarta Sans"/>
              </a:rPr>
              <a:t>06</a:t>
            </a:r>
          </a:p>
          <a:p>
            <a:pPr algn="ctr">
              <a:lnSpc>
                <a:spcPct val="104000"/>
              </a:lnSpc>
            </a:pPr>
            <a:r>
              <a:rPr sz="1050" b="1" i="0" lang="en-US" spc="20">
                <a:solidFill>
                  <a:srgbClr val="0B0B0C"/>
                </a:solidFill>
                <a:latin typeface="Plus Jakarta Sans"/>
                <a:cs typeface="Plus Jakarta Sans"/>
              </a:rPr>
              <a:t>REFINE</a:t>
            </a:r>
          </a:p>
        </p:txBody>
      </p:sp>
      <p:cxnSp>
        <p:nvCxnSpPr>
          <p:cNvPr id="21" name="Connector 20"/>
          <p:cNvCxnSpPr/>
          <p:nvPr/>
        </p:nvCxnSpPr>
        <p:spPr>
          <a:xfrm>
            <a:off x="9702774" y="2994660"/>
            <a:ext cx="182880" cy="0"/>
          </a:xfrm>
          <a:prstGeom prst="line">
            <a:avLst/>
          </a:prstGeom>
          <a:ln w="15875">
            <a:solidFill>
              <a:srgbClr val="9A9AA2"/>
            </a:solidFill>
            <a:tailEnd type="triangle" w="sm" len="sm"/>
          </a:ln>
        </p:spPr>
      </p:cxnSp>
      <p:cxnSp>
        <p:nvCxnSpPr>
          <p:cNvPr id="22" name="Connector 21"/>
          <p:cNvCxnSpPr/>
          <p:nvPr/>
        </p:nvCxnSpPr>
        <p:spPr>
          <a:xfrm>
            <a:off x="2057400" y="4160520"/>
            <a:ext cx="8077169" cy="0"/>
          </a:xfrm>
          <a:prstGeom prst="line">
            <a:avLst/>
          </a:prstGeom>
          <a:ln w="12700">
            <a:solidFill>
              <a:srgbClr val="E7E7EA"/>
            </a:solidFill>
          </a:ln>
        </p:spPr>
      </p:cxnSp>
      <p:sp>
        <p:nvSpPr>
          <p:cNvPr id="23" name="TextBox 22"/>
          <p:cNvSpPr txBox="1"/>
          <p:nvPr/>
        </p:nvSpPr>
        <p:spPr>
          <a:xfrm>
            <a:off x="685800" y="4434840"/>
            <a:ext cx="10820369" cy="685800"/>
          </a:xfrm>
          <a:prstGeom prst="rect">
            <a:avLst/>
          </a:prstGeom>
          <a:noFill/>
        </p:spPr>
        <p:txBody>
          <a:bodyPr wrap="square" anchor="t" lIns="0" rIns="0" tIns="0" bIns="0">
            <a:spAutoFit/>
          </a:bodyPr>
          <a:lstStyle/>
          <a:p>
            <a:pPr algn="ctr"/>
            <a:r>
              <a:rPr sz="2600" b="1" i="0" lang="en-US" spc="-80">
                <a:solidFill>
                  <a:srgbClr val="0B0B0C"/>
                </a:solidFill>
                <a:latin typeface="Plus Jakarta Sans"/>
                <a:cs typeface="Plus Jakarta Sans"/>
              </a:rPr>
              <a:t>AI-generated code </a:t>
            </a:r>
            <a:r>
              <a:rPr sz="2600" b="1" i="0" lang="en-US" spc="-80">
                <a:solidFill>
                  <a:srgbClr val="FF6B2C"/>
                </a:solidFill>
                <a:latin typeface="Plus Jakarta Sans"/>
                <a:cs typeface="Plus Jakarta Sans"/>
              </a:rPr>
              <a:t>≠</a:t>
            </a:r>
            <a:r>
              <a:rPr sz="2600" b="1" i="0" lang="en-US" spc="-80">
                <a:solidFill>
                  <a:srgbClr val="0B0B0C"/>
                </a:solidFill>
                <a:latin typeface="Plus Jakarta Sans"/>
                <a:cs typeface="Plus Jakarta Sans"/>
              </a:rPr>
              <a:t> working software</a:t>
            </a:r>
          </a:p>
        </p:txBody>
      </p:sp>
      <p:cxnSp>
        <p:nvCxnSpPr>
          <p:cNvPr id="24" name="Connector 23"/>
          <p:cNvCxnSpPr/>
          <p:nvPr/>
        </p:nvCxnSpPr>
        <p:spPr>
          <a:xfrm>
            <a:off x="2057400" y="5349240"/>
            <a:ext cx="8077169" cy="0"/>
          </a:xfrm>
          <a:prstGeom prst="line">
            <a:avLst/>
          </a:prstGeom>
          <a:ln w="12700">
            <a:solidFill>
              <a:srgbClr val="E7E7EA"/>
            </a:solidFill>
          </a:ln>
        </p:spPr>
      </p:cxnSp>
      <p:sp>
        <p:nvSpPr>
          <p:cNvPr id="25" name="Rounded Rectangle 24"/>
          <p:cNvSpPr/>
          <p:nvPr/>
        </p:nvSpPr>
        <p:spPr>
          <a:xfrm>
            <a:off x="1920240" y="5669280"/>
            <a:ext cx="3931920" cy="512064"/>
          </a:xfrm>
          <a:prstGeom prst="roundRect">
            <a:avLst>
              <a:gd name="adj" fmla="val 16071"/>
            </a:avLst>
          </a:prstGeom>
          <a:solidFill>
            <a:srgbClr val="FAFAFB"/>
          </a:solidFill>
          <a:ln w="12700">
            <a:solidFill>
              <a:srgbClr val="E7E7EA"/>
            </a:solidFill>
          </a:ln>
          <a:effectLst/>
        </p:spPr>
        <p:txBody>
          <a:bodyPr rtlCol="0" anchor="ctr" wrap="square"/>
          <a:lstStyle/>
          <a:p>
            <a:pPr algn="ctr"/>
          </a:p>
        </p:txBody>
      </p:sp>
      <p:sp>
        <p:nvSpPr>
          <p:cNvPr id="26" name="TextBox 25"/>
          <p:cNvSpPr txBox="1"/>
          <p:nvPr/>
        </p:nvSpPr>
        <p:spPr>
          <a:xfrm>
            <a:off x="2057400" y="5669280"/>
            <a:ext cx="3657600" cy="512064"/>
          </a:xfrm>
          <a:prstGeom prst="rect">
            <a:avLst/>
          </a:prstGeom>
          <a:noFill/>
        </p:spPr>
        <p:txBody>
          <a:bodyPr wrap="square" anchor="ctr" lIns="0" rIns="0" tIns="0" bIns="0">
            <a:spAutoFit/>
          </a:bodyPr>
          <a:lstStyle/>
          <a:p>
            <a:pPr algn="l"/>
            <a:r>
              <a:rPr sz="1100" b="1" i="0" lang="en-US">
                <a:solidFill>
                  <a:srgbClr val="9A9AA2"/>
                </a:solidFill>
                <a:latin typeface="Plus Jakarta Sans"/>
                <a:cs typeface="Plus Jakarta Sans"/>
              </a:rPr>
              <a:t>✗  </a:t>
            </a:r>
            <a:r>
              <a:rPr sz="1050" b="0" i="0" lang="en-US">
                <a:solidFill>
                  <a:srgbClr val="9A9AA2"/>
                </a:solidFill>
                <a:latin typeface="Plus Jakarta Sans"/>
                <a:cs typeface="Plus Jakarta Sans"/>
              </a:rPr>
              <a:t>“Build my entire hackathon project.”</a:t>
            </a:r>
          </a:p>
        </p:txBody>
      </p:sp>
      <p:sp>
        <p:nvSpPr>
          <p:cNvPr id="27" name="Rounded Rectangle 26"/>
          <p:cNvSpPr/>
          <p:nvPr/>
        </p:nvSpPr>
        <p:spPr>
          <a:xfrm>
            <a:off x="6263640" y="5669280"/>
            <a:ext cx="4709160" cy="512064"/>
          </a:xfrm>
          <a:prstGeom prst="roundRect">
            <a:avLst>
              <a:gd name="adj" fmla="val 16071"/>
            </a:avLst>
          </a:prstGeom>
          <a:solidFill>
            <a:srgbClr val="FFF4EE"/>
          </a:solidFill>
          <a:ln w="12700">
            <a:solidFill>
              <a:srgbClr val="FFE6D8"/>
            </a:solidFill>
          </a:ln>
          <a:effectLst/>
        </p:spPr>
        <p:txBody>
          <a:bodyPr rtlCol="0" anchor="ctr" wrap="square"/>
          <a:lstStyle/>
          <a:p>
            <a:pPr algn="ctr"/>
          </a:p>
        </p:txBody>
      </p:sp>
      <p:sp>
        <p:nvSpPr>
          <p:cNvPr id="28" name="TextBox 27"/>
          <p:cNvSpPr txBox="1"/>
          <p:nvPr/>
        </p:nvSpPr>
        <p:spPr>
          <a:xfrm>
            <a:off x="6400800" y="5669280"/>
            <a:ext cx="4480560" cy="512064"/>
          </a:xfrm>
          <a:prstGeom prst="rect">
            <a:avLst/>
          </a:prstGeom>
          <a:noFill/>
        </p:spPr>
        <p:txBody>
          <a:bodyPr wrap="square" anchor="ctr" lIns="0" rIns="0" tIns="0" bIns="0">
            <a:spAutoFit/>
          </a:bodyPr>
          <a:lstStyle/>
          <a:p>
            <a:pPr algn="l"/>
            <a:r>
              <a:rPr sz="1100" b="1" i="0" lang="en-US">
                <a:solidFill>
                  <a:srgbClr val="FF6B2C"/>
                </a:solidFill>
                <a:latin typeface="Plus Jakarta Sans"/>
                <a:cs typeface="Plus Jakarta Sans"/>
              </a:rPr>
              <a:t>✓  </a:t>
            </a:r>
            <a:r>
              <a:rPr sz="1050" b="0" i="0" lang="en-US">
                <a:solidFill>
                  <a:srgbClr val="0B0B0C"/>
                </a:solidFill>
                <a:latin typeface="Plus Jakarta Sans"/>
                <a:cs typeface="Plus Jakarta Sans"/>
              </a:rPr>
              <a:t>“Inspect. Implement one feature. Test.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OPENCODE WORKFLOW</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08</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PROMPTING FRAMEWORK</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Give the Agent Context, Not Chaos</a:t>
            </a:r>
          </a:p>
        </p:txBody>
      </p:sp>
      <p:sp>
        <p:nvSpPr>
          <p:cNvPr id="10" name="Rounded Rectangle 9"/>
          <p:cNvSpPr/>
          <p:nvPr/>
        </p:nvSpPr>
        <p:spPr>
          <a:xfrm>
            <a:off x="685800" y="2011680"/>
            <a:ext cx="3794760" cy="585216"/>
          </a:xfrm>
          <a:prstGeom prst="roundRect">
            <a:avLst>
              <a:gd name="adj" fmla="val 12500"/>
            </a:avLst>
          </a:prstGeom>
          <a:solidFill>
            <a:srgbClr val="FFFFFF"/>
          </a:solidFill>
          <a:ln w="12700">
            <a:solidFill>
              <a:srgbClr val="E7E7EA"/>
            </a:solidFill>
          </a:ln>
          <a:effectLst/>
        </p:spPr>
        <p:txBody>
          <a:bodyPr rtlCol="0" anchor="ctr" wrap="square"/>
          <a:lstStyle/>
          <a:p>
            <a:pPr algn="ctr"/>
          </a:p>
        </p:txBody>
      </p:sp>
      <p:sp>
        <p:nvSpPr>
          <p:cNvPr id="11" name="Rectangle 10"/>
          <p:cNvSpPr/>
          <p:nvPr/>
        </p:nvSpPr>
        <p:spPr>
          <a:xfrm>
            <a:off x="685800" y="2112264"/>
            <a:ext cx="41148" cy="384048"/>
          </a:xfrm>
          <a:prstGeom prst="rect">
            <a:avLst/>
          </a:prstGeom>
          <a:solidFill>
            <a:srgbClr val="9A9AA2"/>
          </a:solidFill>
          <a:ln>
            <a:noFill/>
          </a:ln>
          <a:effectLst/>
        </p:spPr>
        <p:txBody>
          <a:bodyPr rtlCol="0" anchor="ctr" wrap="square"/>
          <a:lstStyle/>
          <a:p>
            <a:pPr algn="ctr"/>
          </a:p>
        </p:txBody>
      </p:sp>
      <p:sp>
        <p:nvSpPr>
          <p:cNvPr id="12" name="TextBox 11"/>
          <p:cNvSpPr txBox="1"/>
          <p:nvPr/>
        </p:nvSpPr>
        <p:spPr>
          <a:xfrm>
            <a:off x="868680" y="2075688"/>
            <a:ext cx="1828800" cy="237744"/>
          </a:xfrm>
          <a:prstGeom prst="rect">
            <a:avLst/>
          </a:prstGeom>
          <a:noFill/>
        </p:spPr>
        <p:txBody>
          <a:bodyPr wrap="square" anchor="t" lIns="0" rIns="0" tIns="0" bIns="0">
            <a:spAutoFit/>
          </a:bodyPr>
          <a:lstStyle/>
          <a:p>
            <a:pPr algn="l"/>
            <a:r>
              <a:rPr sz="1150" b="1" i="0" lang="en-US" spc="40">
                <a:solidFill>
                  <a:srgbClr val="0B0B0C"/>
                </a:solidFill>
                <a:latin typeface="Plus Jakarta Sans"/>
                <a:cs typeface="Plus Jakarta Sans"/>
              </a:rPr>
              <a:t>CONTEXT</a:t>
            </a:r>
          </a:p>
        </p:txBody>
      </p:sp>
      <p:sp>
        <p:nvSpPr>
          <p:cNvPr id="13" name="TextBox 12"/>
          <p:cNvSpPr txBox="1"/>
          <p:nvPr/>
        </p:nvSpPr>
        <p:spPr>
          <a:xfrm>
            <a:off x="868680" y="2313432"/>
            <a:ext cx="34747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repo state, architecture</a:t>
            </a:r>
          </a:p>
        </p:txBody>
      </p:sp>
      <p:cxnSp>
        <p:nvCxnSpPr>
          <p:cNvPr id="14" name="Connector 13"/>
          <p:cNvCxnSpPr/>
          <p:nvPr/>
        </p:nvCxnSpPr>
        <p:spPr>
          <a:xfrm>
            <a:off x="1188720" y="2624328"/>
            <a:ext cx="0" cy="237744"/>
          </a:xfrm>
          <a:prstGeom prst="line">
            <a:avLst/>
          </a:prstGeom>
          <a:ln w="15240">
            <a:solidFill>
              <a:srgbClr val="9A9AA2"/>
            </a:solidFill>
            <a:tailEnd type="triangle" w="sm" len="sm"/>
          </a:ln>
        </p:spPr>
      </p:cxnSp>
      <p:sp>
        <p:nvSpPr>
          <p:cNvPr id="15" name="Rounded Rectangle 14"/>
          <p:cNvSpPr/>
          <p:nvPr/>
        </p:nvSpPr>
        <p:spPr>
          <a:xfrm>
            <a:off x="685800" y="2889504"/>
            <a:ext cx="3794760" cy="585216"/>
          </a:xfrm>
          <a:prstGeom prst="roundRect">
            <a:avLst>
              <a:gd name="adj" fmla="val 12500"/>
            </a:avLst>
          </a:prstGeom>
          <a:solidFill>
            <a:srgbClr val="FFFFFF"/>
          </a:solidFill>
          <a:ln w="12700">
            <a:solidFill>
              <a:srgbClr val="E7E7EA"/>
            </a:solidFill>
          </a:ln>
          <a:effectLst/>
        </p:spPr>
        <p:txBody>
          <a:bodyPr rtlCol="0" anchor="ctr" wrap="square"/>
          <a:lstStyle/>
          <a:p>
            <a:pPr algn="ctr"/>
          </a:p>
        </p:txBody>
      </p:sp>
      <p:sp>
        <p:nvSpPr>
          <p:cNvPr id="16" name="Rectangle 15"/>
          <p:cNvSpPr/>
          <p:nvPr/>
        </p:nvSpPr>
        <p:spPr>
          <a:xfrm>
            <a:off x="685800" y="2990088"/>
            <a:ext cx="41148" cy="384048"/>
          </a:xfrm>
          <a:prstGeom prst="rect">
            <a:avLst/>
          </a:prstGeom>
          <a:solidFill>
            <a:srgbClr val="9A9AA2"/>
          </a:solidFill>
          <a:ln>
            <a:noFill/>
          </a:ln>
          <a:effectLst/>
        </p:spPr>
        <p:txBody>
          <a:bodyPr rtlCol="0" anchor="ctr" wrap="square"/>
          <a:lstStyle/>
          <a:p>
            <a:pPr algn="ctr"/>
          </a:p>
        </p:txBody>
      </p:sp>
      <p:sp>
        <p:nvSpPr>
          <p:cNvPr id="17" name="TextBox 16"/>
          <p:cNvSpPr txBox="1"/>
          <p:nvPr/>
        </p:nvSpPr>
        <p:spPr>
          <a:xfrm>
            <a:off x="868680" y="2953512"/>
            <a:ext cx="1828800" cy="237744"/>
          </a:xfrm>
          <a:prstGeom prst="rect">
            <a:avLst/>
          </a:prstGeom>
          <a:noFill/>
        </p:spPr>
        <p:txBody>
          <a:bodyPr wrap="square" anchor="t" lIns="0" rIns="0" tIns="0" bIns="0">
            <a:spAutoFit/>
          </a:bodyPr>
          <a:lstStyle/>
          <a:p>
            <a:pPr algn="l"/>
            <a:r>
              <a:rPr sz="1150" b="1" i="0" lang="en-US" spc="40">
                <a:solidFill>
                  <a:srgbClr val="0B0B0C"/>
                </a:solidFill>
                <a:latin typeface="Plus Jakarta Sans"/>
                <a:cs typeface="Plus Jakarta Sans"/>
              </a:rPr>
              <a:t>TASK</a:t>
            </a:r>
          </a:p>
        </p:txBody>
      </p:sp>
      <p:sp>
        <p:nvSpPr>
          <p:cNvPr id="18" name="TextBox 17"/>
          <p:cNvSpPr txBox="1"/>
          <p:nvPr/>
        </p:nvSpPr>
        <p:spPr>
          <a:xfrm>
            <a:off x="868680" y="3191256"/>
            <a:ext cx="34747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exactly one feature</a:t>
            </a:r>
          </a:p>
        </p:txBody>
      </p:sp>
      <p:cxnSp>
        <p:nvCxnSpPr>
          <p:cNvPr id="19" name="Connector 18"/>
          <p:cNvCxnSpPr/>
          <p:nvPr/>
        </p:nvCxnSpPr>
        <p:spPr>
          <a:xfrm>
            <a:off x="1188720" y="3502152"/>
            <a:ext cx="0" cy="237744"/>
          </a:xfrm>
          <a:prstGeom prst="line">
            <a:avLst/>
          </a:prstGeom>
          <a:ln w="15240">
            <a:solidFill>
              <a:srgbClr val="9A9AA2"/>
            </a:solidFill>
            <a:tailEnd type="triangle" w="sm" len="sm"/>
          </a:ln>
        </p:spPr>
      </p:cxnSp>
      <p:sp>
        <p:nvSpPr>
          <p:cNvPr id="20" name="Rounded Rectangle 19"/>
          <p:cNvSpPr/>
          <p:nvPr/>
        </p:nvSpPr>
        <p:spPr>
          <a:xfrm>
            <a:off x="685800" y="3767328"/>
            <a:ext cx="3794760" cy="585216"/>
          </a:xfrm>
          <a:prstGeom prst="roundRect">
            <a:avLst>
              <a:gd name="adj" fmla="val 12500"/>
            </a:avLst>
          </a:prstGeom>
          <a:solidFill>
            <a:srgbClr val="FFFFFF"/>
          </a:solidFill>
          <a:ln w="12700">
            <a:solidFill>
              <a:srgbClr val="E7E7EA"/>
            </a:solidFill>
          </a:ln>
          <a:effectLst/>
        </p:spPr>
        <p:txBody>
          <a:bodyPr rtlCol="0" anchor="ctr" wrap="square"/>
          <a:lstStyle/>
          <a:p>
            <a:pPr algn="ctr"/>
          </a:p>
        </p:txBody>
      </p:sp>
      <p:sp>
        <p:nvSpPr>
          <p:cNvPr id="21" name="Rectangle 20"/>
          <p:cNvSpPr/>
          <p:nvPr/>
        </p:nvSpPr>
        <p:spPr>
          <a:xfrm>
            <a:off x="685800" y="3867912"/>
            <a:ext cx="41148" cy="384048"/>
          </a:xfrm>
          <a:prstGeom prst="rect">
            <a:avLst/>
          </a:prstGeom>
          <a:solidFill>
            <a:srgbClr val="9A9AA2"/>
          </a:solidFill>
          <a:ln>
            <a:noFill/>
          </a:ln>
          <a:effectLst/>
        </p:spPr>
        <p:txBody>
          <a:bodyPr rtlCol="0" anchor="ctr" wrap="square"/>
          <a:lstStyle/>
          <a:p>
            <a:pPr algn="ctr"/>
          </a:p>
        </p:txBody>
      </p:sp>
      <p:sp>
        <p:nvSpPr>
          <p:cNvPr id="22" name="TextBox 21"/>
          <p:cNvSpPr txBox="1"/>
          <p:nvPr/>
        </p:nvSpPr>
        <p:spPr>
          <a:xfrm>
            <a:off x="868680" y="3831336"/>
            <a:ext cx="1828800" cy="237744"/>
          </a:xfrm>
          <a:prstGeom prst="rect">
            <a:avLst/>
          </a:prstGeom>
          <a:noFill/>
        </p:spPr>
        <p:txBody>
          <a:bodyPr wrap="square" anchor="t" lIns="0" rIns="0" tIns="0" bIns="0">
            <a:spAutoFit/>
          </a:bodyPr>
          <a:lstStyle/>
          <a:p>
            <a:pPr algn="l"/>
            <a:r>
              <a:rPr sz="1150" b="1" i="0" lang="en-US" spc="40">
                <a:solidFill>
                  <a:srgbClr val="0B0B0C"/>
                </a:solidFill>
                <a:latin typeface="Plus Jakarta Sans"/>
                <a:cs typeface="Plus Jakarta Sans"/>
              </a:rPr>
              <a:t>CONSTRAINTS</a:t>
            </a:r>
          </a:p>
        </p:txBody>
      </p:sp>
      <p:sp>
        <p:nvSpPr>
          <p:cNvPr id="23" name="TextBox 22"/>
          <p:cNvSpPr txBox="1"/>
          <p:nvPr/>
        </p:nvSpPr>
        <p:spPr>
          <a:xfrm>
            <a:off x="868680" y="4069080"/>
            <a:ext cx="34747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boundaries it may not cross</a:t>
            </a:r>
          </a:p>
        </p:txBody>
      </p:sp>
      <p:cxnSp>
        <p:nvCxnSpPr>
          <p:cNvPr id="24" name="Connector 23"/>
          <p:cNvCxnSpPr/>
          <p:nvPr/>
        </p:nvCxnSpPr>
        <p:spPr>
          <a:xfrm>
            <a:off x="1188720" y="4379976"/>
            <a:ext cx="0" cy="237744"/>
          </a:xfrm>
          <a:prstGeom prst="line">
            <a:avLst/>
          </a:prstGeom>
          <a:ln w="15240">
            <a:solidFill>
              <a:srgbClr val="9A9AA2"/>
            </a:solidFill>
            <a:tailEnd type="triangle" w="sm" len="sm"/>
          </a:ln>
        </p:spPr>
      </p:cxnSp>
      <p:sp>
        <p:nvSpPr>
          <p:cNvPr id="25" name="Rounded Rectangle 24"/>
          <p:cNvSpPr/>
          <p:nvPr/>
        </p:nvSpPr>
        <p:spPr>
          <a:xfrm>
            <a:off x="685800" y="4645152"/>
            <a:ext cx="3794760" cy="585216"/>
          </a:xfrm>
          <a:prstGeom prst="roundRect">
            <a:avLst>
              <a:gd name="adj" fmla="val 12500"/>
            </a:avLst>
          </a:prstGeom>
          <a:solidFill>
            <a:srgbClr val="FFFFFF"/>
          </a:solidFill>
          <a:ln w="12700">
            <a:solidFill>
              <a:srgbClr val="E7E7EA"/>
            </a:solidFill>
          </a:ln>
          <a:effectLst/>
        </p:spPr>
        <p:txBody>
          <a:bodyPr rtlCol="0" anchor="ctr" wrap="square"/>
          <a:lstStyle/>
          <a:p>
            <a:pPr algn="ctr"/>
          </a:p>
        </p:txBody>
      </p:sp>
      <p:sp>
        <p:nvSpPr>
          <p:cNvPr id="26" name="Rectangle 25"/>
          <p:cNvSpPr/>
          <p:nvPr/>
        </p:nvSpPr>
        <p:spPr>
          <a:xfrm>
            <a:off x="685800" y="4745736"/>
            <a:ext cx="41148" cy="384048"/>
          </a:xfrm>
          <a:prstGeom prst="rect">
            <a:avLst/>
          </a:prstGeom>
          <a:solidFill>
            <a:srgbClr val="9A9AA2"/>
          </a:solidFill>
          <a:ln>
            <a:noFill/>
          </a:ln>
          <a:effectLst/>
        </p:spPr>
        <p:txBody>
          <a:bodyPr rtlCol="0" anchor="ctr" wrap="square"/>
          <a:lstStyle/>
          <a:p>
            <a:pPr algn="ctr"/>
          </a:p>
        </p:txBody>
      </p:sp>
      <p:sp>
        <p:nvSpPr>
          <p:cNvPr id="27" name="TextBox 26"/>
          <p:cNvSpPr txBox="1"/>
          <p:nvPr/>
        </p:nvSpPr>
        <p:spPr>
          <a:xfrm>
            <a:off x="868680" y="4709160"/>
            <a:ext cx="1828800" cy="237744"/>
          </a:xfrm>
          <a:prstGeom prst="rect">
            <a:avLst/>
          </a:prstGeom>
          <a:noFill/>
        </p:spPr>
        <p:txBody>
          <a:bodyPr wrap="square" anchor="t" lIns="0" rIns="0" tIns="0" bIns="0">
            <a:spAutoFit/>
          </a:bodyPr>
          <a:lstStyle/>
          <a:p>
            <a:pPr algn="l"/>
            <a:r>
              <a:rPr sz="1150" b="1" i="0" lang="en-US" spc="40">
                <a:solidFill>
                  <a:srgbClr val="0B0B0C"/>
                </a:solidFill>
                <a:latin typeface="Plus Jakarta Sans"/>
                <a:cs typeface="Plus Jakarta Sans"/>
              </a:rPr>
              <a:t>TEST</a:t>
            </a:r>
          </a:p>
        </p:txBody>
      </p:sp>
      <p:sp>
        <p:nvSpPr>
          <p:cNvPr id="28" name="TextBox 27"/>
          <p:cNvSpPr txBox="1"/>
          <p:nvPr/>
        </p:nvSpPr>
        <p:spPr>
          <a:xfrm>
            <a:off x="868680" y="4946904"/>
            <a:ext cx="34747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run the relevant check</a:t>
            </a:r>
          </a:p>
        </p:txBody>
      </p:sp>
      <p:cxnSp>
        <p:nvCxnSpPr>
          <p:cNvPr id="29" name="Connector 28"/>
          <p:cNvCxnSpPr/>
          <p:nvPr/>
        </p:nvCxnSpPr>
        <p:spPr>
          <a:xfrm>
            <a:off x="1188720" y="5257800"/>
            <a:ext cx="0" cy="237744"/>
          </a:xfrm>
          <a:prstGeom prst="line">
            <a:avLst/>
          </a:prstGeom>
          <a:ln w="15240">
            <a:solidFill>
              <a:srgbClr val="9A9AA2"/>
            </a:solidFill>
            <a:tailEnd type="triangle" w="sm" len="sm"/>
          </a:ln>
        </p:spPr>
      </p:cxnSp>
      <p:sp>
        <p:nvSpPr>
          <p:cNvPr id="30" name="Rounded Rectangle 29"/>
          <p:cNvSpPr/>
          <p:nvPr/>
        </p:nvSpPr>
        <p:spPr>
          <a:xfrm>
            <a:off x="685800" y="5522976"/>
            <a:ext cx="3794760" cy="585216"/>
          </a:xfrm>
          <a:prstGeom prst="roundRect">
            <a:avLst>
              <a:gd name="adj" fmla="val 12500"/>
            </a:avLst>
          </a:prstGeom>
          <a:solidFill>
            <a:srgbClr val="FFFFFF"/>
          </a:solidFill>
          <a:ln w="12700">
            <a:solidFill>
              <a:srgbClr val="E7E7EA"/>
            </a:solidFill>
          </a:ln>
          <a:effectLst/>
        </p:spPr>
        <p:txBody>
          <a:bodyPr rtlCol="0" anchor="ctr" wrap="square"/>
          <a:lstStyle/>
          <a:p>
            <a:pPr algn="ctr"/>
          </a:p>
        </p:txBody>
      </p:sp>
      <p:sp>
        <p:nvSpPr>
          <p:cNvPr id="31" name="Rectangle 30"/>
          <p:cNvSpPr/>
          <p:nvPr/>
        </p:nvSpPr>
        <p:spPr>
          <a:xfrm>
            <a:off x="685800" y="5623560"/>
            <a:ext cx="41148" cy="384048"/>
          </a:xfrm>
          <a:prstGeom prst="rect">
            <a:avLst/>
          </a:prstGeom>
          <a:solidFill>
            <a:srgbClr val="FF6B2C"/>
          </a:solidFill>
          <a:ln>
            <a:noFill/>
          </a:ln>
          <a:effectLst/>
        </p:spPr>
        <p:txBody>
          <a:bodyPr rtlCol="0" anchor="ctr" wrap="square"/>
          <a:lstStyle/>
          <a:p>
            <a:pPr algn="ctr"/>
          </a:p>
        </p:txBody>
      </p:sp>
      <p:sp>
        <p:nvSpPr>
          <p:cNvPr id="32" name="TextBox 31"/>
          <p:cNvSpPr txBox="1"/>
          <p:nvPr/>
        </p:nvSpPr>
        <p:spPr>
          <a:xfrm>
            <a:off x="868680" y="5586984"/>
            <a:ext cx="1828800" cy="237744"/>
          </a:xfrm>
          <a:prstGeom prst="rect">
            <a:avLst/>
          </a:prstGeom>
          <a:noFill/>
        </p:spPr>
        <p:txBody>
          <a:bodyPr wrap="square" anchor="t" lIns="0" rIns="0" tIns="0" bIns="0">
            <a:spAutoFit/>
          </a:bodyPr>
          <a:lstStyle/>
          <a:p>
            <a:pPr algn="l"/>
            <a:r>
              <a:rPr sz="1150" b="1" i="0" lang="en-US" spc="40">
                <a:solidFill>
                  <a:srgbClr val="0B0B0C"/>
                </a:solidFill>
                <a:latin typeface="Plus Jakarta Sans"/>
                <a:cs typeface="Plus Jakarta Sans"/>
              </a:rPr>
              <a:t>REPORT</a:t>
            </a:r>
          </a:p>
        </p:txBody>
      </p:sp>
      <p:sp>
        <p:nvSpPr>
          <p:cNvPr id="33" name="TextBox 32"/>
          <p:cNvSpPr txBox="1"/>
          <p:nvPr/>
        </p:nvSpPr>
        <p:spPr>
          <a:xfrm>
            <a:off x="868680" y="5824728"/>
            <a:ext cx="34747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what changed + risks</a:t>
            </a:r>
          </a:p>
        </p:txBody>
      </p:sp>
      <p:sp>
        <p:nvSpPr>
          <p:cNvPr id="34" name="Rounded Rectangle 33"/>
          <p:cNvSpPr/>
          <p:nvPr/>
        </p:nvSpPr>
        <p:spPr>
          <a:xfrm>
            <a:off x="4892040" y="2011680"/>
            <a:ext cx="6611112" cy="4069080"/>
          </a:xfrm>
          <a:prstGeom prst="roundRect">
            <a:avLst>
              <a:gd name="adj" fmla="val 2247"/>
            </a:avLst>
          </a:prstGeom>
          <a:solidFill>
            <a:srgbClr val="FFFFFF"/>
          </a:solidFill>
          <a:ln w="12700">
            <a:solidFill>
              <a:srgbClr val="E7E7EA"/>
            </a:solidFill>
          </a:ln>
          <a:effectLst/>
        </p:spPr>
        <p:txBody>
          <a:bodyPr rtlCol="0" anchor="ctr" wrap="square"/>
          <a:lstStyle/>
          <a:p>
            <a:pPr algn="ctr"/>
          </a:p>
        </p:txBody>
      </p:sp>
      <p:sp>
        <p:nvSpPr>
          <p:cNvPr id="35" name="Rounded Rectangle 34"/>
          <p:cNvSpPr/>
          <p:nvPr/>
        </p:nvSpPr>
        <p:spPr>
          <a:xfrm>
            <a:off x="4901183" y="2020824"/>
            <a:ext cx="6592824" cy="365760"/>
          </a:xfrm>
          <a:prstGeom prst="roundRect">
            <a:avLst>
              <a:gd name="adj" fmla="val 22499"/>
            </a:avLst>
          </a:prstGeom>
          <a:solidFill>
            <a:srgbClr val="FAFAFB"/>
          </a:solidFill>
          <a:ln>
            <a:noFill/>
          </a:ln>
          <a:effectLst/>
        </p:spPr>
        <p:txBody>
          <a:bodyPr rtlCol="0" anchor="ctr" wrap="square"/>
          <a:lstStyle/>
          <a:p>
            <a:pPr algn="ctr"/>
          </a:p>
        </p:txBody>
      </p:sp>
      <p:cxnSp>
        <p:nvCxnSpPr>
          <p:cNvPr id="36" name="Connector 35"/>
          <p:cNvCxnSpPr/>
          <p:nvPr/>
        </p:nvCxnSpPr>
        <p:spPr>
          <a:xfrm>
            <a:off x="4901183" y="2386584"/>
            <a:ext cx="6592825" cy="0"/>
          </a:xfrm>
          <a:prstGeom prst="line">
            <a:avLst/>
          </a:prstGeom>
          <a:ln w="12700">
            <a:solidFill>
              <a:srgbClr val="E7E7EA"/>
            </a:solidFill>
          </a:ln>
        </p:spPr>
      </p:cxnSp>
      <p:sp>
        <p:nvSpPr>
          <p:cNvPr id="37" name="TextBox 36"/>
          <p:cNvSpPr txBox="1"/>
          <p:nvPr/>
        </p:nvSpPr>
        <p:spPr>
          <a:xfrm>
            <a:off x="5093207" y="2020824"/>
            <a:ext cx="4599432" cy="356616"/>
          </a:xfrm>
          <a:prstGeom prst="rect">
            <a:avLst/>
          </a:prstGeom>
          <a:noFill/>
        </p:spPr>
        <p:txBody>
          <a:bodyPr wrap="square" anchor="ctr" lIns="0" rIns="0" tIns="0" bIns="0">
            <a:spAutoFit/>
          </a:bodyPr>
          <a:lstStyle/>
          <a:p>
            <a:pPr algn="l"/>
            <a:r>
              <a:rPr sz="900" b="1" i="0" lang="en-US">
                <a:solidFill>
                  <a:srgbClr val="63636B"/>
                </a:solidFill>
                <a:latin typeface="Menlo"/>
                <a:cs typeface="Menlo"/>
              </a:rPr>
              <a:t>prompt.txt</a:t>
            </a:r>
          </a:p>
        </p:txBody>
      </p:sp>
      <p:sp>
        <p:nvSpPr>
          <p:cNvPr id="38" name="TextBox 37"/>
          <p:cNvSpPr txBox="1"/>
          <p:nvPr/>
        </p:nvSpPr>
        <p:spPr>
          <a:xfrm>
            <a:off x="9400032" y="2020824"/>
            <a:ext cx="1901952" cy="356616"/>
          </a:xfrm>
          <a:prstGeom prst="rect">
            <a:avLst/>
          </a:prstGeom>
          <a:noFill/>
        </p:spPr>
        <p:txBody>
          <a:bodyPr wrap="square" anchor="ctr" lIns="0" rIns="0" tIns="0" bIns="0">
            <a:spAutoFit/>
          </a:bodyPr>
          <a:lstStyle/>
          <a:p>
            <a:pPr algn="r"/>
            <a:r>
              <a:rPr sz="750" b="1" i="0" lang="en-US" spc="100">
                <a:solidFill>
                  <a:srgbClr val="9A9AA2"/>
                </a:solidFill>
                <a:latin typeface="Plus Jakarta Sans"/>
                <a:cs typeface="Plus Jakarta Sans"/>
              </a:rPr>
              <a:t>ONE TASK · FULL CONTEXT</a:t>
            </a:r>
          </a:p>
        </p:txBody>
      </p:sp>
      <p:sp>
        <p:nvSpPr>
          <p:cNvPr id="39" name="Rounded Rectangle 38"/>
          <p:cNvSpPr/>
          <p:nvPr/>
        </p:nvSpPr>
        <p:spPr>
          <a:xfrm>
            <a:off x="4901183" y="2386584"/>
            <a:ext cx="6592824" cy="3685032"/>
          </a:xfrm>
          <a:prstGeom prst="roundRect">
            <a:avLst>
              <a:gd name="adj" fmla="val 1985"/>
            </a:avLst>
          </a:prstGeom>
          <a:solidFill>
            <a:srgbClr val="F2F2F4"/>
          </a:solidFill>
          <a:ln>
            <a:noFill/>
          </a:ln>
          <a:effectLst/>
        </p:spPr>
        <p:txBody>
          <a:bodyPr rtlCol="0" anchor="ctr" wrap="square"/>
          <a:lstStyle/>
          <a:p>
            <a:pPr algn="ctr"/>
          </a:p>
        </p:txBody>
      </p:sp>
      <p:sp>
        <p:nvSpPr>
          <p:cNvPr id="40" name="TextBox 39"/>
          <p:cNvSpPr txBox="1"/>
          <p:nvPr/>
        </p:nvSpPr>
        <p:spPr>
          <a:xfrm>
            <a:off x="5129783" y="2588666"/>
            <a:ext cx="6135624" cy="3361334"/>
          </a:xfrm>
          <a:prstGeom prst="rect">
            <a:avLst/>
          </a:prstGeom>
          <a:noFill/>
        </p:spPr>
        <p:txBody>
          <a:bodyPr wrap="square" anchor="t" lIns="0" rIns="0" tIns="0" bIns="0">
            <a:spAutoFit/>
          </a:bodyPr>
          <a:lstStyle/>
          <a:p>
            <a:pPr algn="l">
              <a:lnSpc>
                <a:spcPct val="132000"/>
              </a:lnSpc>
            </a:pPr>
            <a:r>
              <a:rPr sz="1050" b="0" i="0" lang="en-US">
                <a:solidFill>
                  <a:srgbClr val="222225"/>
                </a:solidFill>
                <a:latin typeface="Menlo"/>
                <a:cs typeface="Menlo"/>
              </a:rPr>
              <a:t>Inspect this repository.</a:t>
            </a:r>
          </a:p>
          <a:p>
            <a:pPr algn="l">
              <a:lnSpc>
                <a:spcPct val="132000"/>
              </a:lnSpc>
            </a:pPr>
            <a:r>
              <a:rPr sz="1050" b="0" i="0" lang="en-US">
                <a:solidFill>
                  <a:srgbClr val="222225"/>
                </a:solidFill>
                <a:latin typeface="Menlo"/>
                <a:cs typeface="Menlo"/>
              </a:rPr>
              <a:t/>
            </a:r>
          </a:p>
          <a:p>
            <a:pPr algn="l">
              <a:lnSpc>
                <a:spcPct val="132000"/>
              </a:lnSpc>
            </a:pPr>
            <a:r>
              <a:rPr sz="1050" b="0" i="0" lang="en-US">
                <a:solidFill>
                  <a:srgbClr val="222225"/>
                </a:solidFill>
                <a:latin typeface="Menlo"/>
                <a:cs typeface="Menlo"/>
              </a:rPr>
              <a:t>Add a document-upload endpoint.</a:t>
            </a:r>
          </a:p>
          <a:p>
            <a:pPr algn="l">
              <a:lnSpc>
                <a:spcPct val="132000"/>
              </a:lnSpc>
            </a:pPr>
            <a:r>
              <a:rPr sz="1050" b="0" i="0" lang="en-US">
                <a:solidFill>
                  <a:srgbClr val="222225"/>
                </a:solidFill>
                <a:latin typeface="Menlo"/>
                <a:cs typeface="Menlo"/>
              </a:rPr>
              <a:t/>
            </a:r>
          </a:p>
          <a:p>
            <a:pPr algn="l">
              <a:lnSpc>
                <a:spcPct val="132000"/>
              </a:lnSpc>
            </a:pPr>
            <a:r>
              <a:rPr sz="1050" b="0" i="0" lang="en-US">
                <a:solidFill>
                  <a:srgbClr val="63636B"/>
                </a:solidFill>
                <a:latin typeface="Menlo"/>
                <a:cs typeface="Menlo"/>
              </a:rPr>
              <a:t>Keep the existing architecture.</a:t>
            </a:r>
          </a:p>
          <a:p>
            <a:pPr algn="l">
              <a:lnSpc>
                <a:spcPct val="132000"/>
              </a:lnSpc>
            </a:pPr>
            <a:r>
              <a:rPr sz="1050" b="0" i="0" lang="en-US">
                <a:solidFill>
                  <a:srgbClr val="63636B"/>
                </a:solidFill>
                <a:latin typeface="Menlo"/>
                <a:cs typeface="Menlo"/>
              </a:rPr>
              <a:t>Add validation and useful logging.</a:t>
            </a:r>
          </a:p>
          <a:p>
            <a:pPr algn="l">
              <a:lnSpc>
                <a:spcPct val="132000"/>
              </a:lnSpc>
            </a:pPr>
            <a:r>
              <a:rPr sz="1050" b="0" i="0" lang="en-US">
                <a:solidFill>
                  <a:srgbClr val="63636B"/>
                </a:solidFill>
                <a:latin typeface="Menlo"/>
                <a:cs typeface="Menlo"/>
              </a:rPr>
              <a:t>Do not refactor unrelated files.</a:t>
            </a:r>
          </a:p>
          <a:p>
            <a:pPr algn="l">
              <a:lnSpc>
                <a:spcPct val="132000"/>
              </a:lnSpc>
            </a:pPr>
            <a:r>
              <a:rPr sz="1050" b="0" i="0" lang="en-US">
                <a:solidFill>
                  <a:srgbClr val="222225"/>
                </a:solidFill>
                <a:latin typeface="Menlo"/>
                <a:cs typeface="Menlo"/>
              </a:rPr>
              <a:t/>
            </a:r>
          </a:p>
          <a:p>
            <a:pPr algn="l">
              <a:lnSpc>
                <a:spcPct val="132000"/>
              </a:lnSpc>
            </a:pPr>
            <a:r>
              <a:rPr sz="1050" b="0" i="0" lang="en-US">
                <a:solidFill>
                  <a:srgbClr val="222225"/>
                </a:solidFill>
                <a:latin typeface="Menlo"/>
                <a:cs typeface="Menlo"/>
              </a:rPr>
              <a:t>Run the relevant test.</a:t>
            </a:r>
          </a:p>
          <a:p>
            <a:pPr algn="l">
              <a:lnSpc>
                <a:spcPct val="132000"/>
              </a:lnSpc>
            </a:pPr>
            <a:r>
              <a:rPr sz="1050" b="0" i="0" lang="en-US">
                <a:solidFill>
                  <a:srgbClr val="222225"/>
                </a:solidFill>
                <a:latin typeface="Menlo"/>
                <a:cs typeface="Menlo"/>
              </a:rPr>
              <a:t/>
            </a:r>
          </a:p>
          <a:p>
            <a:pPr algn="l">
              <a:lnSpc>
                <a:spcPct val="132000"/>
              </a:lnSpc>
            </a:pPr>
            <a:r>
              <a:rPr sz="1050" b="1" i="0" lang="en-US">
                <a:solidFill>
                  <a:srgbClr val="FF6B2C"/>
                </a:solidFill>
                <a:latin typeface="Menlo"/>
                <a:cs typeface="Menlo"/>
              </a:rPr>
              <a:t>Report:</a:t>
            </a:r>
          </a:p>
          <a:p>
            <a:pPr algn="l">
              <a:lnSpc>
                <a:spcPct val="132000"/>
              </a:lnSpc>
            </a:pPr>
            <a:r>
              <a:rPr sz="1050" b="0" i="0" lang="en-US">
                <a:solidFill>
                  <a:srgbClr val="222225"/>
                </a:solidFill>
                <a:latin typeface="Menlo"/>
                <a:cs typeface="Menlo"/>
              </a:rPr>
              <a:t>  1. files changed</a:t>
            </a:r>
          </a:p>
          <a:p>
            <a:pPr algn="l">
              <a:lnSpc>
                <a:spcPct val="132000"/>
              </a:lnSpc>
            </a:pPr>
            <a:r>
              <a:rPr sz="1050" b="0" i="0" lang="en-US">
                <a:solidFill>
                  <a:srgbClr val="222225"/>
                </a:solidFill>
                <a:latin typeface="Menlo"/>
                <a:cs typeface="Menlo"/>
              </a:rPr>
              <a:t>  2. behavior added</a:t>
            </a:r>
          </a:p>
          <a:p>
            <a:pPr algn="l">
              <a:lnSpc>
                <a:spcPct val="132000"/>
              </a:lnSpc>
            </a:pPr>
            <a:r>
              <a:rPr sz="1050" b="0" i="0" lang="en-US">
                <a:solidFill>
                  <a:srgbClr val="222225"/>
                </a:solidFill>
                <a:latin typeface="Menlo"/>
                <a:cs typeface="Menlo"/>
              </a:rPr>
              <a:t>  3. test result</a:t>
            </a:r>
          </a:p>
          <a:p>
            <a:pPr algn="l">
              <a:lnSpc>
                <a:spcPct val="132000"/>
              </a:lnSpc>
            </a:pPr>
            <a:r>
              <a:rPr sz="1050" b="0" i="0" lang="en-US">
                <a:solidFill>
                  <a:srgbClr val="222225"/>
                </a:solidFill>
                <a:latin typeface="Menlo"/>
                <a:cs typeface="Menlo"/>
              </a:rPr>
              <a:t>  4. remaining risks</a:t>
            </a:r>
          </a:p>
        </p:txBody>
      </p:sp>
      <p:sp>
        <p:nvSpPr>
          <p:cNvPr id="41" name="TextBox 40"/>
          <p:cNvSpPr txBox="1"/>
          <p:nvPr/>
        </p:nvSpPr>
        <p:spPr>
          <a:xfrm>
            <a:off x="4910327" y="6190488"/>
            <a:ext cx="6611112" cy="256032"/>
          </a:xfrm>
          <a:prstGeom prst="rect">
            <a:avLst/>
          </a:prstGeom>
          <a:noFill/>
        </p:spPr>
        <p:txBody>
          <a:bodyPr wrap="square" anchor="t" lIns="0" rIns="0" tIns="0" bIns="0">
            <a:spAutoFit/>
          </a:bodyPr>
          <a:lstStyle/>
          <a:p>
            <a:pPr algn="l"/>
            <a:r>
              <a:rPr sz="1050" b="0" i="0" lang="en-US">
                <a:solidFill>
                  <a:srgbClr val="9A9AA2"/>
                </a:solidFill>
                <a:latin typeface="Plus Jakarta Sans"/>
                <a:cs typeface="Plus Jakarta Sans"/>
              </a:rPr>
              <a:t>Watch the process, not just the final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TRADITIONAL RAG</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09</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THE NEXT PROBLEM</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Now Give the AI the Right Knowledge</a:t>
            </a:r>
          </a:p>
        </p:txBody>
      </p:sp>
      <p:sp>
        <p:nvSpPr>
          <p:cNvPr id="10" name="Folded Corner 9"/>
          <p:cNvSpPr/>
          <p:nvPr/>
        </p:nvSpPr>
        <p:spPr>
          <a:xfrm>
            <a:off x="4453128" y="2011680"/>
            <a:ext cx="3291840" cy="868680"/>
          </a:xfrm>
          <a:prstGeom prst="foldedCorner">
            <a:avLst/>
          </a:prstGeom>
          <a:solidFill>
            <a:srgbClr val="FFFFFF"/>
          </a:solidFill>
          <a:ln w="15875">
            <a:solidFill>
              <a:srgbClr val="E7E7EA"/>
            </a:solidFill>
          </a:ln>
          <a:effectLst/>
        </p:spPr>
        <p:txBody>
          <a:bodyPr rtlCol="0" anchor="ctr" wrap="square"/>
          <a:lstStyle/>
          <a:p>
            <a:pPr algn="ctr"/>
          </a:p>
        </p:txBody>
      </p:sp>
      <p:sp>
        <p:nvSpPr>
          <p:cNvPr id="11" name="TextBox 10"/>
          <p:cNvSpPr txBox="1"/>
          <p:nvPr/>
        </p:nvSpPr>
        <p:spPr>
          <a:xfrm>
            <a:off x="4663440" y="2011680"/>
            <a:ext cx="2926080" cy="868680"/>
          </a:xfrm>
          <a:prstGeom prst="rect">
            <a:avLst/>
          </a:prstGeom>
          <a:noFill/>
        </p:spPr>
        <p:txBody>
          <a:bodyPr wrap="square" anchor="ctr" lIns="0" rIns="0" tIns="0" bIns="0">
            <a:spAutoFit/>
          </a:bodyPr>
          <a:lstStyle/>
          <a:p>
            <a:pPr algn="ctr">
              <a:lnSpc>
                <a:spcPct val="135000"/>
              </a:lnSpc>
              <a:spcAft>
                <a:spcPts val="300"/>
              </a:spcAft>
            </a:pPr>
            <a:r>
              <a:rPr sz="1250" b="1" i="0" lang="en-US">
                <a:solidFill>
                  <a:srgbClr val="0B0B0C"/>
                </a:solidFill>
                <a:latin typeface="Plus Jakarta Sans"/>
                <a:cs typeface="Plus Jakarta Sans"/>
              </a:rPr>
              <a:t>500+ DOCUMENT PAGES</a:t>
            </a:r>
          </a:p>
          <a:p>
            <a:pPr algn="ctr">
              <a:lnSpc>
                <a:spcPct val="135000"/>
              </a:lnSpc>
              <a:spcAft>
                <a:spcPts val="300"/>
              </a:spcAft>
            </a:pPr>
            <a:r>
              <a:rPr sz="900" b="0" i="0" lang="en-US">
                <a:solidFill>
                  <a:srgbClr val="9A9AA2"/>
                </a:solidFill>
                <a:latin typeface="Plus Jakarta Sans"/>
                <a:cs typeface="Plus Jakarta Sans"/>
              </a:rPr>
              <a:t>policies · manuals · FAQs</a:t>
            </a:r>
          </a:p>
        </p:txBody>
      </p:sp>
      <p:cxnSp>
        <p:nvCxnSpPr>
          <p:cNvPr id="12" name="Connector 11"/>
          <p:cNvCxnSpPr/>
          <p:nvPr/>
        </p:nvCxnSpPr>
        <p:spPr>
          <a:xfrm>
            <a:off x="6096304" y="2999232"/>
            <a:ext cx="0" cy="402336"/>
          </a:xfrm>
          <a:prstGeom prst="line">
            <a:avLst/>
          </a:prstGeom>
          <a:ln w="16510">
            <a:solidFill>
              <a:srgbClr val="9A9AA2"/>
            </a:solidFill>
            <a:tailEnd type="triangle" w="sm" len="sm"/>
          </a:ln>
        </p:spPr>
      </p:cxnSp>
      <p:sp>
        <p:nvSpPr>
          <p:cNvPr id="13" name="Rounded Rectangle 12"/>
          <p:cNvSpPr/>
          <p:nvPr/>
        </p:nvSpPr>
        <p:spPr>
          <a:xfrm>
            <a:off x="4910328" y="3474720"/>
            <a:ext cx="2377440" cy="475488"/>
          </a:xfrm>
          <a:prstGeom prst="roundRect">
            <a:avLst>
              <a:gd name="adj" fmla="val 50000"/>
            </a:avLst>
          </a:prstGeom>
          <a:solidFill>
            <a:srgbClr val="FFFFFF"/>
          </a:solidFill>
          <a:ln w="12700">
            <a:solidFill>
              <a:srgbClr val="222225"/>
            </a:solidFill>
          </a:ln>
          <a:effectLst/>
        </p:spPr>
        <p:txBody>
          <a:bodyPr rtlCol="0" anchor="ctr" wrap="square" lIns="64008" rIns="64008" tIns="18288" bIns="18288"/>
          <a:lstStyle/>
          <a:p>
            <a:pPr algn="ctr">
              <a:lnSpc>
                <a:spcPct val="105000"/>
              </a:lnSpc>
            </a:pPr>
            <a:r>
              <a:rPr sz="1150" b="1" i="0" lang="en-US" spc="20">
                <a:solidFill>
                  <a:srgbClr val="0B0B0C"/>
                </a:solidFill>
                <a:latin typeface="Plus Jakarta Sans"/>
                <a:cs typeface="Plus Jakarta Sans"/>
              </a:rPr>
              <a:t>QUESTION</a:t>
            </a:r>
          </a:p>
        </p:txBody>
      </p:sp>
      <p:cxnSp>
        <p:nvCxnSpPr>
          <p:cNvPr id="14" name="Connector 13"/>
          <p:cNvCxnSpPr/>
          <p:nvPr/>
        </p:nvCxnSpPr>
        <p:spPr>
          <a:xfrm>
            <a:off x="6096304" y="4023360"/>
            <a:ext cx="0" cy="402336"/>
          </a:xfrm>
          <a:prstGeom prst="line">
            <a:avLst/>
          </a:prstGeom>
          <a:ln w="16510">
            <a:solidFill>
              <a:srgbClr val="9A9AA2"/>
            </a:solidFill>
            <a:tailEnd type="triangle" w="sm" len="sm"/>
          </a:ln>
        </p:spPr>
      </p:cxnSp>
      <p:sp>
        <p:nvSpPr>
          <p:cNvPr id="15" name="TextBox 14"/>
          <p:cNvSpPr txBox="1"/>
          <p:nvPr/>
        </p:nvSpPr>
        <p:spPr>
          <a:xfrm>
            <a:off x="685800" y="4498848"/>
            <a:ext cx="10820369" cy="868680"/>
          </a:xfrm>
          <a:prstGeom prst="rect">
            <a:avLst/>
          </a:prstGeom>
          <a:noFill/>
        </p:spPr>
        <p:txBody>
          <a:bodyPr wrap="square" anchor="t" lIns="0" rIns="0" tIns="0" bIns="0">
            <a:spAutoFit/>
          </a:bodyPr>
          <a:lstStyle/>
          <a:p>
            <a:pPr algn="ctr"/>
            <a:r>
              <a:rPr sz="4600" b="1" i="0" lang="en-US" spc="-100">
                <a:solidFill>
                  <a:srgbClr val="FF6B2C"/>
                </a:solidFill>
                <a:latin typeface="Plus Jakarta Sans"/>
                <a:cs typeface="Plus Jakarta Sans"/>
              </a:rPr>
              <a:t>???</a:t>
            </a:r>
          </a:p>
        </p:txBody>
      </p:sp>
      <p:sp>
        <p:nvSpPr>
          <p:cNvPr id="16" name="TextBox 15"/>
          <p:cNvSpPr txBox="1"/>
          <p:nvPr/>
        </p:nvSpPr>
        <p:spPr>
          <a:xfrm>
            <a:off x="685800" y="5394960"/>
            <a:ext cx="10820369" cy="365760"/>
          </a:xfrm>
          <a:prstGeom prst="rect">
            <a:avLst/>
          </a:prstGeom>
          <a:noFill/>
        </p:spPr>
        <p:txBody>
          <a:bodyPr wrap="square" anchor="t" lIns="0" rIns="0" tIns="0" bIns="0">
            <a:spAutoFit/>
          </a:bodyPr>
          <a:lstStyle/>
          <a:p>
            <a:pPr algn="ctr"/>
            <a:r>
              <a:rPr sz="1700" b="1" i="0" lang="en-US" spc="-40">
                <a:solidFill>
                  <a:srgbClr val="0B0B0C"/>
                </a:solidFill>
                <a:latin typeface="Plus Jakarta Sans"/>
                <a:cs typeface="Plus Jakarta Sans"/>
              </a:rPr>
              <a:t>How does the AI find the right information?</a:t>
            </a:r>
          </a:p>
        </p:txBody>
      </p:sp>
      <p:sp>
        <p:nvSpPr>
          <p:cNvPr id="17" name="Rounded Rectangle 16"/>
          <p:cNvSpPr/>
          <p:nvPr/>
        </p:nvSpPr>
        <p:spPr>
          <a:xfrm>
            <a:off x="3950208" y="5870448"/>
            <a:ext cx="4297680" cy="420624"/>
          </a:xfrm>
          <a:prstGeom prst="roundRect">
            <a:avLst>
              <a:gd name="adj" fmla="val 50000"/>
            </a:avLst>
          </a:prstGeom>
          <a:solidFill>
            <a:srgbClr val="FF6B2C"/>
          </a:solidFill>
          <a:ln>
            <a:noFill/>
          </a:ln>
          <a:effectLst/>
        </p:spPr>
        <p:txBody>
          <a:bodyPr rtlCol="0" anchor="ctr" wrap="square"/>
          <a:lstStyle/>
          <a:p>
            <a:pPr algn="ctr"/>
          </a:p>
        </p:txBody>
      </p:sp>
      <p:sp>
        <p:nvSpPr>
          <p:cNvPr id="18" name="TextBox 17"/>
          <p:cNvSpPr txBox="1"/>
          <p:nvPr/>
        </p:nvSpPr>
        <p:spPr>
          <a:xfrm>
            <a:off x="3950208" y="5870448"/>
            <a:ext cx="4297680" cy="420624"/>
          </a:xfrm>
          <a:prstGeom prst="rect">
            <a:avLst/>
          </a:prstGeom>
          <a:noFill/>
        </p:spPr>
        <p:txBody>
          <a:bodyPr wrap="square" anchor="ctr" lIns="0" rIns="0" tIns="0" bIns="0">
            <a:spAutoFit/>
          </a:bodyPr>
          <a:lstStyle/>
          <a:p>
            <a:pPr algn="ctr"/>
            <a:r>
              <a:rPr sz="950" b="1" i="0" lang="en-US" spc="120">
                <a:solidFill>
                  <a:srgbClr val="FFFFFF"/>
                </a:solidFill>
                <a:latin typeface="Plus Jakarta Sans"/>
                <a:cs typeface="Plus Jakarta Sans"/>
              </a:rPr>
              <a:t>RAG · RETRIEVAL-AUGMENTED GENERATION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TRADITIONAL RAG</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10</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THE MENTAL MODEL</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Traditional RAG</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Retrieval-Augmented Generation — two pipelines, one knowledge base.</a:t>
            </a:r>
          </a:p>
        </p:txBody>
      </p:sp>
      <p:sp>
        <p:nvSpPr>
          <p:cNvPr id="11" name="TextBox 10"/>
          <p:cNvSpPr txBox="1"/>
          <p:nvPr/>
        </p:nvSpPr>
        <p:spPr>
          <a:xfrm>
            <a:off x="685800" y="2286000"/>
            <a:ext cx="7315200" cy="219456"/>
          </a:xfrm>
          <a:prstGeom prst="rect">
            <a:avLst/>
          </a:prstGeom>
          <a:noFill/>
        </p:spPr>
        <p:txBody>
          <a:bodyPr wrap="square" anchor="t" lIns="0" rIns="0" tIns="0" bIns="0">
            <a:spAutoFit/>
          </a:bodyPr>
          <a:lstStyle/>
          <a:p>
            <a:pPr algn="l"/>
            <a:r>
              <a:rPr sz="850" b="1" i="0" lang="en-US" spc="140">
                <a:solidFill>
                  <a:srgbClr val="9A9AA2"/>
                </a:solidFill>
                <a:latin typeface="Plus Jakarta Sans"/>
                <a:cs typeface="Plus Jakarta Sans"/>
              </a:rPr>
              <a:t>A · INGESTION — BEFORE THE USER ASKS</a:t>
            </a:r>
          </a:p>
        </p:txBody>
      </p:sp>
      <p:sp>
        <p:nvSpPr>
          <p:cNvPr id="12" name="Rounded Rectangle 11"/>
          <p:cNvSpPr/>
          <p:nvPr/>
        </p:nvSpPr>
        <p:spPr>
          <a:xfrm>
            <a:off x="685800" y="2542032"/>
            <a:ext cx="2471920" cy="713232"/>
          </a:xfrm>
          <a:prstGeom prst="roundRect">
            <a:avLst>
              <a:gd name="adj" fmla="val 11538"/>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50" b="1" i="0" lang="en-US" spc="20">
                <a:solidFill>
                  <a:srgbClr val="0B0B0C"/>
                </a:solidFill>
                <a:latin typeface="Plus Jakarta Sans"/>
                <a:cs typeface="Plus Jakarta Sans"/>
              </a:rPr>
              <a:t>DOCUMENTS</a:t>
            </a:r>
          </a:p>
        </p:txBody>
      </p:sp>
      <p:sp>
        <p:nvSpPr>
          <p:cNvPr id="13" name="Rounded Rectangle 12"/>
          <p:cNvSpPr/>
          <p:nvPr/>
        </p:nvSpPr>
        <p:spPr>
          <a:xfrm>
            <a:off x="3468616" y="2542032"/>
            <a:ext cx="2471920" cy="713232"/>
          </a:xfrm>
          <a:prstGeom prst="roundRect">
            <a:avLst>
              <a:gd name="adj" fmla="val 11538"/>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50" b="1" i="0" lang="en-US" spc="20">
                <a:solidFill>
                  <a:srgbClr val="0B0B0C"/>
                </a:solidFill>
                <a:latin typeface="Plus Jakarta Sans"/>
                <a:cs typeface="Plus Jakarta Sans"/>
              </a:rPr>
              <a:t>CHUNKING</a:t>
            </a:r>
          </a:p>
        </p:txBody>
      </p:sp>
      <p:cxnSp>
        <p:nvCxnSpPr>
          <p:cNvPr id="14" name="Connector 13"/>
          <p:cNvCxnSpPr/>
          <p:nvPr/>
        </p:nvCxnSpPr>
        <p:spPr>
          <a:xfrm>
            <a:off x="3203440" y="2898648"/>
            <a:ext cx="219456" cy="0"/>
          </a:xfrm>
          <a:prstGeom prst="line">
            <a:avLst/>
          </a:prstGeom>
          <a:ln w="15875">
            <a:solidFill>
              <a:srgbClr val="9A9AA2"/>
            </a:solidFill>
            <a:tailEnd type="triangle" w="sm" len="sm"/>
          </a:ln>
        </p:spPr>
      </p:cxnSp>
      <p:sp>
        <p:nvSpPr>
          <p:cNvPr id="15" name="Rounded Rectangle 14"/>
          <p:cNvSpPr/>
          <p:nvPr/>
        </p:nvSpPr>
        <p:spPr>
          <a:xfrm>
            <a:off x="6251432" y="2542032"/>
            <a:ext cx="2471920" cy="713232"/>
          </a:xfrm>
          <a:prstGeom prst="roundRect">
            <a:avLst>
              <a:gd name="adj" fmla="val 11538"/>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50" b="1" i="0" lang="en-US" spc="20">
                <a:solidFill>
                  <a:srgbClr val="0B0B0C"/>
                </a:solidFill>
                <a:latin typeface="Plus Jakarta Sans"/>
                <a:cs typeface="Plus Jakarta Sans"/>
              </a:rPr>
              <a:t>EMBEDDINGS</a:t>
            </a:r>
          </a:p>
        </p:txBody>
      </p:sp>
      <p:cxnSp>
        <p:nvCxnSpPr>
          <p:cNvPr id="16" name="Connector 15"/>
          <p:cNvCxnSpPr/>
          <p:nvPr/>
        </p:nvCxnSpPr>
        <p:spPr>
          <a:xfrm>
            <a:off x="5986256" y="2898648"/>
            <a:ext cx="219456" cy="0"/>
          </a:xfrm>
          <a:prstGeom prst="line">
            <a:avLst/>
          </a:prstGeom>
          <a:ln w="15875">
            <a:solidFill>
              <a:srgbClr val="9A9AA2"/>
            </a:solidFill>
            <a:tailEnd type="triangle" w="sm" len="sm"/>
          </a:ln>
        </p:spPr>
      </p:cxnSp>
      <p:sp>
        <p:nvSpPr>
          <p:cNvPr id="17" name="Rounded Rectangle 16"/>
          <p:cNvSpPr/>
          <p:nvPr/>
        </p:nvSpPr>
        <p:spPr>
          <a:xfrm>
            <a:off x="9034249" y="2542032"/>
            <a:ext cx="2471920" cy="713232"/>
          </a:xfrm>
          <a:prstGeom prst="roundRect">
            <a:avLst>
              <a:gd name="adj" fmla="val 11538"/>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50" b="1" i="0" lang="en-US" spc="20">
                <a:solidFill>
                  <a:srgbClr val="0B0B0C"/>
                </a:solidFill>
                <a:latin typeface="Plus Jakarta Sans"/>
                <a:cs typeface="Plus Jakarta Sans"/>
              </a:rPr>
              <a:t>VECTOR STORE
/ SEARCH INDEX</a:t>
            </a:r>
          </a:p>
        </p:txBody>
      </p:sp>
      <p:cxnSp>
        <p:nvCxnSpPr>
          <p:cNvPr id="18" name="Connector 17"/>
          <p:cNvCxnSpPr/>
          <p:nvPr/>
        </p:nvCxnSpPr>
        <p:spPr>
          <a:xfrm>
            <a:off x="8769073" y="2898648"/>
            <a:ext cx="219456" cy="0"/>
          </a:xfrm>
          <a:prstGeom prst="line">
            <a:avLst/>
          </a:prstGeom>
          <a:ln w="15875">
            <a:solidFill>
              <a:srgbClr val="9A9AA2"/>
            </a:solidFill>
            <a:tailEnd type="triangle" w="sm" len="sm"/>
          </a:ln>
        </p:spPr>
      </p:cxnSp>
      <p:sp>
        <p:nvSpPr>
          <p:cNvPr id="19" name="TextBox 18"/>
          <p:cNvSpPr txBox="1"/>
          <p:nvPr/>
        </p:nvSpPr>
        <p:spPr>
          <a:xfrm>
            <a:off x="4297680" y="3355848"/>
            <a:ext cx="3611880" cy="237744"/>
          </a:xfrm>
          <a:prstGeom prst="rect">
            <a:avLst/>
          </a:prstGeom>
          <a:noFill/>
        </p:spPr>
        <p:txBody>
          <a:bodyPr wrap="none" anchor="ctr" lIns="0" rIns="0" tIns="0" bIns="0">
            <a:spAutoFit/>
          </a:bodyPr>
          <a:lstStyle/>
          <a:p>
            <a:pPr algn="ctr"/>
            <a:r>
              <a:rPr sz="800" b="1" i="0" lang="en-US" spc="150">
                <a:solidFill>
                  <a:srgbClr val="9A9AA2"/>
                </a:solidFill>
                <a:latin typeface="Plus Jakarta Sans"/>
                <a:cs typeface="Plus Jakarta Sans"/>
              </a:rPr>
              <a:t>INDEXED KNOWLEDGE</a:t>
            </a:r>
          </a:p>
        </p:txBody>
      </p:sp>
      <p:cxnSp>
        <p:nvCxnSpPr>
          <p:cNvPr id="20" name="Connector 19"/>
          <p:cNvCxnSpPr/>
          <p:nvPr/>
        </p:nvCxnSpPr>
        <p:spPr>
          <a:xfrm>
            <a:off x="685800" y="3474720"/>
            <a:ext cx="3538728" cy="0"/>
          </a:xfrm>
          <a:prstGeom prst="line">
            <a:avLst/>
          </a:prstGeom>
          <a:ln w="12700">
            <a:solidFill>
              <a:srgbClr val="E7E7EA"/>
            </a:solidFill>
          </a:ln>
        </p:spPr>
      </p:cxnSp>
      <p:cxnSp>
        <p:nvCxnSpPr>
          <p:cNvPr id="21" name="Connector 20"/>
          <p:cNvCxnSpPr/>
          <p:nvPr/>
        </p:nvCxnSpPr>
        <p:spPr>
          <a:xfrm>
            <a:off x="7973568" y="3474720"/>
            <a:ext cx="3532601" cy="0"/>
          </a:xfrm>
          <a:prstGeom prst="line">
            <a:avLst/>
          </a:prstGeom>
          <a:ln w="12700">
            <a:solidFill>
              <a:srgbClr val="E7E7EA"/>
            </a:solidFill>
          </a:ln>
        </p:spPr>
      </p:cxnSp>
      <p:cxnSp>
        <p:nvCxnSpPr>
          <p:cNvPr id="22" name="Connector 21"/>
          <p:cNvCxnSpPr/>
          <p:nvPr/>
        </p:nvCxnSpPr>
        <p:spPr>
          <a:xfrm>
            <a:off x="10269626" y="3255264"/>
            <a:ext cx="0" cy="768096"/>
          </a:xfrm>
          <a:prstGeom prst="line">
            <a:avLst/>
          </a:prstGeom>
          <a:ln w="17780">
            <a:solidFill>
              <a:srgbClr val="FF6B2C"/>
            </a:solidFill>
          </a:ln>
        </p:spPr>
      </p:cxnSp>
      <p:cxnSp>
        <p:nvCxnSpPr>
          <p:cNvPr id="23" name="Connector 22"/>
          <p:cNvCxnSpPr/>
          <p:nvPr/>
        </p:nvCxnSpPr>
        <p:spPr>
          <a:xfrm flipH="1">
            <a:off x="5230368" y="4023360"/>
            <a:ext cx="5039258" cy="0"/>
          </a:xfrm>
          <a:prstGeom prst="line">
            <a:avLst/>
          </a:prstGeom>
          <a:ln w="17780">
            <a:solidFill>
              <a:srgbClr val="FF6B2C"/>
            </a:solidFill>
          </a:ln>
        </p:spPr>
      </p:cxnSp>
      <p:cxnSp>
        <p:nvCxnSpPr>
          <p:cNvPr id="24" name="Connector 23"/>
          <p:cNvCxnSpPr/>
          <p:nvPr/>
        </p:nvCxnSpPr>
        <p:spPr>
          <a:xfrm>
            <a:off x="5170932" y="4023360"/>
            <a:ext cx="0" cy="146303"/>
          </a:xfrm>
          <a:prstGeom prst="line">
            <a:avLst/>
          </a:prstGeom>
          <a:ln w="17780">
            <a:solidFill>
              <a:srgbClr val="FF6B2C"/>
            </a:solidFill>
            <a:tailEnd type="triangle" w="sm" len="sm"/>
          </a:ln>
        </p:spPr>
      </p:cxnSp>
      <p:sp>
        <p:nvSpPr>
          <p:cNvPr id="25" name="TextBox 24"/>
          <p:cNvSpPr txBox="1"/>
          <p:nvPr/>
        </p:nvSpPr>
        <p:spPr>
          <a:xfrm>
            <a:off x="685800" y="3895344"/>
            <a:ext cx="7315200" cy="219456"/>
          </a:xfrm>
          <a:prstGeom prst="rect">
            <a:avLst/>
          </a:prstGeom>
          <a:noFill/>
        </p:spPr>
        <p:txBody>
          <a:bodyPr wrap="square" anchor="t" lIns="0" rIns="0" tIns="0" bIns="0">
            <a:spAutoFit/>
          </a:bodyPr>
          <a:lstStyle/>
          <a:p>
            <a:pPr algn="l"/>
            <a:r>
              <a:rPr sz="850" b="1" i="0" lang="en-US" spc="140">
                <a:solidFill>
                  <a:srgbClr val="9A9AA2"/>
                </a:solidFill>
                <a:latin typeface="Plus Jakarta Sans"/>
                <a:cs typeface="Plus Jakarta Sans"/>
              </a:rPr>
              <a:t>B · QUERY — WHEN THE USER ASKS</a:t>
            </a:r>
          </a:p>
        </p:txBody>
      </p:sp>
      <p:sp>
        <p:nvSpPr>
          <p:cNvPr id="26" name="Rounded Rectangle 25"/>
          <p:cNvSpPr/>
          <p:nvPr/>
        </p:nvSpPr>
        <p:spPr>
          <a:xfrm>
            <a:off x="685800"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USER
QUESTION</a:t>
            </a:r>
          </a:p>
        </p:txBody>
      </p:sp>
      <p:sp>
        <p:nvSpPr>
          <p:cNvPr id="27" name="Rounded Rectangle 26"/>
          <p:cNvSpPr/>
          <p:nvPr/>
        </p:nvSpPr>
        <p:spPr>
          <a:xfrm>
            <a:off x="2534914"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QUERY
REPRESENTATION</a:t>
            </a:r>
          </a:p>
        </p:txBody>
      </p:sp>
      <p:cxnSp>
        <p:nvCxnSpPr>
          <p:cNvPr id="28" name="Connector 27"/>
          <p:cNvCxnSpPr/>
          <p:nvPr/>
        </p:nvCxnSpPr>
        <p:spPr>
          <a:xfrm>
            <a:off x="2306314" y="4526279"/>
            <a:ext cx="182880" cy="0"/>
          </a:xfrm>
          <a:prstGeom prst="line">
            <a:avLst/>
          </a:prstGeom>
          <a:ln w="15875">
            <a:solidFill>
              <a:srgbClr val="9A9AA2"/>
            </a:solidFill>
            <a:tailEnd type="triangle" w="sm" len="sm"/>
          </a:ln>
        </p:spPr>
      </p:cxnSp>
      <p:sp>
        <p:nvSpPr>
          <p:cNvPr id="29" name="Rounded Rectangle 28"/>
          <p:cNvSpPr/>
          <p:nvPr/>
        </p:nvSpPr>
        <p:spPr>
          <a:xfrm>
            <a:off x="4384029"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RETRIEVE
TOP-K</a:t>
            </a:r>
          </a:p>
        </p:txBody>
      </p:sp>
      <p:cxnSp>
        <p:nvCxnSpPr>
          <p:cNvPr id="30" name="Connector 29"/>
          <p:cNvCxnSpPr/>
          <p:nvPr/>
        </p:nvCxnSpPr>
        <p:spPr>
          <a:xfrm>
            <a:off x="4155429" y="4526279"/>
            <a:ext cx="182880" cy="0"/>
          </a:xfrm>
          <a:prstGeom prst="line">
            <a:avLst/>
          </a:prstGeom>
          <a:ln w="15875">
            <a:solidFill>
              <a:srgbClr val="9A9AA2"/>
            </a:solidFill>
            <a:tailEnd type="triangle" w="sm" len="sm"/>
          </a:ln>
        </p:spPr>
      </p:cxnSp>
      <p:sp>
        <p:nvSpPr>
          <p:cNvPr id="31" name="Rounded Rectangle 30"/>
          <p:cNvSpPr/>
          <p:nvPr/>
        </p:nvSpPr>
        <p:spPr>
          <a:xfrm>
            <a:off x="6233144"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CONTEXT</a:t>
            </a:r>
          </a:p>
        </p:txBody>
      </p:sp>
      <p:cxnSp>
        <p:nvCxnSpPr>
          <p:cNvPr id="32" name="Connector 31"/>
          <p:cNvCxnSpPr/>
          <p:nvPr/>
        </p:nvCxnSpPr>
        <p:spPr>
          <a:xfrm>
            <a:off x="6004544" y="4526279"/>
            <a:ext cx="182880" cy="0"/>
          </a:xfrm>
          <a:prstGeom prst="line">
            <a:avLst/>
          </a:prstGeom>
          <a:ln w="15875">
            <a:solidFill>
              <a:srgbClr val="9A9AA2"/>
            </a:solidFill>
            <a:tailEnd type="triangle" w="sm" len="sm"/>
          </a:ln>
        </p:spPr>
      </p:cxnSp>
      <p:sp>
        <p:nvSpPr>
          <p:cNvPr id="33" name="Rounded Rectangle 32"/>
          <p:cNvSpPr/>
          <p:nvPr/>
        </p:nvSpPr>
        <p:spPr>
          <a:xfrm>
            <a:off x="8082259"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LLM</a:t>
            </a:r>
          </a:p>
        </p:txBody>
      </p:sp>
      <p:cxnSp>
        <p:nvCxnSpPr>
          <p:cNvPr id="34" name="Connector 33"/>
          <p:cNvCxnSpPr/>
          <p:nvPr/>
        </p:nvCxnSpPr>
        <p:spPr>
          <a:xfrm>
            <a:off x="7853659" y="4526279"/>
            <a:ext cx="182880" cy="0"/>
          </a:xfrm>
          <a:prstGeom prst="line">
            <a:avLst/>
          </a:prstGeom>
          <a:ln w="15875">
            <a:solidFill>
              <a:srgbClr val="9A9AA2"/>
            </a:solidFill>
            <a:tailEnd type="triangle" w="sm" len="sm"/>
          </a:ln>
        </p:spPr>
      </p:cxnSp>
      <p:sp>
        <p:nvSpPr>
          <p:cNvPr id="35" name="Rounded Rectangle 34"/>
          <p:cNvSpPr/>
          <p:nvPr/>
        </p:nvSpPr>
        <p:spPr>
          <a:xfrm>
            <a:off x="9931374" y="4169663"/>
            <a:ext cx="1574794" cy="713232"/>
          </a:xfrm>
          <a:prstGeom prst="roundRect">
            <a:avLst>
              <a:gd name="adj" fmla="val 11538"/>
            </a:avLst>
          </a:prstGeom>
          <a:solidFill>
            <a:srgbClr val="FAFAFB"/>
          </a:solidFill>
          <a:ln w="12700">
            <a:solidFill>
              <a:srgbClr val="E7E7EA"/>
            </a:solidFill>
          </a:ln>
          <a:effectLst/>
        </p:spPr>
        <p:txBody>
          <a:bodyPr rtlCol="0" anchor="ctr" wrap="square" lIns="45720" rIns="45720" tIns="18288" bIns="18288"/>
          <a:lstStyle/>
          <a:p>
            <a:pPr algn="ctr">
              <a:lnSpc>
                <a:spcPct val="104000"/>
              </a:lnSpc>
            </a:pPr>
            <a:r>
              <a:rPr sz="950" b="1" i="0" lang="en-US" spc="20">
                <a:solidFill>
                  <a:srgbClr val="0B0B0C"/>
                </a:solidFill>
                <a:latin typeface="Plus Jakarta Sans"/>
                <a:cs typeface="Plus Jakarta Sans"/>
              </a:rPr>
              <a:t>ANSWER</a:t>
            </a:r>
          </a:p>
        </p:txBody>
      </p:sp>
      <p:cxnSp>
        <p:nvCxnSpPr>
          <p:cNvPr id="36" name="Connector 35"/>
          <p:cNvCxnSpPr/>
          <p:nvPr/>
        </p:nvCxnSpPr>
        <p:spPr>
          <a:xfrm>
            <a:off x="9702774" y="4526279"/>
            <a:ext cx="182880" cy="0"/>
          </a:xfrm>
          <a:prstGeom prst="line">
            <a:avLst/>
          </a:prstGeom>
          <a:ln w="15875">
            <a:solidFill>
              <a:srgbClr val="9A9AA2"/>
            </a:solidFill>
            <a:tailEnd type="triangle" w="sm" len="sm"/>
          </a:ln>
        </p:spPr>
      </p:cxnSp>
      <p:cxnSp>
        <p:nvCxnSpPr>
          <p:cNvPr id="37" name="Connector 36"/>
          <p:cNvCxnSpPr/>
          <p:nvPr/>
        </p:nvCxnSpPr>
        <p:spPr>
          <a:xfrm>
            <a:off x="2057400" y="5138928"/>
            <a:ext cx="8077169" cy="0"/>
          </a:xfrm>
          <a:prstGeom prst="line">
            <a:avLst/>
          </a:prstGeom>
          <a:ln w="12700">
            <a:solidFill>
              <a:srgbClr val="E7E7EA"/>
            </a:solidFill>
          </a:ln>
        </p:spPr>
      </p:cxnSp>
      <p:sp>
        <p:nvSpPr>
          <p:cNvPr id="38" name="TextBox 37"/>
          <p:cNvSpPr txBox="1"/>
          <p:nvPr/>
        </p:nvSpPr>
        <p:spPr>
          <a:xfrm>
            <a:off x="685800" y="5376672"/>
            <a:ext cx="10820369" cy="640080"/>
          </a:xfrm>
          <a:prstGeom prst="rect">
            <a:avLst/>
          </a:prstGeom>
          <a:noFill/>
        </p:spPr>
        <p:txBody>
          <a:bodyPr wrap="square" anchor="t" lIns="0" rIns="0" tIns="0" bIns="0">
            <a:spAutoFit/>
          </a:bodyPr>
          <a:lstStyle/>
          <a:p>
            <a:pPr algn="ctr">
              <a:lnSpc>
                <a:spcPct val="135000"/>
              </a:lnSpc>
            </a:pPr>
            <a:r>
              <a:rPr sz="1450" b="0" i="0" lang="en-US" spc="-20">
                <a:solidFill>
                  <a:srgbClr val="63636B"/>
                </a:solidFill>
                <a:latin typeface="Plus Jakarta Sans"/>
                <a:cs typeface="Plus Jakarta Sans"/>
              </a:rPr>
              <a:t>The LLM doesn't search the whole knowledge base —</a:t>
            </a:r>
            <a:r>
              <a:rPr sz="1450" b="1" i="0" lang="en-US" spc="-20">
                <a:solidFill>
                  <a:srgbClr val="0B0B0C"/>
                </a:solidFill>
                <a:latin typeface="Plus Jakarta Sans"/>
                <a:cs typeface="Plus Jakarta Sans"/>
              </a:rPr>
              <a:t> a retrieval layer runs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TRADITIONAL RAG</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11</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FAILURE ANALYSIS</a:t>
            </a:r>
          </a:p>
        </p:txBody>
      </p:sp>
      <p:sp>
        <p:nvSpPr>
          <p:cNvPr id="9" name="TextBox 8"/>
          <p:cNvSpPr txBox="1"/>
          <p:nvPr/>
        </p:nvSpPr>
        <p:spPr>
          <a:xfrm>
            <a:off x="685800" y="1133856"/>
            <a:ext cx="10820369" cy="810090"/>
          </a:xfrm>
          <a:prstGeom prst="rect">
            <a:avLst/>
          </a:prstGeom>
          <a:noFill/>
        </p:spPr>
        <p:txBody>
          <a:bodyPr wrap="square" anchor="t" lIns="0" rIns="0" tIns="0" bIns="0">
            <a:spAutoFit/>
          </a:bodyPr>
          <a:lstStyle/>
          <a:p>
            <a:pPr algn="l">
              <a:lnSpc>
                <a:spcPct val="110000"/>
              </a:lnSpc>
            </a:pPr>
            <a:r>
              <a:rPr sz="2900" b="1" i="0" lang="en-US" spc="-60">
                <a:solidFill>
                  <a:srgbClr val="0B0B0C"/>
                </a:solidFill>
                <a:latin typeface="Plus Jakarta Sans"/>
                <a:cs typeface="Plus Jakarta Sans"/>
              </a:rPr>
              <a:t>RAG Can Break Before the LLM Answers</a:t>
            </a:r>
          </a:p>
        </p:txBody>
      </p:sp>
      <p:sp>
        <p:nvSpPr>
          <p:cNvPr id="10" name="TextBox 9"/>
          <p:cNvSpPr txBox="1"/>
          <p:nvPr/>
        </p:nvSpPr>
        <p:spPr>
          <a:xfrm>
            <a:off x="685800" y="1889082"/>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Every stage can fail. Debug the first stage where the system became wrong.</a:t>
            </a:r>
          </a:p>
        </p:txBody>
      </p:sp>
      <p:sp>
        <p:nvSpPr>
          <p:cNvPr id="11" name="Rounded Rectangle 10"/>
          <p:cNvSpPr/>
          <p:nvPr/>
        </p:nvSpPr>
        <p:spPr>
          <a:xfrm>
            <a:off x="685800" y="2331720"/>
            <a:ext cx="1944014" cy="676656"/>
          </a:xfrm>
          <a:prstGeom prst="roundRect">
            <a:avLst>
              <a:gd name="adj" fmla="val 10810"/>
            </a:avLst>
          </a:prstGeom>
          <a:solidFill>
            <a:srgbClr val="FFFFFF"/>
          </a:solidFill>
          <a:ln w="12700">
            <a:solidFill>
              <a:srgbClr val="E7E7EA"/>
            </a:solidFill>
          </a:ln>
          <a:effectLst/>
        </p:spPr>
        <p:txBody>
          <a:bodyPr rtlCol="0" anchor="ctr" wrap="square"/>
          <a:lstStyle/>
          <a:p>
            <a:pPr algn="ctr"/>
          </a:p>
        </p:txBody>
      </p:sp>
      <p:sp>
        <p:nvSpPr>
          <p:cNvPr id="12" name="TextBox 11"/>
          <p:cNvSpPr txBox="1"/>
          <p:nvPr/>
        </p:nvSpPr>
        <p:spPr>
          <a:xfrm>
            <a:off x="685800" y="2404872"/>
            <a:ext cx="1944014" cy="182880"/>
          </a:xfrm>
          <a:prstGeom prst="rect">
            <a:avLst/>
          </a:prstGeom>
          <a:noFill/>
        </p:spPr>
        <p:txBody>
          <a:bodyPr wrap="square" anchor="t" lIns="0" rIns="0" tIns="0" bIns="0">
            <a:spAutoFit/>
          </a:bodyPr>
          <a:lstStyle/>
          <a:p>
            <a:pPr algn="ctr"/>
            <a:r>
              <a:rPr sz="800" b="1" i="0" lang="en-US" spc="100">
                <a:solidFill>
                  <a:srgbClr val="FF6B2C"/>
                </a:solidFill>
                <a:latin typeface="Plus Jakarta Sans"/>
                <a:cs typeface="Plus Jakarta Sans"/>
              </a:rPr>
              <a:t>01</a:t>
            </a:r>
          </a:p>
        </p:txBody>
      </p:sp>
      <p:sp>
        <p:nvSpPr>
          <p:cNvPr id="13" name="TextBox 12"/>
          <p:cNvSpPr txBox="1"/>
          <p:nvPr/>
        </p:nvSpPr>
        <p:spPr>
          <a:xfrm>
            <a:off x="685800" y="2596896"/>
            <a:ext cx="1944014" cy="292608"/>
          </a:xfrm>
          <a:prstGeom prst="rect">
            <a:avLst/>
          </a:prstGeom>
          <a:noFill/>
        </p:spPr>
        <p:txBody>
          <a:bodyPr wrap="square" anchor="ctr" lIns="0" rIns="0" tIns="0" bIns="0">
            <a:spAutoFit/>
          </a:bodyPr>
          <a:lstStyle/>
          <a:p>
            <a:pPr algn="ctr"/>
            <a:r>
              <a:rPr sz="1100" b="1" i="0" lang="en-US" spc="20">
                <a:solidFill>
                  <a:srgbClr val="0B0B0C"/>
                </a:solidFill>
                <a:latin typeface="Plus Jakarta Sans"/>
                <a:cs typeface="Plus Jakarta Sans"/>
              </a:rPr>
              <a:t>CHUNKING</a:t>
            </a:r>
          </a:p>
        </p:txBody>
      </p:sp>
      <p:cxnSp>
        <p:nvCxnSpPr>
          <p:cNvPr id="14" name="Connector 13"/>
          <p:cNvCxnSpPr/>
          <p:nvPr/>
        </p:nvCxnSpPr>
        <p:spPr>
          <a:xfrm>
            <a:off x="2666390" y="2670048"/>
            <a:ext cx="201168" cy="0"/>
          </a:xfrm>
          <a:prstGeom prst="line">
            <a:avLst/>
          </a:prstGeom>
          <a:ln w="15240">
            <a:solidFill>
              <a:srgbClr val="9A9AA2"/>
            </a:solidFill>
            <a:tailEnd type="triangle" w="sm" len="sm"/>
          </a:ln>
        </p:spPr>
      </p:cxnSp>
      <p:sp>
        <p:nvSpPr>
          <p:cNvPr id="15" name="TextBox 14"/>
          <p:cNvSpPr txBox="1"/>
          <p:nvPr/>
        </p:nvSpPr>
        <p:spPr>
          <a:xfrm>
            <a:off x="722376" y="3182112"/>
            <a:ext cx="1870862" cy="777240"/>
          </a:xfrm>
          <a:prstGeom prst="rect">
            <a:avLst/>
          </a:prstGeom>
          <a:noFill/>
        </p:spPr>
        <p:txBody>
          <a:bodyPr wrap="square" anchor="t" lIns="0" rIns="0" tIns="0" bIns="0">
            <a:spAutoFit/>
          </a:bodyPr>
          <a:lstStyle/>
          <a:p>
            <a:pPr algn="ctr">
              <a:lnSpc>
                <a:spcPct val="145000"/>
              </a:lnSpc>
            </a:pPr>
            <a:r>
              <a:rPr sz="950" b="0" i="0" lang="en-US">
                <a:solidFill>
                  <a:srgbClr val="63636B"/>
                </a:solidFill>
                <a:latin typeface="Plus Jakarta Sans"/>
                <a:cs typeface="Plus Jakarta Sans"/>
              </a:rPr>
              <a:t>Splits documents into retrievable pieces.</a:t>
            </a:r>
          </a:p>
        </p:txBody>
      </p:sp>
      <p:sp>
        <p:nvSpPr>
          <p:cNvPr id="16" name="Rounded Rectangle 15"/>
          <p:cNvSpPr/>
          <p:nvPr/>
        </p:nvSpPr>
        <p:spPr>
          <a:xfrm>
            <a:off x="685800" y="4114800"/>
            <a:ext cx="1944014" cy="960120"/>
          </a:xfrm>
          <a:prstGeom prst="roundRect">
            <a:avLst>
              <a:gd name="adj" fmla="val 7619"/>
            </a:avLst>
          </a:prstGeom>
          <a:solidFill>
            <a:srgbClr val="FFF4EE"/>
          </a:solidFill>
          <a:ln w="12700">
            <a:solidFill>
              <a:srgbClr val="FFE6D8"/>
            </a:solidFill>
          </a:ln>
          <a:effectLst/>
        </p:spPr>
        <p:txBody>
          <a:bodyPr rtlCol="0" anchor="ctr" wrap="square"/>
          <a:lstStyle/>
          <a:p>
            <a:pPr algn="ctr"/>
          </a:p>
        </p:txBody>
      </p:sp>
      <p:sp>
        <p:nvSpPr>
          <p:cNvPr id="17" name="Rounded Rectangle 16"/>
          <p:cNvSpPr/>
          <p:nvPr/>
        </p:nvSpPr>
        <p:spPr>
          <a:xfrm>
            <a:off x="685800" y="4114800"/>
            <a:ext cx="1944014" cy="45720"/>
          </a:xfrm>
          <a:prstGeom prst="roundRect">
            <a:avLst>
              <a:gd name="adj" fmla="val 40000"/>
            </a:avLst>
          </a:prstGeom>
          <a:solidFill>
            <a:srgbClr val="FF6B2C"/>
          </a:solidFill>
          <a:ln>
            <a:noFill/>
          </a:ln>
          <a:effectLst/>
        </p:spPr>
        <p:txBody>
          <a:bodyPr rtlCol="0" anchor="ctr" wrap="square"/>
          <a:lstStyle/>
          <a:p>
            <a:pPr algn="ctr"/>
          </a:p>
        </p:txBody>
      </p:sp>
      <p:sp>
        <p:nvSpPr>
          <p:cNvPr id="18" name="TextBox 17"/>
          <p:cNvSpPr txBox="1"/>
          <p:nvPr/>
        </p:nvSpPr>
        <p:spPr>
          <a:xfrm>
            <a:off x="795528" y="4261104"/>
            <a:ext cx="1724558" cy="219456"/>
          </a:xfrm>
          <a:prstGeom prst="rect">
            <a:avLst/>
          </a:prstGeom>
          <a:noFill/>
        </p:spPr>
        <p:txBody>
          <a:bodyPr wrap="square" anchor="t" lIns="0" rIns="0" tIns="0" bIns="0">
            <a:spAutoFit/>
          </a:bodyPr>
          <a:lstStyle/>
          <a:p>
            <a:pPr algn="ctr"/>
            <a:r>
              <a:rPr sz="700" b="1" i="0" lang="en-US" spc="120">
                <a:solidFill>
                  <a:srgbClr val="FF6B2C"/>
                </a:solidFill>
                <a:latin typeface="Plus Jakarta Sans"/>
                <a:cs typeface="Plus Jakarta Sans"/>
              </a:rPr>
              <a:t>FAILS WHEN</a:t>
            </a:r>
          </a:p>
        </p:txBody>
      </p:sp>
      <p:sp>
        <p:nvSpPr>
          <p:cNvPr id="19" name="TextBox 18"/>
          <p:cNvSpPr txBox="1"/>
          <p:nvPr/>
        </p:nvSpPr>
        <p:spPr>
          <a:xfrm>
            <a:off x="795528" y="4498848"/>
            <a:ext cx="1724558" cy="502920"/>
          </a:xfrm>
          <a:prstGeom prst="rect">
            <a:avLst/>
          </a:prstGeom>
          <a:noFill/>
        </p:spPr>
        <p:txBody>
          <a:bodyPr wrap="square" anchor="t" lIns="0" rIns="0" tIns="0" bIns="0">
            <a:spAutoFit/>
          </a:bodyPr>
          <a:lstStyle/>
          <a:p>
            <a:pPr algn="ctr">
              <a:lnSpc>
                <a:spcPct val="140000"/>
              </a:lnSpc>
            </a:pPr>
            <a:r>
              <a:rPr sz="950" b="0" i="0" lang="en-US">
                <a:solidFill>
                  <a:srgbClr val="222225"/>
                </a:solidFill>
                <a:latin typeface="Plus Jakarta Sans"/>
                <a:cs typeface="Plus Jakarta Sans"/>
              </a:rPr>
              <a:t>Useful information split badly.</a:t>
            </a:r>
          </a:p>
        </p:txBody>
      </p:sp>
      <p:sp>
        <p:nvSpPr>
          <p:cNvPr id="20" name="Rounded Rectangle 19"/>
          <p:cNvSpPr/>
          <p:nvPr/>
        </p:nvSpPr>
        <p:spPr>
          <a:xfrm>
            <a:off x="2904134" y="2331720"/>
            <a:ext cx="1944014" cy="676656"/>
          </a:xfrm>
          <a:prstGeom prst="roundRect">
            <a:avLst>
              <a:gd name="adj" fmla="val 10810"/>
            </a:avLst>
          </a:prstGeom>
          <a:solidFill>
            <a:srgbClr val="FFFFFF"/>
          </a:solidFill>
          <a:ln w="12700">
            <a:solidFill>
              <a:srgbClr val="E7E7EA"/>
            </a:solidFill>
          </a:ln>
          <a:effectLst/>
        </p:spPr>
        <p:txBody>
          <a:bodyPr rtlCol="0" anchor="ctr" wrap="square"/>
          <a:lstStyle/>
          <a:p>
            <a:pPr algn="ctr"/>
          </a:p>
        </p:txBody>
      </p:sp>
      <p:sp>
        <p:nvSpPr>
          <p:cNvPr id="21" name="TextBox 20"/>
          <p:cNvSpPr txBox="1"/>
          <p:nvPr/>
        </p:nvSpPr>
        <p:spPr>
          <a:xfrm>
            <a:off x="2904134" y="2404872"/>
            <a:ext cx="1944014" cy="182880"/>
          </a:xfrm>
          <a:prstGeom prst="rect">
            <a:avLst/>
          </a:prstGeom>
          <a:noFill/>
        </p:spPr>
        <p:txBody>
          <a:bodyPr wrap="square" anchor="t" lIns="0" rIns="0" tIns="0" bIns="0">
            <a:spAutoFit/>
          </a:bodyPr>
          <a:lstStyle/>
          <a:p>
            <a:pPr algn="ctr"/>
            <a:r>
              <a:rPr sz="800" b="1" i="0" lang="en-US" spc="100">
                <a:solidFill>
                  <a:srgbClr val="FF6B2C"/>
                </a:solidFill>
                <a:latin typeface="Plus Jakarta Sans"/>
                <a:cs typeface="Plus Jakarta Sans"/>
              </a:rPr>
              <a:t>02</a:t>
            </a:r>
          </a:p>
        </p:txBody>
      </p:sp>
      <p:sp>
        <p:nvSpPr>
          <p:cNvPr id="22" name="TextBox 21"/>
          <p:cNvSpPr txBox="1"/>
          <p:nvPr/>
        </p:nvSpPr>
        <p:spPr>
          <a:xfrm>
            <a:off x="2904134" y="2596896"/>
            <a:ext cx="1944014" cy="292608"/>
          </a:xfrm>
          <a:prstGeom prst="rect">
            <a:avLst/>
          </a:prstGeom>
          <a:noFill/>
        </p:spPr>
        <p:txBody>
          <a:bodyPr wrap="square" anchor="ctr" lIns="0" rIns="0" tIns="0" bIns="0">
            <a:spAutoFit/>
          </a:bodyPr>
          <a:lstStyle/>
          <a:p>
            <a:pPr algn="ctr"/>
            <a:r>
              <a:rPr sz="1100" b="1" i="0" lang="en-US" spc="20">
                <a:solidFill>
                  <a:srgbClr val="0B0B0C"/>
                </a:solidFill>
                <a:latin typeface="Plus Jakarta Sans"/>
                <a:cs typeface="Plus Jakarta Sans"/>
              </a:rPr>
              <a:t>INDEXING</a:t>
            </a:r>
          </a:p>
        </p:txBody>
      </p:sp>
      <p:cxnSp>
        <p:nvCxnSpPr>
          <p:cNvPr id="23" name="Connector 22"/>
          <p:cNvCxnSpPr/>
          <p:nvPr/>
        </p:nvCxnSpPr>
        <p:spPr>
          <a:xfrm>
            <a:off x="4884724" y="2670048"/>
            <a:ext cx="201168" cy="0"/>
          </a:xfrm>
          <a:prstGeom prst="line">
            <a:avLst/>
          </a:prstGeom>
          <a:ln w="15240">
            <a:solidFill>
              <a:srgbClr val="9A9AA2"/>
            </a:solidFill>
            <a:tailEnd type="triangle" w="sm" len="sm"/>
          </a:ln>
        </p:spPr>
      </p:cxnSp>
      <p:sp>
        <p:nvSpPr>
          <p:cNvPr id="24" name="TextBox 23"/>
          <p:cNvSpPr txBox="1"/>
          <p:nvPr/>
        </p:nvSpPr>
        <p:spPr>
          <a:xfrm>
            <a:off x="2940710" y="3182112"/>
            <a:ext cx="1870862" cy="777240"/>
          </a:xfrm>
          <a:prstGeom prst="rect">
            <a:avLst/>
          </a:prstGeom>
          <a:noFill/>
        </p:spPr>
        <p:txBody>
          <a:bodyPr wrap="square" anchor="t" lIns="0" rIns="0" tIns="0" bIns="0">
            <a:spAutoFit/>
          </a:bodyPr>
          <a:lstStyle/>
          <a:p>
            <a:pPr algn="ctr">
              <a:lnSpc>
                <a:spcPct val="145000"/>
              </a:lnSpc>
            </a:pPr>
            <a:r>
              <a:rPr sz="950" b="0" i="0" lang="en-US">
                <a:solidFill>
                  <a:srgbClr val="63636B"/>
                </a:solidFill>
                <a:latin typeface="Plus Jakarta Sans"/>
                <a:cs typeface="Plus Jakarta Sans"/>
              </a:rPr>
              <a:t>Writes chunks into the search index.</a:t>
            </a:r>
          </a:p>
        </p:txBody>
      </p:sp>
      <p:sp>
        <p:nvSpPr>
          <p:cNvPr id="25" name="Rounded Rectangle 24"/>
          <p:cNvSpPr/>
          <p:nvPr/>
        </p:nvSpPr>
        <p:spPr>
          <a:xfrm>
            <a:off x="2904134" y="4114800"/>
            <a:ext cx="1944014" cy="960120"/>
          </a:xfrm>
          <a:prstGeom prst="roundRect">
            <a:avLst>
              <a:gd name="adj" fmla="val 7619"/>
            </a:avLst>
          </a:prstGeom>
          <a:solidFill>
            <a:srgbClr val="FFF4EE"/>
          </a:solidFill>
          <a:ln w="12700">
            <a:solidFill>
              <a:srgbClr val="FFE6D8"/>
            </a:solidFill>
          </a:ln>
          <a:effectLst/>
        </p:spPr>
        <p:txBody>
          <a:bodyPr rtlCol="0" anchor="ctr" wrap="square"/>
          <a:lstStyle/>
          <a:p>
            <a:pPr algn="ctr"/>
          </a:p>
        </p:txBody>
      </p:sp>
      <p:sp>
        <p:nvSpPr>
          <p:cNvPr id="26" name="Rounded Rectangle 25"/>
          <p:cNvSpPr/>
          <p:nvPr/>
        </p:nvSpPr>
        <p:spPr>
          <a:xfrm>
            <a:off x="2904134" y="4114800"/>
            <a:ext cx="1944014" cy="45720"/>
          </a:xfrm>
          <a:prstGeom prst="roundRect">
            <a:avLst>
              <a:gd name="adj" fmla="val 40000"/>
            </a:avLst>
          </a:prstGeom>
          <a:solidFill>
            <a:srgbClr val="FF6B2C"/>
          </a:solidFill>
          <a:ln>
            <a:noFill/>
          </a:ln>
          <a:effectLst/>
        </p:spPr>
        <p:txBody>
          <a:bodyPr rtlCol="0" anchor="ctr" wrap="square"/>
          <a:lstStyle/>
          <a:p>
            <a:pPr algn="ctr"/>
          </a:p>
        </p:txBody>
      </p:sp>
      <p:sp>
        <p:nvSpPr>
          <p:cNvPr id="27" name="TextBox 26"/>
          <p:cNvSpPr txBox="1"/>
          <p:nvPr/>
        </p:nvSpPr>
        <p:spPr>
          <a:xfrm>
            <a:off x="3013862" y="4261104"/>
            <a:ext cx="1724558" cy="219456"/>
          </a:xfrm>
          <a:prstGeom prst="rect">
            <a:avLst/>
          </a:prstGeom>
          <a:noFill/>
        </p:spPr>
        <p:txBody>
          <a:bodyPr wrap="square" anchor="t" lIns="0" rIns="0" tIns="0" bIns="0">
            <a:spAutoFit/>
          </a:bodyPr>
          <a:lstStyle/>
          <a:p>
            <a:pPr algn="ctr"/>
            <a:r>
              <a:rPr sz="700" b="1" i="0" lang="en-US" spc="120">
                <a:solidFill>
                  <a:srgbClr val="FF6B2C"/>
                </a:solidFill>
                <a:latin typeface="Plus Jakarta Sans"/>
                <a:cs typeface="Plus Jakarta Sans"/>
              </a:rPr>
              <a:t>FAILS WHEN</a:t>
            </a:r>
          </a:p>
        </p:txBody>
      </p:sp>
      <p:sp>
        <p:nvSpPr>
          <p:cNvPr id="28" name="TextBox 27"/>
          <p:cNvSpPr txBox="1"/>
          <p:nvPr/>
        </p:nvSpPr>
        <p:spPr>
          <a:xfrm>
            <a:off x="3013862" y="4498848"/>
            <a:ext cx="1724558" cy="502920"/>
          </a:xfrm>
          <a:prstGeom prst="rect">
            <a:avLst/>
          </a:prstGeom>
          <a:noFill/>
        </p:spPr>
        <p:txBody>
          <a:bodyPr wrap="square" anchor="t" lIns="0" rIns="0" tIns="0" bIns="0">
            <a:spAutoFit/>
          </a:bodyPr>
          <a:lstStyle/>
          <a:p>
            <a:pPr algn="ctr">
              <a:lnSpc>
                <a:spcPct val="140000"/>
              </a:lnSpc>
            </a:pPr>
            <a:r>
              <a:rPr sz="950" b="0" i="0" lang="en-US">
                <a:solidFill>
                  <a:srgbClr val="222225"/>
                </a:solidFill>
                <a:latin typeface="Plus Jakarta Sans"/>
                <a:cs typeface="Plus Jakarta Sans"/>
              </a:rPr>
              <a:t>Knowledge never gets indexed.</a:t>
            </a:r>
          </a:p>
        </p:txBody>
      </p:sp>
      <p:sp>
        <p:nvSpPr>
          <p:cNvPr id="29" name="Rounded Rectangle 28"/>
          <p:cNvSpPr/>
          <p:nvPr/>
        </p:nvSpPr>
        <p:spPr>
          <a:xfrm>
            <a:off x="5122468" y="2331720"/>
            <a:ext cx="1944014" cy="676656"/>
          </a:xfrm>
          <a:prstGeom prst="roundRect">
            <a:avLst>
              <a:gd name="adj" fmla="val 10810"/>
            </a:avLst>
          </a:prstGeom>
          <a:solidFill>
            <a:srgbClr val="FFFFFF"/>
          </a:solidFill>
          <a:ln w="12700">
            <a:solidFill>
              <a:srgbClr val="E7E7EA"/>
            </a:solidFill>
          </a:ln>
          <a:effectLst/>
        </p:spPr>
        <p:txBody>
          <a:bodyPr rtlCol="0" anchor="ctr" wrap="square"/>
          <a:lstStyle/>
          <a:p>
            <a:pPr algn="ctr"/>
          </a:p>
        </p:txBody>
      </p:sp>
      <p:sp>
        <p:nvSpPr>
          <p:cNvPr id="30" name="TextBox 29"/>
          <p:cNvSpPr txBox="1"/>
          <p:nvPr/>
        </p:nvSpPr>
        <p:spPr>
          <a:xfrm>
            <a:off x="5122468" y="2404872"/>
            <a:ext cx="1944014" cy="182880"/>
          </a:xfrm>
          <a:prstGeom prst="rect">
            <a:avLst/>
          </a:prstGeom>
          <a:noFill/>
        </p:spPr>
        <p:txBody>
          <a:bodyPr wrap="square" anchor="t" lIns="0" rIns="0" tIns="0" bIns="0">
            <a:spAutoFit/>
          </a:bodyPr>
          <a:lstStyle/>
          <a:p>
            <a:pPr algn="ctr"/>
            <a:r>
              <a:rPr sz="800" b="1" i="0" lang="en-US" spc="100">
                <a:solidFill>
                  <a:srgbClr val="FF6B2C"/>
                </a:solidFill>
                <a:latin typeface="Plus Jakarta Sans"/>
                <a:cs typeface="Plus Jakarta Sans"/>
              </a:rPr>
              <a:t>03</a:t>
            </a:r>
          </a:p>
        </p:txBody>
      </p:sp>
      <p:sp>
        <p:nvSpPr>
          <p:cNvPr id="31" name="TextBox 30"/>
          <p:cNvSpPr txBox="1"/>
          <p:nvPr/>
        </p:nvSpPr>
        <p:spPr>
          <a:xfrm>
            <a:off x="5122468" y="2596896"/>
            <a:ext cx="1944014" cy="292608"/>
          </a:xfrm>
          <a:prstGeom prst="rect">
            <a:avLst/>
          </a:prstGeom>
          <a:noFill/>
        </p:spPr>
        <p:txBody>
          <a:bodyPr wrap="square" anchor="ctr" lIns="0" rIns="0" tIns="0" bIns="0">
            <a:spAutoFit/>
          </a:bodyPr>
          <a:lstStyle/>
          <a:p>
            <a:pPr algn="ctr"/>
            <a:r>
              <a:rPr sz="1100" b="1" i="0" lang="en-US" spc="20">
                <a:solidFill>
                  <a:srgbClr val="0B0B0C"/>
                </a:solidFill>
                <a:latin typeface="Plus Jakarta Sans"/>
                <a:cs typeface="Plus Jakarta Sans"/>
              </a:rPr>
              <a:t>RETRIEVAL</a:t>
            </a:r>
          </a:p>
        </p:txBody>
      </p:sp>
      <p:cxnSp>
        <p:nvCxnSpPr>
          <p:cNvPr id="32" name="Connector 31"/>
          <p:cNvCxnSpPr/>
          <p:nvPr/>
        </p:nvCxnSpPr>
        <p:spPr>
          <a:xfrm>
            <a:off x="7103059" y="2670048"/>
            <a:ext cx="201168" cy="0"/>
          </a:xfrm>
          <a:prstGeom prst="line">
            <a:avLst/>
          </a:prstGeom>
          <a:ln w="15240">
            <a:solidFill>
              <a:srgbClr val="9A9AA2"/>
            </a:solidFill>
            <a:tailEnd type="triangle" w="sm" len="sm"/>
          </a:ln>
        </p:spPr>
      </p:cxnSp>
      <p:sp>
        <p:nvSpPr>
          <p:cNvPr id="33" name="TextBox 32"/>
          <p:cNvSpPr txBox="1"/>
          <p:nvPr/>
        </p:nvSpPr>
        <p:spPr>
          <a:xfrm>
            <a:off x="5159044" y="3182112"/>
            <a:ext cx="1870862" cy="777240"/>
          </a:xfrm>
          <a:prstGeom prst="rect">
            <a:avLst/>
          </a:prstGeom>
          <a:noFill/>
        </p:spPr>
        <p:txBody>
          <a:bodyPr wrap="square" anchor="t" lIns="0" rIns="0" tIns="0" bIns="0">
            <a:spAutoFit/>
          </a:bodyPr>
          <a:lstStyle/>
          <a:p>
            <a:pPr algn="ctr">
              <a:lnSpc>
                <a:spcPct val="145000"/>
              </a:lnSpc>
            </a:pPr>
            <a:r>
              <a:rPr sz="950" b="0" i="0" lang="en-US">
                <a:solidFill>
                  <a:srgbClr val="63636B"/>
                </a:solidFill>
                <a:latin typeface="Plus Jakarta Sans"/>
                <a:cs typeface="Plus Jakarta Sans"/>
              </a:rPr>
              <a:t>Finds top-k chunks for the question.</a:t>
            </a:r>
          </a:p>
        </p:txBody>
      </p:sp>
      <p:sp>
        <p:nvSpPr>
          <p:cNvPr id="34" name="Rounded Rectangle 33"/>
          <p:cNvSpPr/>
          <p:nvPr/>
        </p:nvSpPr>
        <p:spPr>
          <a:xfrm>
            <a:off x="5122468" y="4114800"/>
            <a:ext cx="1944014" cy="960120"/>
          </a:xfrm>
          <a:prstGeom prst="roundRect">
            <a:avLst>
              <a:gd name="adj" fmla="val 7619"/>
            </a:avLst>
          </a:prstGeom>
          <a:solidFill>
            <a:srgbClr val="FFF4EE"/>
          </a:solidFill>
          <a:ln w="12700">
            <a:solidFill>
              <a:srgbClr val="FFE6D8"/>
            </a:solidFill>
          </a:ln>
          <a:effectLst/>
        </p:spPr>
        <p:txBody>
          <a:bodyPr rtlCol="0" anchor="ctr" wrap="square"/>
          <a:lstStyle/>
          <a:p>
            <a:pPr algn="ctr"/>
          </a:p>
        </p:txBody>
      </p:sp>
      <p:sp>
        <p:nvSpPr>
          <p:cNvPr id="35" name="Rounded Rectangle 34"/>
          <p:cNvSpPr/>
          <p:nvPr/>
        </p:nvSpPr>
        <p:spPr>
          <a:xfrm>
            <a:off x="5122468" y="4114800"/>
            <a:ext cx="1944014" cy="45720"/>
          </a:xfrm>
          <a:prstGeom prst="roundRect">
            <a:avLst>
              <a:gd name="adj" fmla="val 40000"/>
            </a:avLst>
          </a:prstGeom>
          <a:solidFill>
            <a:srgbClr val="FF6B2C"/>
          </a:solidFill>
          <a:ln>
            <a:noFill/>
          </a:ln>
          <a:effectLst/>
        </p:spPr>
        <p:txBody>
          <a:bodyPr rtlCol="0" anchor="ctr" wrap="square"/>
          <a:lstStyle/>
          <a:p>
            <a:pPr algn="ctr"/>
          </a:p>
        </p:txBody>
      </p:sp>
      <p:sp>
        <p:nvSpPr>
          <p:cNvPr id="36" name="TextBox 35"/>
          <p:cNvSpPr txBox="1"/>
          <p:nvPr/>
        </p:nvSpPr>
        <p:spPr>
          <a:xfrm>
            <a:off x="5232196" y="4261104"/>
            <a:ext cx="1724558" cy="219456"/>
          </a:xfrm>
          <a:prstGeom prst="rect">
            <a:avLst/>
          </a:prstGeom>
          <a:noFill/>
        </p:spPr>
        <p:txBody>
          <a:bodyPr wrap="square" anchor="t" lIns="0" rIns="0" tIns="0" bIns="0">
            <a:spAutoFit/>
          </a:bodyPr>
          <a:lstStyle/>
          <a:p>
            <a:pPr algn="ctr"/>
            <a:r>
              <a:rPr sz="700" b="1" i="0" lang="en-US" spc="120">
                <a:solidFill>
                  <a:srgbClr val="FF6B2C"/>
                </a:solidFill>
                <a:latin typeface="Plus Jakarta Sans"/>
                <a:cs typeface="Plus Jakarta Sans"/>
              </a:rPr>
              <a:t>FAILS WHEN</a:t>
            </a:r>
          </a:p>
        </p:txBody>
      </p:sp>
      <p:sp>
        <p:nvSpPr>
          <p:cNvPr id="37" name="TextBox 36"/>
          <p:cNvSpPr txBox="1"/>
          <p:nvPr/>
        </p:nvSpPr>
        <p:spPr>
          <a:xfrm>
            <a:off x="5232196" y="4498848"/>
            <a:ext cx="1724558" cy="502920"/>
          </a:xfrm>
          <a:prstGeom prst="rect">
            <a:avLst/>
          </a:prstGeom>
          <a:noFill/>
        </p:spPr>
        <p:txBody>
          <a:bodyPr wrap="square" anchor="t" lIns="0" rIns="0" tIns="0" bIns="0">
            <a:spAutoFit/>
          </a:bodyPr>
          <a:lstStyle/>
          <a:p>
            <a:pPr algn="ctr">
              <a:lnSpc>
                <a:spcPct val="140000"/>
              </a:lnSpc>
            </a:pPr>
            <a:r>
              <a:rPr sz="950" b="0" i="0" lang="en-US">
                <a:solidFill>
                  <a:srgbClr val="222225"/>
                </a:solidFill>
                <a:latin typeface="Plus Jakarta Sans"/>
                <a:cs typeface="Plus Jakarta Sans"/>
              </a:rPr>
              <a:t>Wrong or zero results.</a:t>
            </a:r>
          </a:p>
        </p:txBody>
      </p:sp>
      <p:sp>
        <p:nvSpPr>
          <p:cNvPr id="38" name="Rounded Rectangle 37"/>
          <p:cNvSpPr/>
          <p:nvPr/>
        </p:nvSpPr>
        <p:spPr>
          <a:xfrm>
            <a:off x="7340803" y="2331720"/>
            <a:ext cx="1944014" cy="676656"/>
          </a:xfrm>
          <a:prstGeom prst="roundRect">
            <a:avLst>
              <a:gd name="adj" fmla="val 10810"/>
            </a:avLst>
          </a:prstGeom>
          <a:solidFill>
            <a:srgbClr val="FFFFFF"/>
          </a:solidFill>
          <a:ln w="12700">
            <a:solidFill>
              <a:srgbClr val="E7E7EA"/>
            </a:solidFill>
          </a:ln>
          <a:effectLst/>
        </p:spPr>
        <p:txBody>
          <a:bodyPr rtlCol="0" anchor="ctr" wrap="square"/>
          <a:lstStyle/>
          <a:p>
            <a:pPr algn="ctr"/>
          </a:p>
        </p:txBody>
      </p:sp>
      <p:sp>
        <p:nvSpPr>
          <p:cNvPr id="39" name="TextBox 38"/>
          <p:cNvSpPr txBox="1"/>
          <p:nvPr/>
        </p:nvSpPr>
        <p:spPr>
          <a:xfrm>
            <a:off x="7340803" y="2404872"/>
            <a:ext cx="1944014" cy="182880"/>
          </a:xfrm>
          <a:prstGeom prst="rect">
            <a:avLst/>
          </a:prstGeom>
          <a:noFill/>
        </p:spPr>
        <p:txBody>
          <a:bodyPr wrap="square" anchor="t" lIns="0" rIns="0" tIns="0" bIns="0">
            <a:spAutoFit/>
          </a:bodyPr>
          <a:lstStyle/>
          <a:p>
            <a:pPr algn="ctr"/>
            <a:r>
              <a:rPr sz="800" b="1" i="0" lang="en-US" spc="100">
                <a:solidFill>
                  <a:srgbClr val="FF6B2C"/>
                </a:solidFill>
                <a:latin typeface="Plus Jakarta Sans"/>
                <a:cs typeface="Plus Jakarta Sans"/>
              </a:rPr>
              <a:t>04</a:t>
            </a:r>
          </a:p>
        </p:txBody>
      </p:sp>
      <p:sp>
        <p:nvSpPr>
          <p:cNvPr id="40" name="TextBox 39"/>
          <p:cNvSpPr txBox="1"/>
          <p:nvPr/>
        </p:nvSpPr>
        <p:spPr>
          <a:xfrm>
            <a:off x="7340803" y="2596896"/>
            <a:ext cx="1944014" cy="292608"/>
          </a:xfrm>
          <a:prstGeom prst="rect">
            <a:avLst/>
          </a:prstGeom>
          <a:noFill/>
        </p:spPr>
        <p:txBody>
          <a:bodyPr wrap="square" anchor="ctr" lIns="0" rIns="0" tIns="0" bIns="0">
            <a:spAutoFit/>
          </a:bodyPr>
          <a:lstStyle/>
          <a:p>
            <a:pPr algn="ctr"/>
            <a:r>
              <a:rPr sz="1100" b="1" i="0" lang="en-US" spc="20">
                <a:solidFill>
                  <a:srgbClr val="0B0B0C"/>
                </a:solidFill>
                <a:latin typeface="Plus Jakarta Sans"/>
                <a:cs typeface="Plus Jakarta Sans"/>
              </a:rPr>
              <a:t>CONTEXT</a:t>
            </a:r>
          </a:p>
        </p:txBody>
      </p:sp>
      <p:cxnSp>
        <p:nvCxnSpPr>
          <p:cNvPr id="41" name="Connector 40"/>
          <p:cNvCxnSpPr/>
          <p:nvPr/>
        </p:nvCxnSpPr>
        <p:spPr>
          <a:xfrm>
            <a:off x="9321393" y="2670048"/>
            <a:ext cx="201168" cy="0"/>
          </a:xfrm>
          <a:prstGeom prst="line">
            <a:avLst/>
          </a:prstGeom>
          <a:ln w="15240">
            <a:solidFill>
              <a:srgbClr val="9A9AA2"/>
            </a:solidFill>
            <a:tailEnd type="triangle" w="sm" len="sm"/>
          </a:ln>
        </p:spPr>
      </p:cxnSp>
      <p:sp>
        <p:nvSpPr>
          <p:cNvPr id="42" name="TextBox 41"/>
          <p:cNvSpPr txBox="1"/>
          <p:nvPr/>
        </p:nvSpPr>
        <p:spPr>
          <a:xfrm>
            <a:off x="7377379" y="3182112"/>
            <a:ext cx="1870862" cy="777240"/>
          </a:xfrm>
          <a:prstGeom prst="rect">
            <a:avLst/>
          </a:prstGeom>
          <a:noFill/>
        </p:spPr>
        <p:txBody>
          <a:bodyPr wrap="square" anchor="t" lIns="0" rIns="0" tIns="0" bIns="0">
            <a:spAutoFit/>
          </a:bodyPr>
          <a:lstStyle/>
          <a:p>
            <a:pPr algn="ctr">
              <a:lnSpc>
                <a:spcPct val="145000"/>
              </a:lnSpc>
            </a:pPr>
            <a:r>
              <a:rPr sz="950" b="0" i="0" lang="en-US">
                <a:solidFill>
                  <a:srgbClr val="63636B"/>
                </a:solidFill>
                <a:latin typeface="Plus Jakarta Sans"/>
                <a:cs typeface="Plus Jakarta Sans"/>
              </a:rPr>
              <a:t>Assembles chunks into the prompt.</a:t>
            </a:r>
          </a:p>
        </p:txBody>
      </p:sp>
      <p:sp>
        <p:nvSpPr>
          <p:cNvPr id="43" name="Rounded Rectangle 42"/>
          <p:cNvSpPr/>
          <p:nvPr/>
        </p:nvSpPr>
        <p:spPr>
          <a:xfrm>
            <a:off x="7340803" y="4114800"/>
            <a:ext cx="1944014" cy="960120"/>
          </a:xfrm>
          <a:prstGeom prst="roundRect">
            <a:avLst>
              <a:gd name="adj" fmla="val 7619"/>
            </a:avLst>
          </a:prstGeom>
          <a:solidFill>
            <a:srgbClr val="FFF4EE"/>
          </a:solidFill>
          <a:ln w="12700">
            <a:solidFill>
              <a:srgbClr val="FFE6D8"/>
            </a:solidFill>
          </a:ln>
          <a:effectLst/>
        </p:spPr>
        <p:txBody>
          <a:bodyPr rtlCol="0" anchor="ctr" wrap="square"/>
          <a:lstStyle/>
          <a:p>
            <a:pPr algn="ctr"/>
          </a:p>
        </p:txBody>
      </p:sp>
      <p:sp>
        <p:nvSpPr>
          <p:cNvPr id="44" name="Rounded Rectangle 43"/>
          <p:cNvSpPr/>
          <p:nvPr/>
        </p:nvSpPr>
        <p:spPr>
          <a:xfrm>
            <a:off x="7340803" y="4114800"/>
            <a:ext cx="1944014" cy="45720"/>
          </a:xfrm>
          <a:prstGeom prst="roundRect">
            <a:avLst>
              <a:gd name="adj" fmla="val 40000"/>
            </a:avLst>
          </a:prstGeom>
          <a:solidFill>
            <a:srgbClr val="FF6B2C"/>
          </a:solidFill>
          <a:ln>
            <a:noFill/>
          </a:ln>
          <a:effectLst/>
        </p:spPr>
        <p:txBody>
          <a:bodyPr rtlCol="0" anchor="ctr" wrap="square"/>
          <a:lstStyle/>
          <a:p>
            <a:pPr algn="ctr"/>
          </a:p>
        </p:txBody>
      </p:sp>
      <p:sp>
        <p:nvSpPr>
          <p:cNvPr id="45" name="TextBox 44"/>
          <p:cNvSpPr txBox="1"/>
          <p:nvPr/>
        </p:nvSpPr>
        <p:spPr>
          <a:xfrm>
            <a:off x="7450531" y="4261104"/>
            <a:ext cx="1724558" cy="219456"/>
          </a:xfrm>
          <a:prstGeom prst="rect">
            <a:avLst/>
          </a:prstGeom>
          <a:noFill/>
        </p:spPr>
        <p:txBody>
          <a:bodyPr wrap="square" anchor="t" lIns="0" rIns="0" tIns="0" bIns="0">
            <a:spAutoFit/>
          </a:bodyPr>
          <a:lstStyle/>
          <a:p>
            <a:pPr algn="ctr"/>
            <a:r>
              <a:rPr sz="700" b="1" i="0" lang="en-US" spc="120">
                <a:solidFill>
                  <a:srgbClr val="FF6B2C"/>
                </a:solidFill>
                <a:latin typeface="Plus Jakarta Sans"/>
                <a:cs typeface="Plus Jakarta Sans"/>
              </a:rPr>
              <a:t>FAILS WHEN</a:t>
            </a:r>
          </a:p>
        </p:txBody>
      </p:sp>
      <p:sp>
        <p:nvSpPr>
          <p:cNvPr id="46" name="TextBox 45"/>
          <p:cNvSpPr txBox="1"/>
          <p:nvPr/>
        </p:nvSpPr>
        <p:spPr>
          <a:xfrm>
            <a:off x="7450531" y="4498848"/>
            <a:ext cx="1724558" cy="502920"/>
          </a:xfrm>
          <a:prstGeom prst="rect">
            <a:avLst/>
          </a:prstGeom>
          <a:noFill/>
        </p:spPr>
        <p:txBody>
          <a:bodyPr wrap="square" anchor="t" lIns="0" rIns="0" tIns="0" bIns="0">
            <a:spAutoFit/>
          </a:bodyPr>
          <a:lstStyle/>
          <a:p>
            <a:pPr algn="ctr">
              <a:lnSpc>
                <a:spcPct val="140000"/>
              </a:lnSpc>
            </a:pPr>
            <a:r>
              <a:rPr sz="950" b="0" i="0" lang="en-US">
                <a:solidFill>
                  <a:srgbClr val="222225"/>
                </a:solidFill>
                <a:latin typeface="Plus Jakarta Sans"/>
                <a:cs typeface="Plus Jakarta Sans"/>
              </a:rPr>
              <a:t>Right chunks, passed badly.</a:t>
            </a:r>
          </a:p>
        </p:txBody>
      </p:sp>
      <p:sp>
        <p:nvSpPr>
          <p:cNvPr id="47" name="Rounded Rectangle 46"/>
          <p:cNvSpPr/>
          <p:nvPr/>
        </p:nvSpPr>
        <p:spPr>
          <a:xfrm>
            <a:off x="9559137" y="2331720"/>
            <a:ext cx="1944014" cy="676656"/>
          </a:xfrm>
          <a:prstGeom prst="roundRect">
            <a:avLst>
              <a:gd name="adj" fmla="val 10810"/>
            </a:avLst>
          </a:prstGeom>
          <a:solidFill>
            <a:srgbClr val="FFFFFF"/>
          </a:solidFill>
          <a:ln w="12700">
            <a:solidFill>
              <a:srgbClr val="E7E7EA"/>
            </a:solidFill>
          </a:ln>
          <a:effectLst/>
        </p:spPr>
        <p:txBody>
          <a:bodyPr rtlCol="0" anchor="ctr" wrap="square"/>
          <a:lstStyle/>
          <a:p>
            <a:pPr algn="ctr"/>
          </a:p>
        </p:txBody>
      </p:sp>
      <p:sp>
        <p:nvSpPr>
          <p:cNvPr id="48" name="TextBox 47"/>
          <p:cNvSpPr txBox="1"/>
          <p:nvPr/>
        </p:nvSpPr>
        <p:spPr>
          <a:xfrm>
            <a:off x="9559137" y="2404872"/>
            <a:ext cx="1944014" cy="182880"/>
          </a:xfrm>
          <a:prstGeom prst="rect">
            <a:avLst/>
          </a:prstGeom>
          <a:noFill/>
        </p:spPr>
        <p:txBody>
          <a:bodyPr wrap="square" anchor="t" lIns="0" rIns="0" tIns="0" bIns="0">
            <a:spAutoFit/>
          </a:bodyPr>
          <a:lstStyle/>
          <a:p>
            <a:pPr algn="ctr"/>
            <a:r>
              <a:rPr sz="800" b="1" i="0" lang="en-US" spc="100">
                <a:solidFill>
                  <a:srgbClr val="FF6B2C"/>
                </a:solidFill>
                <a:latin typeface="Plus Jakarta Sans"/>
                <a:cs typeface="Plus Jakarta Sans"/>
              </a:rPr>
              <a:t>05</a:t>
            </a:r>
          </a:p>
        </p:txBody>
      </p:sp>
      <p:sp>
        <p:nvSpPr>
          <p:cNvPr id="49" name="TextBox 48"/>
          <p:cNvSpPr txBox="1"/>
          <p:nvPr/>
        </p:nvSpPr>
        <p:spPr>
          <a:xfrm>
            <a:off x="9559137" y="2596896"/>
            <a:ext cx="1944014" cy="292608"/>
          </a:xfrm>
          <a:prstGeom prst="rect">
            <a:avLst/>
          </a:prstGeom>
          <a:noFill/>
        </p:spPr>
        <p:txBody>
          <a:bodyPr wrap="square" anchor="ctr" lIns="0" rIns="0" tIns="0" bIns="0">
            <a:spAutoFit/>
          </a:bodyPr>
          <a:lstStyle/>
          <a:p>
            <a:pPr algn="ctr"/>
            <a:r>
              <a:rPr sz="1100" b="1" i="0" lang="en-US" spc="20">
                <a:solidFill>
                  <a:srgbClr val="0B0B0C"/>
                </a:solidFill>
                <a:latin typeface="Plus Jakarta Sans"/>
                <a:cs typeface="Plus Jakarta Sans"/>
              </a:rPr>
              <a:t>GENERATION</a:t>
            </a:r>
          </a:p>
        </p:txBody>
      </p:sp>
      <p:sp>
        <p:nvSpPr>
          <p:cNvPr id="50" name="TextBox 49"/>
          <p:cNvSpPr txBox="1"/>
          <p:nvPr/>
        </p:nvSpPr>
        <p:spPr>
          <a:xfrm>
            <a:off x="9595713" y="3182112"/>
            <a:ext cx="1870862" cy="777240"/>
          </a:xfrm>
          <a:prstGeom prst="rect">
            <a:avLst/>
          </a:prstGeom>
          <a:noFill/>
        </p:spPr>
        <p:txBody>
          <a:bodyPr wrap="square" anchor="t" lIns="0" rIns="0" tIns="0" bIns="0">
            <a:spAutoFit/>
          </a:bodyPr>
          <a:lstStyle/>
          <a:p>
            <a:pPr algn="ctr">
              <a:lnSpc>
                <a:spcPct val="145000"/>
              </a:lnSpc>
            </a:pPr>
            <a:r>
              <a:rPr sz="950" b="0" i="0" lang="en-US">
                <a:solidFill>
                  <a:srgbClr val="63636B"/>
                </a:solidFill>
                <a:latin typeface="Plus Jakarta Sans"/>
                <a:cs typeface="Plus Jakarta Sans"/>
              </a:rPr>
              <a:t>LLM writes the final answer.</a:t>
            </a:r>
          </a:p>
        </p:txBody>
      </p:sp>
      <p:sp>
        <p:nvSpPr>
          <p:cNvPr id="51" name="Rounded Rectangle 50"/>
          <p:cNvSpPr/>
          <p:nvPr/>
        </p:nvSpPr>
        <p:spPr>
          <a:xfrm>
            <a:off x="9559137" y="4114800"/>
            <a:ext cx="1944014" cy="960120"/>
          </a:xfrm>
          <a:prstGeom prst="roundRect">
            <a:avLst>
              <a:gd name="adj" fmla="val 7619"/>
            </a:avLst>
          </a:prstGeom>
          <a:solidFill>
            <a:srgbClr val="FFF4EE"/>
          </a:solidFill>
          <a:ln w="12700">
            <a:solidFill>
              <a:srgbClr val="FFE6D8"/>
            </a:solidFill>
          </a:ln>
          <a:effectLst/>
        </p:spPr>
        <p:txBody>
          <a:bodyPr rtlCol="0" anchor="ctr" wrap="square"/>
          <a:lstStyle/>
          <a:p>
            <a:pPr algn="ctr"/>
          </a:p>
        </p:txBody>
      </p:sp>
      <p:sp>
        <p:nvSpPr>
          <p:cNvPr id="52" name="Rounded Rectangle 51"/>
          <p:cNvSpPr/>
          <p:nvPr/>
        </p:nvSpPr>
        <p:spPr>
          <a:xfrm>
            <a:off x="9559137" y="4114800"/>
            <a:ext cx="1944014" cy="45720"/>
          </a:xfrm>
          <a:prstGeom prst="roundRect">
            <a:avLst>
              <a:gd name="adj" fmla="val 40000"/>
            </a:avLst>
          </a:prstGeom>
          <a:solidFill>
            <a:srgbClr val="FF6B2C"/>
          </a:solidFill>
          <a:ln>
            <a:noFill/>
          </a:ln>
          <a:effectLst/>
        </p:spPr>
        <p:txBody>
          <a:bodyPr rtlCol="0" anchor="ctr" wrap="square"/>
          <a:lstStyle/>
          <a:p>
            <a:pPr algn="ctr"/>
          </a:p>
        </p:txBody>
      </p:sp>
      <p:sp>
        <p:nvSpPr>
          <p:cNvPr id="53" name="TextBox 52"/>
          <p:cNvSpPr txBox="1"/>
          <p:nvPr/>
        </p:nvSpPr>
        <p:spPr>
          <a:xfrm>
            <a:off x="9668865" y="4261104"/>
            <a:ext cx="1724558" cy="219456"/>
          </a:xfrm>
          <a:prstGeom prst="rect">
            <a:avLst/>
          </a:prstGeom>
          <a:noFill/>
        </p:spPr>
        <p:txBody>
          <a:bodyPr wrap="square" anchor="t" lIns="0" rIns="0" tIns="0" bIns="0">
            <a:spAutoFit/>
          </a:bodyPr>
          <a:lstStyle/>
          <a:p>
            <a:pPr algn="ctr"/>
            <a:r>
              <a:rPr sz="700" b="1" i="0" lang="en-US" spc="120">
                <a:solidFill>
                  <a:srgbClr val="FF6B2C"/>
                </a:solidFill>
                <a:latin typeface="Plus Jakarta Sans"/>
                <a:cs typeface="Plus Jakarta Sans"/>
              </a:rPr>
              <a:t>FAILS WHEN</a:t>
            </a:r>
          </a:p>
        </p:txBody>
      </p:sp>
      <p:sp>
        <p:nvSpPr>
          <p:cNvPr id="54" name="TextBox 53"/>
          <p:cNvSpPr txBox="1"/>
          <p:nvPr/>
        </p:nvSpPr>
        <p:spPr>
          <a:xfrm>
            <a:off x="9668865" y="4498848"/>
            <a:ext cx="1724558" cy="502920"/>
          </a:xfrm>
          <a:prstGeom prst="rect">
            <a:avLst/>
          </a:prstGeom>
          <a:noFill/>
        </p:spPr>
        <p:txBody>
          <a:bodyPr wrap="square" anchor="t" lIns="0" rIns="0" tIns="0" bIns="0">
            <a:spAutoFit/>
          </a:bodyPr>
          <a:lstStyle/>
          <a:p>
            <a:pPr algn="ctr">
              <a:lnSpc>
                <a:spcPct val="140000"/>
              </a:lnSpc>
            </a:pPr>
            <a:r>
              <a:rPr sz="950" b="0" i="0" lang="en-US">
                <a:solidFill>
                  <a:srgbClr val="222225"/>
                </a:solidFill>
                <a:latin typeface="Plus Jakarta Sans"/>
                <a:cs typeface="Plus Jakarta Sans"/>
              </a:rPr>
              <a:t>Model gives a weak answer.</a:t>
            </a:r>
          </a:p>
        </p:txBody>
      </p:sp>
      <p:sp>
        <p:nvSpPr>
          <p:cNvPr id="55" name="Rounded Rectangle 54"/>
          <p:cNvSpPr/>
          <p:nvPr/>
        </p:nvSpPr>
        <p:spPr>
          <a:xfrm>
            <a:off x="685800" y="5504688"/>
            <a:ext cx="10820369" cy="713232"/>
          </a:xfrm>
          <a:prstGeom prst="roundRect">
            <a:avLst>
              <a:gd name="adj" fmla="val 12820"/>
            </a:avLst>
          </a:prstGeom>
          <a:solidFill>
            <a:srgbClr val="0B0B0C"/>
          </a:solidFill>
          <a:ln>
            <a:noFill/>
          </a:ln>
          <a:effectLst/>
        </p:spPr>
        <p:txBody>
          <a:bodyPr rtlCol="0" anchor="ctr" wrap="square"/>
          <a:lstStyle/>
          <a:p>
            <a:pPr algn="ctr"/>
          </a:p>
        </p:txBody>
      </p:sp>
      <p:sp>
        <p:nvSpPr>
          <p:cNvPr id="56" name="Rectangle 55"/>
          <p:cNvSpPr/>
          <p:nvPr/>
        </p:nvSpPr>
        <p:spPr>
          <a:xfrm>
            <a:off x="685800" y="5614416"/>
            <a:ext cx="45720" cy="493776"/>
          </a:xfrm>
          <a:prstGeom prst="rect">
            <a:avLst/>
          </a:prstGeom>
          <a:solidFill>
            <a:srgbClr val="FF6B2C"/>
          </a:solidFill>
          <a:ln>
            <a:noFill/>
          </a:ln>
          <a:effectLst/>
        </p:spPr>
        <p:txBody>
          <a:bodyPr rtlCol="0" anchor="ctr" wrap="square"/>
          <a:lstStyle/>
          <a:p>
            <a:pPr algn="ctr"/>
          </a:p>
        </p:txBody>
      </p:sp>
      <p:sp>
        <p:nvSpPr>
          <p:cNvPr id="57" name="TextBox 56"/>
          <p:cNvSpPr txBox="1"/>
          <p:nvPr/>
        </p:nvSpPr>
        <p:spPr>
          <a:xfrm>
            <a:off x="1051560" y="5504688"/>
            <a:ext cx="10088849" cy="713232"/>
          </a:xfrm>
          <a:prstGeom prst="rect">
            <a:avLst/>
          </a:prstGeom>
          <a:noFill/>
        </p:spPr>
        <p:txBody>
          <a:bodyPr wrap="square" anchor="ctr" lIns="0" rIns="0" tIns="0" bIns="0">
            <a:spAutoFit/>
          </a:bodyPr>
          <a:lstStyle/>
          <a:p>
            <a:pPr algn="l"/>
            <a:r>
              <a:rPr sz="1650" b="1" i="0" lang="en-US" spc="-30">
                <a:solidFill>
                  <a:srgbClr val="FFFFFF"/>
                </a:solidFill>
                <a:latin typeface="Plus Jakarta Sans"/>
                <a:cs typeface="Plus Jakarta Sans"/>
              </a:rPr>
              <a:t>Don't blame the LLM. Find the first stage that went wrong.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OKF</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12</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ENTER OKF</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Knowledge Can Be Structured Differently</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Open Knowledge Format · Google Cloud, 2026 · specification v0.2</a:t>
            </a:r>
          </a:p>
        </p:txBody>
      </p:sp>
      <p:sp>
        <p:nvSpPr>
          <p:cNvPr id="11" name="Rounded Rectangle 10"/>
          <p:cNvSpPr/>
          <p:nvPr/>
        </p:nvSpPr>
        <p:spPr>
          <a:xfrm>
            <a:off x="842756" y="2331720"/>
            <a:ext cx="3063240" cy="2148840"/>
          </a:xfrm>
          <a:prstGeom prst="roundRect">
            <a:avLst>
              <a:gd name="adj" fmla="val 4255"/>
            </a:avLst>
          </a:prstGeom>
          <a:solidFill>
            <a:srgbClr val="FFFFFF"/>
          </a:solidFill>
          <a:ln w="12700">
            <a:solidFill>
              <a:srgbClr val="E7E7EA"/>
            </a:solidFill>
          </a:ln>
          <a:effectLst/>
        </p:spPr>
        <p:txBody>
          <a:bodyPr rtlCol="0" anchor="ctr" wrap="square"/>
          <a:lstStyle/>
          <a:p>
            <a:pPr algn="ctr"/>
          </a:p>
        </p:txBody>
      </p:sp>
      <p:sp>
        <p:nvSpPr>
          <p:cNvPr id="12" name="Rounded Rectangle 11"/>
          <p:cNvSpPr/>
          <p:nvPr/>
        </p:nvSpPr>
        <p:spPr>
          <a:xfrm>
            <a:off x="851900" y="2340864"/>
            <a:ext cx="3044952" cy="402336"/>
          </a:xfrm>
          <a:prstGeom prst="roundRect">
            <a:avLst>
              <a:gd name="adj" fmla="val 20454"/>
            </a:avLst>
          </a:prstGeom>
          <a:solidFill>
            <a:srgbClr val="FAFAFB"/>
          </a:solidFill>
          <a:ln>
            <a:noFill/>
          </a:ln>
          <a:effectLst/>
        </p:spPr>
        <p:txBody>
          <a:bodyPr rtlCol="0" anchor="ctr" wrap="square"/>
          <a:lstStyle/>
          <a:p>
            <a:pPr algn="ctr"/>
          </a:p>
        </p:txBody>
      </p:sp>
      <p:cxnSp>
        <p:nvCxnSpPr>
          <p:cNvPr id="13" name="Connector 12"/>
          <p:cNvCxnSpPr/>
          <p:nvPr/>
        </p:nvCxnSpPr>
        <p:spPr>
          <a:xfrm>
            <a:off x="851900" y="2743200"/>
            <a:ext cx="3044952" cy="0"/>
          </a:xfrm>
          <a:prstGeom prst="line">
            <a:avLst/>
          </a:prstGeom>
          <a:ln w="12700">
            <a:solidFill>
              <a:srgbClr val="E7E7EA"/>
            </a:solidFill>
          </a:ln>
        </p:spPr>
      </p:cxnSp>
      <p:sp>
        <p:nvSpPr>
          <p:cNvPr id="14" name="TextBox 13"/>
          <p:cNvSpPr txBox="1"/>
          <p:nvPr/>
        </p:nvSpPr>
        <p:spPr>
          <a:xfrm>
            <a:off x="1007348" y="2340864"/>
            <a:ext cx="2734056" cy="402336"/>
          </a:xfrm>
          <a:prstGeom prst="rect">
            <a:avLst/>
          </a:prstGeom>
          <a:noFill/>
        </p:spPr>
        <p:txBody>
          <a:bodyPr wrap="square" anchor="ctr" lIns="0" rIns="0" tIns="0" bIns="0">
            <a:spAutoFit/>
          </a:bodyPr>
          <a:lstStyle/>
          <a:p>
            <a:pPr algn="l"/>
            <a:r>
              <a:rPr sz="1000" b="1" i="0" lang="en-US">
                <a:solidFill>
                  <a:srgbClr val="222225"/>
                </a:solidFill>
                <a:latin typeface="Menlo"/>
                <a:cs typeface="Menlo"/>
              </a:rPr>
              <a:t>Leave_Rules.md</a:t>
            </a:r>
          </a:p>
        </p:txBody>
      </p:sp>
      <p:sp>
        <p:nvSpPr>
          <p:cNvPr id="15" name="TextBox 14"/>
          <p:cNvSpPr txBox="1"/>
          <p:nvPr/>
        </p:nvSpPr>
        <p:spPr>
          <a:xfrm>
            <a:off x="1025636" y="2889504"/>
            <a:ext cx="2697480" cy="566928"/>
          </a:xfrm>
          <a:prstGeom prst="rect">
            <a:avLst/>
          </a:prstGeom>
          <a:noFill/>
        </p:spPr>
        <p:txBody>
          <a:bodyPr wrap="square" anchor="t" lIns="0" rIns="0" tIns="0" bIns="0">
            <a:spAutoFit/>
          </a:bodyPr>
          <a:lstStyle/>
          <a:p>
            <a:pPr algn="l">
              <a:lnSpc>
                <a:spcPct val="150000"/>
              </a:lnSpc>
              <a:spcAft>
                <a:spcPts val="100"/>
              </a:spcAft>
            </a:pPr>
            <a:r>
              <a:rPr sz="900" b="0" i="0" lang="en-US">
                <a:solidFill>
                  <a:srgbClr val="FF6B2C"/>
                </a:solidFill>
                <a:latin typeface="Menlo"/>
                <a:cs typeface="Menlo"/>
              </a:rPr>
              <a:t>type: policy</a:t>
            </a:r>
          </a:p>
          <a:p>
            <a:pPr algn="l">
              <a:lnSpc>
                <a:spcPct val="150000"/>
              </a:lnSpc>
              <a:spcAft>
                <a:spcPts val="100"/>
              </a:spcAft>
            </a:pPr>
            <a:r>
              <a:rPr sz="900" b="0" i="0" lang="en-US">
                <a:solidFill>
                  <a:srgbClr val="63636B"/>
                </a:solidFill>
                <a:latin typeface="Menlo"/>
                <a:cs typeface="Menlo"/>
              </a:rPr>
              <a:t>title: Leave Rules</a:t>
            </a:r>
          </a:p>
        </p:txBody>
      </p:sp>
      <p:cxnSp>
        <p:nvCxnSpPr>
          <p:cNvPr id="16" name="Connector 15"/>
          <p:cNvCxnSpPr/>
          <p:nvPr/>
        </p:nvCxnSpPr>
        <p:spPr>
          <a:xfrm>
            <a:off x="1025636" y="3584448"/>
            <a:ext cx="2697480" cy="0"/>
          </a:xfrm>
          <a:prstGeom prst="line">
            <a:avLst/>
          </a:prstGeom>
          <a:ln w="12700">
            <a:solidFill>
              <a:srgbClr val="E7E7EA"/>
            </a:solidFill>
          </a:ln>
        </p:spPr>
      </p:cxnSp>
      <p:sp>
        <p:nvSpPr>
          <p:cNvPr id="17" name="TextBox 16"/>
          <p:cNvSpPr txBox="1"/>
          <p:nvPr/>
        </p:nvSpPr>
        <p:spPr>
          <a:xfrm>
            <a:off x="1025636" y="3730752"/>
            <a:ext cx="2697480" cy="603504"/>
          </a:xfrm>
          <a:prstGeom prst="rect">
            <a:avLst/>
          </a:prstGeom>
          <a:noFill/>
        </p:spPr>
        <p:txBody>
          <a:bodyPr wrap="square" anchor="t" lIns="0" rIns="0" tIns="0" bIns="0">
            <a:spAutoFit/>
          </a:bodyPr>
          <a:lstStyle/>
          <a:p>
            <a:pPr algn="l">
              <a:lnSpc>
                <a:spcPct val="150000"/>
              </a:lnSpc>
              <a:spcAft>
                <a:spcPts val="100"/>
              </a:spcAft>
            </a:pPr>
            <a:r>
              <a:rPr sz="900" b="0" i="0" lang="en-US">
                <a:solidFill>
                  <a:srgbClr val="222225"/>
                </a:solidFill>
                <a:latin typeface="Menlo"/>
                <a:cs typeface="Menlo"/>
              </a:rPr>
              <a:t># Leave Rules</a:t>
            </a:r>
          </a:p>
          <a:p>
            <a:pPr algn="l">
              <a:lnSpc>
                <a:spcPct val="150000"/>
              </a:lnSpc>
              <a:spcAft>
                <a:spcPts val="100"/>
              </a:spcAft>
            </a:pPr>
            <a:r>
              <a:rPr sz="900" b="0" i="0" lang="en-US">
                <a:solidFill>
                  <a:srgbClr val="FF6B2C"/>
                </a:solidFill>
                <a:latin typeface="Menlo"/>
                <a:cs typeface="Menlo"/>
              </a:rPr>
              <a:t>→ Eligibility.md</a:t>
            </a:r>
          </a:p>
        </p:txBody>
      </p:sp>
      <p:cxnSp>
        <p:nvCxnSpPr>
          <p:cNvPr id="18" name="Connector 17"/>
          <p:cNvCxnSpPr/>
          <p:nvPr/>
        </p:nvCxnSpPr>
        <p:spPr>
          <a:xfrm>
            <a:off x="3997436" y="3401568"/>
            <a:ext cx="475488" cy="0"/>
          </a:xfrm>
          <a:prstGeom prst="line">
            <a:avLst/>
          </a:prstGeom>
          <a:ln w="16510">
            <a:solidFill>
              <a:srgbClr val="9A9AA2"/>
            </a:solidFill>
            <a:tailEnd type="triangle" w="sm" len="sm"/>
          </a:ln>
        </p:spPr>
      </p:cxnSp>
      <p:sp>
        <p:nvSpPr>
          <p:cNvPr id="19" name="TextBox 18"/>
          <p:cNvSpPr txBox="1"/>
          <p:nvPr/>
        </p:nvSpPr>
        <p:spPr>
          <a:xfrm>
            <a:off x="3905996" y="3127248"/>
            <a:ext cx="658368" cy="201168"/>
          </a:xfrm>
          <a:prstGeom prst="rect">
            <a:avLst/>
          </a:prstGeom>
          <a:noFill/>
        </p:spPr>
        <p:txBody>
          <a:bodyPr wrap="square" anchor="t" lIns="0" rIns="0" tIns="0" bIns="0">
            <a:spAutoFit/>
          </a:bodyPr>
          <a:lstStyle/>
          <a:p>
            <a:pPr algn="ctr"/>
            <a:r>
              <a:rPr sz="800" b="0" i="0" lang="en-US">
                <a:solidFill>
                  <a:srgbClr val="9A9AA2"/>
                </a:solidFill>
                <a:latin typeface="Plus Jakarta Sans"/>
                <a:cs typeface="Plus Jakarta Sans"/>
              </a:rPr>
              <a:t>links</a:t>
            </a:r>
          </a:p>
        </p:txBody>
      </p:sp>
      <p:sp>
        <p:nvSpPr>
          <p:cNvPr id="20" name="Rounded Rectangle 19"/>
          <p:cNvSpPr/>
          <p:nvPr/>
        </p:nvSpPr>
        <p:spPr>
          <a:xfrm>
            <a:off x="4564364" y="2331720"/>
            <a:ext cx="3063240" cy="2148840"/>
          </a:xfrm>
          <a:prstGeom prst="roundRect">
            <a:avLst>
              <a:gd name="adj" fmla="val 4255"/>
            </a:avLst>
          </a:prstGeom>
          <a:solidFill>
            <a:srgbClr val="FFFFFF"/>
          </a:solidFill>
          <a:ln w="12700">
            <a:solidFill>
              <a:srgbClr val="E7E7EA"/>
            </a:solidFill>
          </a:ln>
          <a:effectLst/>
        </p:spPr>
        <p:txBody>
          <a:bodyPr rtlCol="0" anchor="ctr" wrap="square"/>
          <a:lstStyle/>
          <a:p>
            <a:pPr algn="ctr"/>
          </a:p>
        </p:txBody>
      </p:sp>
      <p:sp>
        <p:nvSpPr>
          <p:cNvPr id="21" name="Rounded Rectangle 20"/>
          <p:cNvSpPr/>
          <p:nvPr/>
        </p:nvSpPr>
        <p:spPr>
          <a:xfrm>
            <a:off x="4573508" y="2340864"/>
            <a:ext cx="3044952" cy="402336"/>
          </a:xfrm>
          <a:prstGeom prst="roundRect">
            <a:avLst>
              <a:gd name="adj" fmla="val 20454"/>
            </a:avLst>
          </a:prstGeom>
          <a:solidFill>
            <a:srgbClr val="FAFAFB"/>
          </a:solidFill>
          <a:ln>
            <a:noFill/>
          </a:ln>
          <a:effectLst/>
        </p:spPr>
        <p:txBody>
          <a:bodyPr rtlCol="0" anchor="ctr" wrap="square"/>
          <a:lstStyle/>
          <a:p>
            <a:pPr algn="ctr"/>
          </a:p>
        </p:txBody>
      </p:sp>
      <p:cxnSp>
        <p:nvCxnSpPr>
          <p:cNvPr id="22" name="Connector 21"/>
          <p:cNvCxnSpPr/>
          <p:nvPr/>
        </p:nvCxnSpPr>
        <p:spPr>
          <a:xfrm>
            <a:off x="4573508" y="2743200"/>
            <a:ext cx="3044952" cy="0"/>
          </a:xfrm>
          <a:prstGeom prst="line">
            <a:avLst/>
          </a:prstGeom>
          <a:ln w="12700">
            <a:solidFill>
              <a:srgbClr val="E7E7EA"/>
            </a:solidFill>
          </a:ln>
        </p:spPr>
      </p:cxnSp>
      <p:sp>
        <p:nvSpPr>
          <p:cNvPr id="23" name="TextBox 22"/>
          <p:cNvSpPr txBox="1"/>
          <p:nvPr/>
        </p:nvSpPr>
        <p:spPr>
          <a:xfrm>
            <a:off x="4728956" y="2340864"/>
            <a:ext cx="2734056" cy="402336"/>
          </a:xfrm>
          <a:prstGeom prst="rect">
            <a:avLst/>
          </a:prstGeom>
          <a:noFill/>
        </p:spPr>
        <p:txBody>
          <a:bodyPr wrap="square" anchor="ctr" lIns="0" rIns="0" tIns="0" bIns="0">
            <a:spAutoFit/>
          </a:bodyPr>
          <a:lstStyle/>
          <a:p>
            <a:pPr algn="l"/>
            <a:r>
              <a:rPr sz="1000" b="1" i="0" lang="en-US">
                <a:solidFill>
                  <a:srgbClr val="222225"/>
                </a:solidFill>
                <a:latin typeface="Menlo"/>
                <a:cs typeface="Menlo"/>
              </a:rPr>
              <a:t>Eligibility.md</a:t>
            </a:r>
          </a:p>
        </p:txBody>
      </p:sp>
      <p:sp>
        <p:nvSpPr>
          <p:cNvPr id="24" name="TextBox 23"/>
          <p:cNvSpPr txBox="1"/>
          <p:nvPr/>
        </p:nvSpPr>
        <p:spPr>
          <a:xfrm>
            <a:off x="4747244" y="2889504"/>
            <a:ext cx="2697480" cy="566928"/>
          </a:xfrm>
          <a:prstGeom prst="rect">
            <a:avLst/>
          </a:prstGeom>
          <a:noFill/>
        </p:spPr>
        <p:txBody>
          <a:bodyPr wrap="square" anchor="t" lIns="0" rIns="0" tIns="0" bIns="0">
            <a:spAutoFit/>
          </a:bodyPr>
          <a:lstStyle/>
          <a:p>
            <a:pPr algn="l">
              <a:lnSpc>
                <a:spcPct val="150000"/>
              </a:lnSpc>
              <a:spcAft>
                <a:spcPts val="100"/>
              </a:spcAft>
            </a:pPr>
            <a:r>
              <a:rPr sz="900" b="0" i="0" lang="en-US">
                <a:solidFill>
                  <a:srgbClr val="FF6B2C"/>
                </a:solidFill>
                <a:latin typeface="Menlo"/>
                <a:cs typeface="Menlo"/>
              </a:rPr>
              <a:t>type: policy</a:t>
            </a:r>
          </a:p>
          <a:p>
            <a:pPr algn="l">
              <a:lnSpc>
                <a:spcPct val="150000"/>
              </a:lnSpc>
              <a:spcAft>
                <a:spcPts val="100"/>
              </a:spcAft>
            </a:pPr>
            <a:r>
              <a:rPr sz="900" b="0" i="0" lang="en-US">
                <a:solidFill>
                  <a:srgbClr val="63636B"/>
                </a:solidFill>
                <a:latin typeface="Menlo"/>
                <a:cs typeface="Menlo"/>
              </a:rPr>
              <a:t>title: Eligibility</a:t>
            </a:r>
          </a:p>
        </p:txBody>
      </p:sp>
      <p:cxnSp>
        <p:nvCxnSpPr>
          <p:cNvPr id="25" name="Connector 24"/>
          <p:cNvCxnSpPr/>
          <p:nvPr/>
        </p:nvCxnSpPr>
        <p:spPr>
          <a:xfrm>
            <a:off x="4747244" y="3584448"/>
            <a:ext cx="2697480" cy="0"/>
          </a:xfrm>
          <a:prstGeom prst="line">
            <a:avLst/>
          </a:prstGeom>
          <a:ln w="12700">
            <a:solidFill>
              <a:srgbClr val="E7E7EA"/>
            </a:solidFill>
          </a:ln>
        </p:spPr>
      </p:cxnSp>
      <p:sp>
        <p:nvSpPr>
          <p:cNvPr id="26" name="TextBox 25"/>
          <p:cNvSpPr txBox="1"/>
          <p:nvPr/>
        </p:nvSpPr>
        <p:spPr>
          <a:xfrm>
            <a:off x="4747244" y="3730752"/>
            <a:ext cx="2697480" cy="603504"/>
          </a:xfrm>
          <a:prstGeom prst="rect">
            <a:avLst/>
          </a:prstGeom>
          <a:noFill/>
        </p:spPr>
        <p:txBody>
          <a:bodyPr wrap="square" anchor="t" lIns="0" rIns="0" tIns="0" bIns="0">
            <a:spAutoFit/>
          </a:bodyPr>
          <a:lstStyle/>
          <a:p>
            <a:pPr algn="l">
              <a:lnSpc>
                <a:spcPct val="150000"/>
              </a:lnSpc>
              <a:spcAft>
                <a:spcPts val="100"/>
              </a:spcAft>
            </a:pPr>
            <a:r>
              <a:rPr sz="900" b="0" i="0" lang="en-US">
                <a:solidFill>
                  <a:srgbClr val="222225"/>
                </a:solidFill>
                <a:latin typeface="Menlo"/>
                <a:cs typeface="Menlo"/>
              </a:rPr>
              <a:t># Eligibility</a:t>
            </a:r>
          </a:p>
          <a:p>
            <a:pPr algn="l">
              <a:lnSpc>
                <a:spcPct val="150000"/>
              </a:lnSpc>
              <a:spcAft>
                <a:spcPts val="100"/>
              </a:spcAft>
            </a:pPr>
            <a:r>
              <a:rPr sz="900" b="0" i="0" lang="en-US">
                <a:solidFill>
                  <a:srgbClr val="FF6B2C"/>
                </a:solidFill>
                <a:latin typeface="Menlo"/>
                <a:cs typeface="Menlo"/>
              </a:rPr>
              <a:t>→ Leave_Rules.md</a:t>
            </a:r>
          </a:p>
        </p:txBody>
      </p:sp>
      <p:cxnSp>
        <p:nvCxnSpPr>
          <p:cNvPr id="27" name="Connector 26"/>
          <p:cNvCxnSpPr/>
          <p:nvPr/>
        </p:nvCxnSpPr>
        <p:spPr>
          <a:xfrm>
            <a:off x="7719044" y="3401568"/>
            <a:ext cx="475488" cy="0"/>
          </a:xfrm>
          <a:prstGeom prst="line">
            <a:avLst/>
          </a:prstGeom>
          <a:ln w="16510">
            <a:solidFill>
              <a:srgbClr val="9A9AA2"/>
            </a:solidFill>
            <a:tailEnd type="triangle" w="sm" len="sm"/>
          </a:ln>
        </p:spPr>
      </p:cxnSp>
      <p:sp>
        <p:nvSpPr>
          <p:cNvPr id="28" name="TextBox 27"/>
          <p:cNvSpPr txBox="1"/>
          <p:nvPr/>
        </p:nvSpPr>
        <p:spPr>
          <a:xfrm>
            <a:off x="7627604" y="3127248"/>
            <a:ext cx="658368" cy="201168"/>
          </a:xfrm>
          <a:prstGeom prst="rect">
            <a:avLst/>
          </a:prstGeom>
          <a:noFill/>
        </p:spPr>
        <p:txBody>
          <a:bodyPr wrap="square" anchor="t" lIns="0" rIns="0" tIns="0" bIns="0">
            <a:spAutoFit/>
          </a:bodyPr>
          <a:lstStyle/>
          <a:p>
            <a:pPr algn="ctr"/>
            <a:r>
              <a:rPr sz="800" b="0" i="0" lang="en-US">
                <a:solidFill>
                  <a:srgbClr val="9A9AA2"/>
                </a:solidFill>
                <a:latin typeface="Plus Jakarta Sans"/>
                <a:cs typeface="Plus Jakarta Sans"/>
              </a:rPr>
              <a:t>links</a:t>
            </a:r>
          </a:p>
        </p:txBody>
      </p:sp>
      <p:sp>
        <p:nvSpPr>
          <p:cNvPr id="29" name="Rounded Rectangle 28"/>
          <p:cNvSpPr/>
          <p:nvPr/>
        </p:nvSpPr>
        <p:spPr>
          <a:xfrm>
            <a:off x="8285972" y="2331720"/>
            <a:ext cx="3063240" cy="2148840"/>
          </a:xfrm>
          <a:prstGeom prst="roundRect">
            <a:avLst>
              <a:gd name="adj" fmla="val 4255"/>
            </a:avLst>
          </a:prstGeom>
          <a:solidFill>
            <a:srgbClr val="FFFFFF"/>
          </a:solidFill>
          <a:ln w="12700">
            <a:solidFill>
              <a:srgbClr val="E7E7EA"/>
            </a:solidFill>
          </a:ln>
          <a:effectLst/>
        </p:spPr>
        <p:txBody>
          <a:bodyPr rtlCol="0" anchor="ctr" wrap="square"/>
          <a:lstStyle/>
          <a:p>
            <a:pPr algn="ctr"/>
          </a:p>
        </p:txBody>
      </p:sp>
      <p:sp>
        <p:nvSpPr>
          <p:cNvPr id="30" name="Rounded Rectangle 29"/>
          <p:cNvSpPr/>
          <p:nvPr/>
        </p:nvSpPr>
        <p:spPr>
          <a:xfrm>
            <a:off x="8295116" y="2340864"/>
            <a:ext cx="3044952" cy="402336"/>
          </a:xfrm>
          <a:prstGeom prst="roundRect">
            <a:avLst>
              <a:gd name="adj" fmla="val 20454"/>
            </a:avLst>
          </a:prstGeom>
          <a:solidFill>
            <a:srgbClr val="FAFAFB"/>
          </a:solidFill>
          <a:ln>
            <a:noFill/>
          </a:ln>
          <a:effectLst/>
        </p:spPr>
        <p:txBody>
          <a:bodyPr rtlCol="0" anchor="ctr" wrap="square"/>
          <a:lstStyle/>
          <a:p>
            <a:pPr algn="ctr"/>
          </a:p>
        </p:txBody>
      </p:sp>
      <p:cxnSp>
        <p:nvCxnSpPr>
          <p:cNvPr id="31" name="Connector 30"/>
          <p:cNvCxnSpPr/>
          <p:nvPr/>
        </p:nvCxnSpPr>
        <p:spPr>
          <a:xfrm>
            <a:off x="8295116" y="2743200"/>
            <a:ext cx="3044952" cy="0"/>
          </a:xfrm>
          <a:prstGeom prst="line">
            <a:avLst/>
          </a:prstGeom>
          <a:ln w="12700">
            <a:solidFill>
              <a:srgbClr val="E7E7EA"/>
            </a:solidFill>
          </a:ln>
        </p:spPr>
      </p:cxnSp>
      <p:sp>
        <p:nvSpPr>
          <p:cNvPr id="32" name="TextBox 31"/>
          <p:cNvSpPr txBox="1"/>
          <p:nvPr/>
        </p:nvSpPr>
        <p:spPr>
          <a:xfrm>
            <a:off x="8450564" y="2340864"/>
            <a:ext cx="2734056" cy="402336"/>
          </a:xfrm>
          <a:prstGeom prst="rect">
            <a:avLst/>
          </a:prstGeom>
          <a:noFill/>
        </p:spPr>
        <p:txBody>
          <a:bodyPr wrap="square" anchor="ctr" lIns="0" rIns="0" tIns="0" bIns="0">
            <a:spAutoFit/>
          </a:bodyPr>
          <a:lstStyle/>
          <a:p>
            <a:pPr algn="l"/>
            <a:r>
              <a:rPr sz="1000" b="1" i="0" lang="en-US">
                <a:solidFill>
                  <a:srgbClr val="222225"/>
                </a:solidFill>
                <a:latin typeface="Menlo"/>
                <a:cs typeface="Menlo"/>
              </a:rPr>
              <a:t>Exceptions.md</a:t>
            </a:r>
          </a:p>
        </p:txBody>
      </p:sp>
      <p:sp>
        <p:nvSpPr>
          <p:cNvPr id="33" name="TextBox 32"/>
          <p:cNvSpPr txBox="1"/>
          <p:nvPr/>
        </p:nvSpPr>
        <p:spPr>
          <a:xfrm>
            <a:off x="8468852" y="2889504"/>
            <a:ext cx="2697480" cy="566928"/>
          </a:xfrm>
          <a:prstGeom prst="rect">
            <a:avLst/>
          </a:prstGeom>
          <a:noFill/>
        </p:spPr>
        <p:txBody>
          <a:bodyPr wrap="square" anchor="t" lIns="0" rIns="0" tIns="0" bIns="0">
            <a:spAutoFit/>
          </a:bodyPr>
          <a:lstStyle/>
          <a:p>
            <a:pPr algn="l">
              <a:lnSpc>
                <a:spcPct val="150000"/>
              </a:lnSpc>
              <a:spcAft>
                <a:spcPts val="100"/>
              </a:spcAft>
            </a:pPr>
            <a:r>
              <a:rPr sz="900" b="0" i="0" lang="en-US">
                <a:solidFill>
                  <a:srgbClr val="FF6B2C"/>
                </a:solidFill>
                <a:latin typeface="Menlo"/>
                <a:cs typeface="Menlo"/>
              </a:rPr>
              <a:t>type: policy</a:t>
            </a:r>
          </a:p>
          <a:p>
            <a:pPr algn="l">
              <a:lnSpc>
                <a:spcPct val="150000"/>
              </a:lnSpc>
              <a:spcAft>
                <a:spcPts val="100"/>
              </a:spcAft>
            </a:pPr>
            <a:r>
              <a:rPr sz="900" b="0" i="0" lang="en-US">
                <a:solidFill>
                  <a:srgbClr val="63636B"/>
                </a:solidFill>
                <a:latin typeface="Menlo"/>
                <a:cs typeface="Menlo"/>
              </a:rPr>
              <a:t>title: Exceptions</a:t>
            </a:r>
          </a:p>
        </p:txBody>
      </p:sp>
      <p:cxnSp>
        <p:nvCxnSpPr>
          <p:cNvPr id="34" name="Connector 33"/>
          <p:cNvCxnSpPr/>
          <p:nvPr/>
        </p:nvCxnSpPr>
        <p:spPr>
          <a:xfrm>
            <a:off x="8468852" y="3584448"/>
            <a:ext cx="2697480" cy="0"/>
          </a:xfrm>
          <a:prstGeom prst="line">
            <a:avLst/>
          </a:prstGeom>
          <a:ln w="12700">
            <a:solidFill>
              <a:srgbClr val="E7E7EA"/>
            </a:solidFill>
          </a:ln>
        </p:spPr>
      </p:cxnSp>
      <p:sp>
        <p:nvSpPr>
          <p:cNvPr id="35" name="TextBox 34"/>
          <p:cNvSpPr txBox="1"/>
          <p:nvPr/>
        </p:nvSpPr>
        <p:spPr>
          <a:xfrm>
            <a:off x="8468852" y="3730752"/>
            <a:ext cx="2697480" cy="603504"/>
          </a:xfrm>
          <a:prstGeom prst="rect">
            <a:avLst/>
          </a:prstGeom>
          <a:noFill/>
        </p:spPr>
        <p:txBody>
          <a:bodyPr wrap="square" anchor="t" lIns="0" rIns="0" tIns="0" bIns="0">
            <a:spAutoFit/>
          </a:bodyPr>
          <a:lstStyle/>
          <a:p>
            <a:pPr algn="l">
              <a:lnSpc>
                <a:spcPct val="150000"/>
              </a:lnSpc>
              <a:spcAft>
                <a:spcPts val="100"/>
              </a:spcAft>
            </a:pPr>
            <a:r>
              <a:rPr sz="900" b="0" i="0" lang="en-US">
                <a:solidFill>
                  <a:srgbClr val="222225"/>
                </a:solidFill>
                <a:latin typeface="Menlo"/>
                <a:cs typeface="Menlo"/>
              </a:rPr>
              <a:t># Exceptions</a:t>
            </a:r>
          </a:p>
          <a:p>
            <a:pPr algn="l">
              <a:lnSpc>
                <a:spcPct val="150000"/>
              </a:lnSpc>
              <a:spcAft>
                <a:spcPts val="100"/>
              </a:spcAft>
            </a:pPr>
            <a:r>
              <a:rPr sz="900" b="0" i="0" lang="en-US">
                <a:solidFill>
                  <a:srgbClr val="FF6B2C"/>
                </a:solidFill>
                <a:latin typeface="Menlo"/>
                <a:cs typeface="Menlo"/>
              </a:rPr>
              <a:t>→ Leave_Rules.md</a:t>
            </a:r>
          </a:p>
        </p:txBody>
      </p:sp>
      <p:sp>
        <p:nvSpPr>
          <p:cNvPr id="36" name="Rounded Rectangle 35"/>
          <p:cNvSpPr/>
          <p:nvPr/>
        </p:nvSpPr>
        <p:spPr>
          <a:xfrm>
            <a:off x="920480" y="4846320"/>
            <a:ext cx="2395728" cy="457200"/>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37" name="TextBox 36"/>
          <p:cNvSpPr txBox="1"/>
          <p:nvPr/>
        </p:nvSpPr>
        <p:spPr>
          <a:xfrm>
            <a:off x="920480" y="4846320"/>
            <a:ext cx="2395728" cy="457200"/>
          </a:xfrm>
          <a:prstGeom prst="rect">
            <a:avLst/>
          </a:prstGeom>
          <a:noFill/>
        </p:spPr>
        <p:txBody>
          <a:bodyPr wrap="square" anchor="ctr" lIns="0" rIns="0" tIns="0" bIns="0">
            <a:spAutoFit/>
          </a:bodyPr>
          <a:lstStyle/>
          <a:p>
            <a:pPr algn="ctr"/>
            <a:r>
              <a:rPr sz="950" b="1" i="0" lang="en-US" spc="80">
                <a:solidFill>
                  <a:srgbClr val="0B0B0C"/>
                </a:solidFill>
                <a:latin typeface="Plus Jakarta Sans"/>
                <a:cs typeface="Plus Jakarta Sans"/>
              </a:rPr>
              <a:t>MARKDOWN FILES</a:t>
            </a:r>
          </a:p>
        </p:txBody>
      </p:sp>
      <p:sp>
        <p:nvSpPr>
          <p:cNvPr id="38" name="Rounded Rectangle 37"/>
          <p:cNvSpPr/>
          <p:nvPr/>
        </p:nvSpPr>
        <p:spPr>
          <a:xfrm>
            <a:off x="3572240" y="4846320"/>
            <a:ext cx="2395728" cy="457200"/>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39" name="TextBox 38"/>
          <p:cNvSpPr txBox="1"/>
          <p:nvPr/>
        </p:nvSpPr>
        <p:spPr>
          <a:xfrm>
            <a:off x="3572240" y="4846320"/>
            <a:ext cx="2395728" cy="457200"/>
          </a:xfrm>
          <a:prstGeom prst="rect">
            <a:avLst/>
          </a:prstGeom>
          <a:noFill/>
        </p:spPr>
        <p:txBody>
          <a:bodyPr wrap="square" anchor="ctr" lIns="0" rIns="0" tIns="0" bIns="0">
            <a:spAutoFit/>
          </a:bodyPr>
          <a:lstStyle/>
          <a:p>
            <a:pPr algn="ctr"/>
            <a:r>
              <a:rPr sz="950" b="1" i="0" lang="en-US" spc="80">
                <a:solidFill>
                  <a:srgbClr val="0B0B0C"/>
                </a:solidFill>
                <a:latin typeface="Plus Jakarta Sans"/>
                <a:cs typeface="Plus Jakarta Sans"/>
              </a:rPr>
              <a:t>YAML METADATA</a:t>
            </a:r>
          </a:p>
        </p:txBody>
      </p:sp>
      <p:sp>
        <p:nvSpPr>
          <p:cNvPr id="40" name="Rounded Rectangle 39"/>
          <p:cNvSpPr/>
          <p:nvPr/>
        </p:nvSpPr>
        <p:spPr>
          <a:xfrm>
            <a:off x="6224000" y="4846320"/>
            <a:ext cx="2395728" cy="457200"/>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41" name="TextBox 40"/>
          <p:cNvSpPr txBox="1"/>
          <p:nvPr/>
        </p:nvSpPr>
        <p:spPr>
          <a:xfrm>
            <a:off x="6224000" y="4846320"/>
            <a:ext cx="2395728" cy="457200"/>
          </a:xfrm>
          <a:prstGeom prst="rect">
            <a:avLst/>
          </a:prstGeom>
          <a:noFill/>
        </p:spPr>
        <p:txBody>
          <a:bodyPr wrap="square" anchor="ctr" lIns="0" rIns="0" tIns="0" bIns="0">
            <a:spAutoFit/>
          </a:bodyPr>
          <a:lstStyle/>
          <a:p>
            <a:pPr algn="ctr"/>
            <a:r>
              <a:rPr sz="950" b="1" i="0" lang="en-US" spc="80">
                <a:solidFill>
                  <a:srgbClr val="0B0B0C"/>
                </a:solidFill>
                <a:latin typeface="Plus Jakarta Sans"/>
                <a:cs typeface="Plus Jakarta Sans"/>
              </a:rPr>
              <a:t>EXPLICIT LINKS</a:t>
            </a:r>
          </a:p>
        </p:txBody>
      </p:sp>
      <p:sp>
        <p:nvSpPr>
          <p:cNvPr id="42" name="Rounded Rectangle 41"/>
          <p:cNvSpPr/>
          <p:nvPr/>
        </p:nvSpPr>
        <p:spPr>
          <a:xfrm>
            <a:off x="8875760" y="4846320"/>
            <a:ext cx="2395728" cy="457200"/>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43" name="TextBox 42"/>
          <p:cNvSpPr txBox="1"/>
          <p:nvPr/>
        </p:nvSpPr>
        <p:spPr>
          <a:xfrm>
            <a:off x="8875760" y="4846320"/>
            <a:ext cx="2395728" cy="457200"/>
          </a:xfrm>
          <a:prstGeom prst="rect">
            <a:avLst/>
          </a:prstGeom>
          <a:noFill/>
        </p:spPr>
        <p:txBody>
          <a:bodyPr wrap="square" anchor="ctr" lIns="0" rIns="0" tIns="0" bIns="0">
            <a:spAutoFit/>
          </a:bodyPr>
          <a:lstStyle/>
          <a:p>
            <a:pPr algn="ctr"/>
            <a:r>
              <a:rPr sz="950" b="1" i="0" lang="en-US" spc="80">
                <a:solidFill>
                  <a:srgbClr val="0B0B0C"/>
                </a:solidFill>
                <a:latin typeface="Plus Jakarta Sans"/>
                <a:cs typeface="Plus Jakarta Sans"/>
              </a:rPr>
              <a:t>CONNECTED CONCEPTS</a:t>
            </a:r>
          </a:p>
        </p:txBody>
      </p:sp>
      <p:sp>
        <p:nvSpPr>
          <p:cNvPr id="44" name="TextBox 43"/>
          <p:cNvSpPr txBox="1"/>
          <p:nvPr/>
        </p:nvSpPr>
        <p:spPr>
          <a:xfrm>
            <a:off x="685800" y="5669280"/>
            <a:ext cx="10820369" cy="548640"/>
          </a:xfrm>
          <a:prstGeom prst="rect">
            <a:avLst/>
          </a:prstGeom>
          <a:noFill/>
        </p:spPr>
        <p:txBody>
          <a:bodyPr wrap="square" anchor="t" lIns="0" rIns="0" tIns="0" bIns="0">
            <a:spAutoFit/>
          </a:bodyPr>
          <a:lstStyle/>
          <a:p>
            <a:pPr algn="ctr">
              <a:lnSpc>
                <a:spcPct val="145000"/>
              </a:lnSpc>
            </a:pPr>
            <a:r>
              <a:rPr sz="1200" b="1" i="0" lang="en-US">
                <a:solidFill>
                  <a:srgbClr val="0B0B0C"/>
                </a:solidFill>
                <a:latin typeface="Plus Jakarta Sans"/>
                <a:cs typeface="Plus Jakarta Sans"/>
              </a:rPr>
              <a:t>OKF = Open Knowledge Format</a:t>
            </a:r>
            <a:r>
              <a:rPr sz="1200" b="0" i="0" lang="en-US">
                <a:solidFill>
                  <a:srgbClr val="63636B"/>
                </a:solidFill>
                <a:latin typeface="Plus Jakarta Sans"/>
                <a:cs typeface="Plus Jakarta Sans"/>
              </a:rPr>
              <a:t> — an open, vendor-neutral format for representing knowledge, designed to be human- and agent-friendly.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OKF</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13</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ANATOMY OF A CONCEPT</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What Does an OKF Concept Look Like?</a:t>
            </a:r>
          </a:p>
        </p:txBody>
      </p:sp>
      <p:sp>
        <p:nvSpPr>
          <p:cNvPr id="10" name="Rounded Rectangle 9"/>
          <p:cNvSpPr/>
          <p:nvPr/>
        </p:nvSpPr>
        <p:spPr>
          <a:xfrm>
            <a:off x="685800" y="1965960"/>
            <a:ext cx="6903720" cy="4224528"/>
          </a:xfrm>
          <a:prstGeom prst="roundRect">
            <a:avLst>
              <a:gd name="adj" fmla="val 2164"/>
            </a:avLst>
          </a:prstGeom>
          <a:solidFill>
            <a:srgbClr val="FFFFFF"/>
          </a:solidFill>
          <a:ln w="12700">
            <a:solidFill>
              <a:srgbClr val="E7E7EA"/>
            </a:solidFill>
          </a:ln>
          <a:effectLst/>
        </p:spPr>
        <p:txBody>
          <a:bodyPr rtlCol="0" anchor="ctr" wrap="square"/>
          <a:lstStyle/>
          <a:p>
            <a:pPr algn="ctr"/>
          </a:p>
        </p:txBody>
      </p:sp>
      <p:sp>
        <p:nvSpPr>
          <p:cNvPr id="11" name="Rounded Rectangle 10"/>
          <p:cNvSpPr/>
          <p:nvPr/>
        </p:nvSpPr>
        <p:spPr>
          <a:xfrm>
            <a:off x="694944" y="1975103"/>
            <a:ext cx="6885432" cy="402336"/>
          </a:xfrm>
          <a:prstGeom prst="roundRect">
            <a:avLst>
              <a:gd name="adj" fmla="val 20454"/>
            </a:avLst>
          </a:prstGeom>
          <a:solidFill>
            <a:srgbClr val="FAFAFB"/>
          </a:solidFill>
          <a:ln>
            <a:noFill/>
          </a:ln>
          <a:effectLst/>
        </p:spPr>
        <p:txBody>
          <a:bodyPr rtlCol="0" anchor="ctr" wrap="square"/>
          <a:lstStyle/>
          <a:p>
            <a:pPr algn="ctr"/>
          </a:p>
        </p:txBody>
      </p:sp>
      <p:cxnSp>
        <p:nvCxnSpPr>
          <p:cNvPr id="12" name="Connector 11"/>
          <p:cNvCxnSpPr/>
          <p:nvPr/>
        </p:nvCxnSpPr>
        <p:spPr>
          <a:xfrm>
            <a:off x="694944" y="2377440"/>
            <a:ext cx="6885432" cy="0"/>
          </a:xfrm>
          <a:prstGeom prst="line">
            <a:avLst/>
          </a:prstGeom>
          <a:ln w="12700">
            <a:solidFill>
              <a:srgbClr val="E7E7EA"/>
            </a:solidFill>
          </a:ln>
        </p:spPr>
      </p:cxnSp>
      <p:sp>
        <p:nvSpPr>
          <p:cNvPr id="13" name="TextBox 12"/>
          <p:cNvSpPr txBox="1"/>
          <p:nvPr/>
        </p:nvSpPr>
        <p:spPr>
          <a:xfrm>
            <a:off x="886968" y="1975103"/>
            <a:ext cx="3657600" cy="402336"/>
          </a:xfrm>
          <a:prstGeom prst="rect">
            <a:avLst/>
          </a:prstGeom>
          <a:noFill/>
        </p:spPr>
        <p:txBody>
          <a:bodyPr wrap="square" anchor="ctr" lIns="0" rIns="0" tIns="0" bIns="0">
            <a:spAutoFit/>
          </a:bodyPr>
          <a:lstStyle/>
          <a:p>
            <a:pPr algn="l"/>
            <a:r>
              <a:rPr sz="1000" b="1" i="0" lang="en-US">
                <a:solidFill>
                  <a:srgbClr val="222225"/>
                </a:solidFill>
                <a:latin typeface="Menlo"/>
                <a:cs typeface="Menlo"/>
              </a:rPr>
              <a:t>Leave_Rules.md</a:t>
            </a:r>
          </a:p>
        </p:txBody>
      </p:sp>
      <p:sp>
        <p:nvSpPr>
          <p:cNvPr id="14" name="TextBox 13"/>
          <p:cNvSpPr txBox="1"/>
          <p:nvPr/>
        </p:nvSpPr>
        <p:spPr>
          <a:xfrm>
            <a:off x="5486400" y="1975103"/>
            <a:ext cx="1901952" cy="402336"/>
          </a:xfrm>
          <a:prstGeom prst="rect">
            <a:avLst/>
          </a:prstGeom>
          <a:noFill/>
        </p:spPr>
        <p:txBody>
          <a:bodyPr wrap="square" anchor="ctr" lIns="0" rIns="0" tIns="0" bIns="0">
            <a:spAutoFit/>
          </a:bodyPr>
          <a:lstStyle/>
          <a:p>
            <a:pPr algn="r"/>
            <a:r>
              <a:rPr sz="750" b="1" i="0" lang="en-US" spc="100">
                <a:solidFill>
                  <a:srgbClr val="9A9AA2"/>
                </a:solidFill>
                <a:latin typeface="Plus Jakarta Sans"/>
                <a:cs typeface="Plus Jakarta Sans"/>
              </a:rPr>
              <a:t>OKF v0.2</a:t>
            </a:r>
          </a:p>
        </p:txBody>
      </p:sp>
      <p:sp>
        <p:nvSpPr>
          <p:cNvPr id="15" name="Rounded Rectangle 14"/>
          <p:cNvSpPr/>
          <p:nvPr/>
        </p:nvSpPr>
        <p:spPr>
          <a:xfrm>
            <a:off x="694944" y="2386584"/>
            <a:ext cx="6885432" cy="1481328"/>
          </a:xfrm>
          <a:prstGeom prst="roundRect">
            <a:avLst>
              <a:gd name="adj" fmla="val 3703"/>
            </a:avLst>
          </a:prstGeom>
          <a:solidFill>
            <a:srgbClr val="FFF4EE"/>
          </a:solidFill>
          <a:ln>
            <a:noFill/>
          </a:ln>
          <a:effectLst/>
        </p:spPr>
        <p:txBody>
          <a:bodyPr rtlCol="0" anchor="ctr" wrap="square"/>
          <a:lstStyle/>
          <a:p>
            <a:pPr algn="ctr"/>
          </a:p>
        </p:txBody>
      </p:sp>
      <p:sp>
        <p:nvSpPr>
          <p:cNvPr id="16" name="TextBox 15"/>
          <p:cNvSpPr txBox="1"/>
          <p:nvPr/>
        </p:nvSpPr>
        <p:spPr>
          <a:xfrm>
            <a:off x="941832" y="2523744"/>
            <a:ext cx="6391656" cy="3657600"/>
          </a:xfrm>
          <a:prstGeom prst="rect">
            <a:avLst/>
          </a:prstGeom>
          <a:noFill/>
        </p:spPr>
        <p:txBody>
          <a:bodyPr wrap="square" anchor="t" lIns="0" rIns="0" tIns="0" bIns="0">
            <a:spAutoFit/>
          </a:bodyPr>
          <a:lstStyle/>
          <a:p>
            <a:pPr algn="l">
              <a:lnSpc>
                <a:spcPct val="142000"/>
              </a:lnSpc>
              <a:spcAft>
                <a:spcPts val="200"/>
              </a:spcAft>
            </a:pPr>
            <a:r>
              <a:rPr sz="1100" b="0" i="0" lang="en-US">
                <a:solidFill>
                  <a:srgbClr val="9A9AA2"/>
                </a:solidFill>
                <a:latin typeface="Menlo"/>
                <a:cs typeface="Menlo"/>
              </a:rPr>
              <a:t>---</a:t>
            </a:r>
          </a:p>
          <a:p>
            <a:pPr algn="l">
              <a:lnSpc>
                <a:spcPct val="142000"/>
              </a:lnSpc>
              <a:spcAft>
                <a:spcPts val="200"/>
              </a:spcAft>
            </a:pPr>
            <a:r>
              <a:rPr sz="1100" b="1" i="0" lang="en-US">
                <a:solidFill>
                  <a:srgbClr val="FF6B2C"/>
                </a:solidFill>
                <a:latin typeface="Menlo"/>
                <a:cs typeface="Menlo"/>
              </a:rPr>
              <a:t>type</a:t>
            </a:r>
            <a:r>
              <a:rPr sz="1100" b="0" i="0" lang="en-US">
                <a:solidFill>
                  <a:srgbClr val="222225"/>
                </a:solidFill>
                <a:latin typeface="Menlo"/>
                <a:cs typeface="Menlo"/>
              </a:rPr>
              <a:t>: policy</a:t>
            </a:r>
          </a:p>
          <a:p>
            <a:pPr algn="l">
              <a:lnSpc>
                <a:spcPct val="142000"/>
              </a:lnSpc>
              <a:spcAft>
                <a:spcPts val="200"/>
              </a:spcAft>
            </a:pPr>
            <a:r>
              <a:rPr sz="1100" b="0" i="0" lang="en-US">
                <a:solidFill>
                  <a:srgbClr val="63636B"/>
                </a:solidFill>
                <a:latin typeface="Menlo"/>
                <a:cs typeface="Menlo"/>
              </a:rPr>
              <a:t>title</a:t>
            </a:r>
            <a:r>
              <a:rPr sz="1100" b="0" i="0" lang="en-US">
                <a:solidFill>
                  <a:srgbClr val="222225"/>
                </a:solidFill>
                <a:latin typeface="Menlo"/>
                <a:cs typeface="Menlo"/>
              </a:rPr>
              <a:t>: Leave Rules</a:t>
            </a:r>
          </a:p>
          <a:p>
            <a:pPr algn="l">
              <a:lnSpc>
                <a:spcPct val="142000"/>
              </a:lnSpc>
              <a:spcAft>
                <a:spcPts val="200"/>
              </a:spcAft>
            </a:pPr>
            <a:r>
              <a:rPr sz="1100" b="0" i="0" lang="en-US">
                <a:solidFill>
                  <a:srgbClr val="63636B"/>
                </a:solidFill>
                <a:latin typeface="Menlo"/>
                <a:cs typeface="Menlo"/>
              </a:rPr>
              <a:t>description</a:t>
            </a:r>
            <a:r>
              <a:rPr sz="1100" b="0" i="0" lang="en-US">
                <a:solidFill>
                  <a:srgbClr val="222225"/>
                </a:solidFill>
                <a:latin typeface="Menlo"/>
                <a:cs typeface="Menlo"/>
              </a:rPr>
              <a:t>: Rules governing leave eligibility</a:t>
            </a:r>
          </a:p>
          <a:p>
            <a:pPr algn="l">
              <a:lnSpc>
                <a:spcPct val="142000"/>
              </a:lnSpc>
              <a:spcAft>
                <a:spcPts val="200"/>
              </a:spcAft>
            </a:pPr>
            <a:r>
              <a:rPr sz="1100" b="0" i="0" lang="en-US">
                <a:solidFill>
                  <a:srgbClr val="9A9AA2"/>
                </a:solidFill>
                <a:latin typeface="Menlo"/>
                <a:cs typeface="Menlo"/>
              </a:rPr>
              <a:t>---</a:t>
            </a:r>
          </a:p>
          <a:p>
            <a:pPr algn="l">
              <a:lnSpc>
                <a:spcPct val="142000"/>
              </a:lnSpc>
              <a:spcAft>
                <a:spcPts val="200"/>
              </a:spcAft>
            </a:pPr>
            <a:r>
              <a:rPr sz="1100" b="0" i="0" lang="en-US">
                <a:solidFill>
                  <a:srgbClr val="222225"/>
                </a:solidFill>
                <a:latin typeface="Menlo"/>
                <a:cs typeface="Menlo"/>
              </a:rPr>
              <a:t/>
            </a:r>
          </a:p>
          <a:p>
            <a:pPr algn="l">
              <a:lnSpc>
                <a:spcPct val="142000"/>
              </a:lnSpc>
              <a:spcAft>
                <a:spcPts val="200"/>
              </a:spcAft>
            </a:pPr>
            <a:r>
              <a:rPr sz="1100" b="1" i="0" lang="en-US">
                <a:solidFill>
                  <a:srgbClr val="222225"/>
                </a:solidFill>
                <a:latin typeface="Menlo"/>
                <a:cs typeface="Menlo"/>
              </a:rPr>
              <a:t># Leave Rules</a:t>
            </a:r>
          </a:p>
          <a:p>
            <a:pPr algn="l">
              <a:lnSpc>
                <a:spcPct val="142000"/>
              </a:lnSpc>
              <a:spcAft>
                <a:spcPts val="200"/>
              </a:spcAft>
            </a:pPr>
            <a:r>
              <a:rPr sz="1100" b="0" i="0" lang="en-US">
                <a:solidFill>
                  <a:srgbClr val="222225"/>
                </a:solidFill>
                <a:latin typeface="Menlo"/>
                <a:cs typeface="Menlo"/>
              </a:rPr>
              <a:t/>
            </a:r>
          </a:p>
          <a:p>
            <a:pPr algn="l">
              <a:lnSpc>
                <a:spcPct val="142000"/>
              </a:lnSpc>
              <a:spcAft>
                <a:spcPts val="200"/>
              </a:spcAft>
            </a:pPr>
            <a:r>
              <a:rPr sz="1100" b="0" i="0" lang="en-US">
                <a:solidFill>
                  <a:srgbClr val="63636B"/>
                </a:solidFill>
                <a:latin typeface="Menlo"/>
                <a:cs typeface="Menlo"/>
              </a:rPr>
              <a:t>Leave requests depend on</a:t>
            </a:r>
          </a:p>
          <a:p>
            <a:pPr algn="l">
              <a:lnSpc>
                <a:spcPct val="142000"/>
              </a:lnSpc>
              <a:spcAft>
                <a:spcPts val="200"/>
              </a:spcAft>
            </a:pPr>
            <a:r>
              <a:rPr sz="1100" b="0" i="0" lang="en-US">
                <a:solidFill>
                  <a:srgbClr val="FF6B2C"/>
                </a:solidFill>
                <a:latin typeface="Menlo"/>
                <a:cs typeface="Menlo"/>
              </a:rPr>
              <a:t>[Eligibility](../Eligibility.md)</a:t>
            </a:r>
          </a:p>
          <a:p>
            <a:pPr algn="l">
              <a:lnSpc>
                <a:spcPct val="142000"/>
              </a:lnSpc>
              <a:spcAft>
                <a:spcPts val="200"/>
              </a:spcAft>
            </a:pPr>
            <a:r>
              <a:rPr sz="1100" b="0" i="0" lang="en-US">
                <a:solidFill>
                  <a:srgbClr val="63636B"/>
                </a:solidFill>
                <a:latin typeface="Menlo"/>
                <a:cs typeface="Menlo"/>
              </a:rPr>
              <a:t>and may have</a:t>
            </a:r>
          </a:p>
          <a:p>
            <a:pPr algn="l">
              <a:lnSpc>
                <a:spcPct val="142000"/>
              </a:lnSpc>
              <a:spcAft>
                <a:spcPts val="200"/>
              </a:spcAft>
            </a:pPr>
            <a:r>
              <a:rPr sz="1100" b="0" i="0" lang="en-US">
                <a:solidFill>
                  <a:srgbClr val="FF6B2C"/>
                </a:solidFill>
                <a:latin typeface="Menlo"/>
                <a:cs typeface="Menlo"/>
              </a:rPr>
              <a:t>[Exceptions](../Exceptions.md)</a:t>
            </a:r>
          </a:p>
        </p:txBody>
      </p:sp>
      <p:cxnSp>
        <p:nvCxnSpPr>
          <p:cNvPr id="17" name="Connector 16"/>
          <p:cNvCxnSpPr/>
          <p:nvPr/>
        </p:nvCxnSpPr>
        <p:spPr>
          <a:xfrm>
            <a:off x="7589520" y="2441448"/>
            <a:ext cx="292608" cy="0"/>
          </a:xfrm>
          <a:prstGeom prst="line">
            <a:avLst/>
          </a:prstGeom>
          <a:ln w="12700">
            <a:solidFill>
              <a:srgbClr val="E7E7EA"/>
            </a:solidFill>
          </a:ln>
        </p:spPr>
      </p:cxnSp>
      <p:sp>
        <p:nvSpPr>
          <p:cNvPr id="18" name="Rectangle 17"/>
          <p:cNvSpPr/>
          <p:nvPr/>
        </p:nvSpPr>
        <p:spPr>
          <a:xfrm>
            <a:off x="7882127" y="2382012"/>
            <a:ext cx="91440" cy="91440"/>
          </a:xfrm>
          <a:prstGeom prst="rect">
            <a:avLst/>
          </a:prstGeom>
          <a:solidFill>
            <a:srgbClr val="FF6B2C"/>
          </a:solidFill>
          <a:ln>
            <a:noFill/>
          </a:ln>
          <a:effectLst/>
        </p:spPr>
        <p:txBody>
          <a:bodyPr rtlCol="0" anchor="ctr" wrap="square"/>
          <a:lstStyle/>
          <a:p>
            <a:pPr algn="ctr"/>
          </a:p>
        </p:txBody>
      </p:sp>
      <p:sp>
        <p:nvSpPr>
          <p:cNvPr id="19" name="TextBox 18"/>
          <p:cNvSpPr txBox="1"/>
          <p:nvPr/>
        </p:nvSpPr>
        <p:spPr>
          <a:xfrm>
            <a:off x="8065007" y="2331720"/>
            <a:ext cx="3438144" cy="237744"/>
          </a:xfrm>
          <a:prstGeom prst="rect">
            <a:avLst/>
          </a:prstGeom>
          <a:noFill/>
        </p:spPr>
        <p:txBody>
          <a:bodyPr wrap="square" anchor="t" lIns="0" rIns="0" tIns="0" bIns="0">
            <a:spAutoFit/>
          </a:bodyPr>
          <a:lstStyle/>
          <a:p>
            <a:pPr algn="l"/>
            <a:r>
              <a:rPr sz="1000" b="1" i="0" lang="en-US" spc="100">
                <a:solidFill>
                  <a:srgbClr val="0B0B0C"/>
                </a:solidFill>
                <a:latin typeface="Plus Jakarta Sans"/>
                <a:cs typeface="Plus Jakarta Sans"/>
              </a:rPr>
              <a:t>YAML FRONTMATTER</a:t>
            </a:r>
          </a:p>
        </p:txBody>
      </p:sp>
      <p:sp>
        <p:nvSpPr>
          <p:cNvPr id="20" name="TextBox 19"/>
          <p:cNvSpPr txBox="1"/>
          <p:nvPr/>
        </p:nvSpPr>
        <p:spPr>
          <a:xfrm>
            <a:off x="7882127" y="2642615"/>
            <a:ext cx="3621024" cy="914400"/>
          </a:xfrm>
          <a:prstGeom prst="rect">
            <a:avLst/>
          </a:prstGeom>
          <a:noFill/>
        </p:spPr>
        <p:txBody>
          <a:bodyPr wrap="square" anchor="t" lIns="0" rIns="0" tIns="0" bIns="0">
            <a:spAutoFit/>
          </a:bodyPr>
          <a:lstStyle/>
          <a:p>
            <a:pPr algn="l">
              <a:lnSpc>
                <a:spcPct val="150000"/>
              </a:lnSpc>
            </a:pPr>
            <a:r>
              <a:rPr sz="1050" b="0" i="0" lang="en-US">
                <a:solidFill>
                  <a:srgbClr val="63636B"/>
                </a:solidFill>
                <a:latin typeface="Plus Jakarta Sans"/>
                <a:cs typeface="Plus Jakarta Sans"/>
              </a:rPr>
              <a:t>Metadata lives at the top. In OKF v0.2, type is the only always-required key.</a:t>
            </a:r>
          </a:p>
        </p:txBody>
      </p:sp>
      <p:cxnSp>
        <p:nvCxnSpPr>
          <p:cNvPr id="21" name="Connector 20"/>
          <p:cNvCxnSpPr/>
          <p:nvPr/>
        </p:nvCxnSpPr>
        <p:spPr>
          <a:xfrm>
            <a:off x="7589520" y="3767328"/>
            <a:ext cx="292608" cy="0"/>
          </a:xfrm>
          <a:prstGeom prst="line">
            <a:avLst/>
          </a:prstGeom>
          <a:ln w="12700">
            <a:solidFill>
              <a:srgbClr val="E7E7EA"/>
            </a:solidFill>
          </a:ln>
        </p:spPr>
      </p:cxnSp>
      <p:sp>
        <p:nvSpPr>
          <p:cNvPr id="22" name="Rectangle 21"/>
          <p:cNvSpPr/>
          <p:nvPr/>
        </p:nvSpPr>
        <p:spPr>
          <a:xfrm>
            <a:off x="7882127" y="3707891"/>
            <a:ext cx="91440" cy="91440"/>
          </a:xfrm>
          <a:prstGeom prst="rect">
            <a:avLst/>
          </a:prstGeom>
          <a:solidFill>
            <a:srgbClr val="FF6B2C"/>
          </a:solidFill>
          <a:ln>
            <a:noFill/>
          </a:ln>
          <a:effectLst/>
        </p:spPr>
        <p:txBody>
          <a:bodyPr rtlCol="0" anchor="ctr" wrap="square"/>
          <a:lstStyle/>
          <a:p>
            <a:pPr algn="ctr"/>
          </a:p>
        </p:txBody>
      </p:sp>
      <p:sp>
        <p:nvSpPr>
          <p:cNvPr id="23" name="TextBox 22"/>
          <p:cNvSpPr txBox="1"/>
          <p:nvPr/>
        </p:nvSpPr>
        <p:spPr>
          <a:xfrm>
            <a:off x="8065007" y="3657600"/>
            <a:ext cx="3438144" cy="237744"/>
          </a:xfrm>
          <a:prstGeom prst="rect">
            <a:avLst/>
          </a:prstGeom>
          <a:noFill/>
        </p:spPr>
        <p:txBody>
          <a:bodyPr wrap="square" anchor="t" lIns="0" rIns="0" tIns="0" bIns="0">
            <a:spAutoFit/>
          </a:bodyPr>
          <a:lstStyle/>
          <a:p>
            <a:pPr algn="l"/>
            <a:r>
              <a:rPr sz="1000" b="1" i="0" lang="en-US" spc="100">
                <a:solidFill>
                  <a:srgbClr val="0B0B0C"/>
                </a:solidFill>
                <a:latin typeface="Plus Jakarta Sans"/>
                <a:cs typeface="Plus Jakarta Sans"/>
              </a:rPr>
              <a:t>MARKDOWN CONTENT</a:t>
            </a:r>
          </a:p>
        </p:txBody>
      </p:sp>
      <p:sp>
        <p:nvSpPr>
          <p:cNvPr id="24" name="TextBox 23"/>
          <p:cNvSpPr txBox="1"/>
          <p:nvPr/>
        </p:nvSpPr>
        <p:spPr>
          <a:xfrm>
            <a:off x="7882127" y="3968496"/>
            <a:ext cx="3621024" cy="914400"/>
          </a:xfrm>
          <a:prstGeom prst="rect">
            <a:avLst/>
          </a:prstGeom>
          <a:noFill/>
        </p:spPr>
        <p:txBody>
          <a:bodyPr wrap="square" anchor="t" lIns="0" rIns="0" tIns="0" bIns="0">
            <a:spAutoFit/>
          </a:bodyPr>
          <a:lstStyle/>
          <a:p>
            <a:pPr algn="l">
              <a:lnSpc>
                <a:spcPct val="150000"/>
              </a:lnSpc>
            </a:pPr>
            <a:r>
              <a:rPr sz="1050" b="0" i="0" lang="en-US">
                <a:solidFill>
                  <a:srgbClr val="63636B"/>
                </a:solidFill>
                <a:latin typeface="Plus Jakarta Sans"/>
                <a:cs typeface="Plus Jakarta Sans"/>
              </a:rPr>
              <a:t>Normal Markdown below the frontmatter. Any person or tool can read it directly.</a:t>
            </a:r>
          </a:p>
        </p:txBody>
      </p:sp>
      <p:cxnSp>
        <p:nvCxnSpPr>
          <p:cNvPr id="25" name="Connector 24"/>
          <p:cNvCxnSpPr/>
          <p:nvPr/>
        </p:nvCxnSpPr>
        <p:spPr>
          <a:xfrm>
            <a:off x="7589520" y="5093208"/>
            <a:ext cx="292608" cy="0"/>
          </a:xfrm>
          <a:prstGeom prst="line">
            <a:avLst/>
          </a:prstGeom>
          <a:ln w="12700">
            <a:solidFill>
              <a:srgbClr val="E7E7EA"/>
            </a:solidFill>
          </a:ln>
        </p:spPr>
      </p:cxnSp>
      <p:sp>
        <p:nvSpPr>
          <p:cNvPr id="26" name="Rectangle 25"/>
          <p:cNvSpPr/>
          <p:nvPr/>
        </p:nvSpPr>
        <p:spPr>
          <a:xfrm>
            <a:off x="7882127" y="5033772"/>
            <a:ext cx="91440" cy="91440"/>
          </a:xfrm>
          <a:prstGeom prst="rect">
            <a:avLst/>
          </a:prstGeom>
          <a:solidFill>
            <a:srgbClr val="FF6B2C"/>
          </a:solidFill>
          <a:ln>
            <a:noFill/>
          </a:ln>
          <a:effectLst/>
        </p:spPr>
        <p:txBody>
          <a:bodyPr rtlCol="0" anchor="ctr" wrap="square"/>
          <a:lstStyle/>
          <a:p>
            <a:pPr algn="ctr"/>
          </a:p>
        </p:txBody>
      </p:sp>
      <p:sp>
        <p:nvSpPr>
          <p:cNvPr id="27" name="TextBox 26"/>
          <p:cNvSpPr txBox="1"/>
          <p:nvPr/>
        </p:nvSpPr>
        <p:spPr>
          <a:xfrm>
            <a:off x="8065007" y="4983480"/>
            <a:ext cx="3438144" cy="237744"/>
          </a:xfrm>
          <a:prstGeom prst="rect">
            <a:avLst/>
          </a:prstGeom>
          <a:noFill/>
        </p:spPr>
        <p:txBody>
          <a:bodyPr wrap="square" anchor="t" lIns="0" rIns="0" tIns="0" bIns="0">
            <a:spAutoFit/>
          </a:bodyPr>
          <a:lstStyle/>
          <a:p>
            <a:pPr algn="l"/>
            <a:r>
              <a:rPr sz="1000" b="1" i="0" lang="en-US" spc="100">
                <a:solidFill>
                  <a:srgbClr val="0B0B0C"/>
                </a:solidFill>
                <a:latin typeface="Plus Jakarta Sans"/>
                <a:cs typeface="Plus Jakarta Sans"/>
              </a:rPr>
              <a:t>EXPLICIT LINKS</a:t>
            </a:r>
          </a:p>
        </p:txBody>
      </p:sp>
      <p:sp>
        <p:nvSpPr>
          <p:cNvPr id="28" name="TextBox 27"/>
          <p:cNvSpPr txBox="1"/>
          <p:nvPr/>
        </p:nvSpPr>
        <p:spPr>
          <a:xfrm>
            <a:off x="7882127" y="5294376"/>
            <a:ext cx="3621024" cy="914400"/>
          </a:xfrm>
          <a:prstGeom prst="rect">
            <a:avLst/>
          </a:prstGeom>
          <a:noFill/>
        </p:spPr>
        <p:txBody>
          <a:bodyPr wrap="square" anchor="t" lIns="0" rIns="0" tIns="0" bIns="0">
            <a:spAutoFit/>
          </a:bodyPr>
          <a:lstStyle/>
          <a:p>
            <a:pPr algn="l">
              <a:lnSpc>
                <a:spcPct val="150000"/>
              </a:lnSpc>
            </a:pPr>
            <a:r>
              <a:rPr sz="1050" b="0" i="0" lang="en-US">
                <a:solidFill>
                  <a:srgbClr val="63636B"/>
                </a:solidFill>
                <a:latin typeface="Plus Jakarta Sans"/>
                <a:cs typeface="Plus Jakarta Sans"/>
              </a:rPr>
              <a:t>Standard Markdown links connect one concept to another — knowledge as a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OKF</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14</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ARCHITECTURE</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OKF Starts With the Knowledge Layer</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“How do I retrieve a chunk?”  →  “How should this knowledge be represented?”</a:t>
            </a:r>
          </a:p>
        </p:txBody>
      </p:sp>
      <p:sp>
        <p:nvSpPr>
          <p:cNvPr id="11" name="Rounded Rectangle 10"/>
          <p:cNvSpPr/>
          <p:nvPr/>
        </p:nvSpPr>
        <p:spPr>
          <a:xfrm>
            <a:off x="685800" y="2249424"/>
            <a:ext cx="10820369" cy="768096"/>
          </a:xfrm>
          <a:prstGeom prst="roundRect">
            <a:avLst>
              <a:gd name="adj" fmla="val 11904"/>
            </a:avLst>
          </a:prstGeom>
          <a:solidFill>
            <a:srgbClr val="FFF4EE"/>
          </a:solidFill>
          <a:ln w="19050">
            <a:solidFill>
              <a:srgbClr val="FF6B2C"/>
            </a:solidFill>
          </a:ln>
          <a:effectLst/>
        </p:spPr>
        <p:txBody>
          <a:bodyPr rtlCol="0" anchor="ctr" wrap="square"/>
          <a:lstStyle/>
          <a:p>
            <a:pPr algn="ctr"/>
          </a:p>
        </p:txBody>
      </p:sp>
      <p:sp>
        <p:nvSpPr>
          <p:cNvPr id="12" name="TextBox 11"/>
          <p:cNvSpPr txBox="1"/>
          <p:nvPr/>
        </p:nvSpPr>
        <p:spPr>
          <a:xfrm>
            <a:off x="941832" y="2377440"/>
            <a:ext cx="457200" cy="182880"/>
          </a:xfrm>
          <a:prstGeom prst="rect">
            <a:avLst/>
          </a:prstGeom>
          <a:noFill/>
        </p:spPr>
        <p:txBody>
          <a:bodyPr wrap="square" anchor="t" lIns="0" rIns="0" tIns="0" bIns="0">
            <a:spAutoFit/>
          </a:bodyPr>
          <a:lstStyle/>
          <a:p>
            <a:pPr algn="l"/>
            <a:r>
              <a:rPr sz="750" b="1" i="0" lang="en-US" spc="100">
                <a:solidFill>
                  <a:srgbClr val="FF6B2C"/>
                </a:solidFill>
                <a:latin typeface="Plus Jakarta Sans"/>
                <a:cs typeface="Plus Jakarta Sans"/>
              </a:rPr>
              <a:t>01</a:t>
            </a:r>
          </a:p>
        </p:txBody>
      </p:sp>
      <p:sp>
        <p:nvSpPr>
          <p:cNvPr id="13" name="TextBox 12"/>
          <p:cNvSpPr txBox="1"/>
          <p:nvPr/>
        </p:nvSpPr>
        <p:spPr>
          <a:xfrm>
            <a:off x="941832" y="2578608"/>
            <a:ext cx="2834640" cy="310896"/>
          </a:xfrm>
          <a:prstGeom prst="rect">
            <a:avLst/>
          </a:prstGeom>
          <a:noFill/>
        </p:spPr>
        <p:txBody>
          <a:bodyPr wrap="square" anchor="ctr" lIns="0" rIns="0" tIns="0" bIns="0">
            <a:spAutoFit/>
          </a:bodyPr>
          <a:lstStyle/>
          <a:p>
            <a:pPr algn="l"/>
            <a:r>
              <a:rPr sz="1500" b="1" i="0" lang="en-US" spc="-20">
                <a:solidFill>
                  <a:srgbClr val="0B0B0C"/>
                </a:solidFill>
                <a:latin typeface="Plus Jakarta Sans"/>
                <a:cs typeface="Plus Jakarta Sans"/>
              </a:rPr>
              <a:t>KNOWLEDGE</a:t>
            </a:r>
          </a:p>
        </p:txBody>
      </p:sp>
      <p:cxnSp>
        <p:nvCxnSpPr>
          <p:cNvPr id="14" name="Connector 13"/>
          <p:cNvCxnSpPr/>
          <p:nvPr/>
        </p:nvCxnSpPr>
        <p:spPr>
          <a:xfrm>
            <a:off x="4114800" y="2395728"/>
            <a:ext cx="0" cy="475488"/>
          </a:xfrm>
          <a:prstGeom prst="line">
            <a:avLst/>
          </a:prstGeom>
          <a:ln w="12700">
            <a:solidFill>
              <a:srgbClr val="E7E7EA"/>
            </a:solidFill>
          </a:ln>
        </p:spPr>
      </p:cxnSp>
      <p:sp>
        <p:nvSpPr>
          <p:cNvPr id="15" name="TextBox 14"/>
          <p:cNvSpPr txBox="1"/>
          <p:nvPr/>
        </p:nvSpPr>
        <p:spPr>
          <a:xfrm>
            <a:off x="4389120" y="2386584"/>
            <a:ext cx="3931920" cy="310896"/>
          </a:xfrm>
          <a:prstGeom prst="rect">
            <a:avLst/>
          </a:prstGeom>
          <a:noFill/>
        </p:spPr>
        <p:txBody>
          <a:bodyPr wrap="square" anchor="ctr" lIns="0" rIns="0" tIns="0" bIns="0">
            <a:spAutoFit/>
          </a:bodyPr>
          <a:lstStyle/>
          <a:p>
            <a:pPr algn="l"/>
            <a:r>
              <a:rPr sz="1250" b="1" i="0" lang="en-US">
                <a:solidFill>
                  <a:srgbClr val="1A1A1D"/>
                </a:solidFill>
                <a:latin typeface="Plus Jakarta Sans"/>
                <a:cs typeface="Plus Jakarta Sans"/>
              </a:rPr>
              <a:t>Markdown  +  YAML frontmatter  +  links</a:t>
            </a:r>
          </a:p>
        </p:txBody>
      </p:sp>
      <p:sp>
        <p:nvSpPr>
          <p:cNvPr id="16" name="TextBox 15"/>
          <p:cNvSpPr txBox="1"/>
          <p:nvPr/>
        </p:nvSpPr>
        <p:spPr>
          <a:xfrm>
            <a:off x="4389120" y="2688336"/>
            <a:ext cx="39319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Representation — what OKF standardizes</a:t>
            </a:r>
          </a:p>
        </p:txBody>
      </p:sp>
      <p:sp>
        <p:nvSpPr>
          <p:cNvPr id="17" name="TextBox 16"/>
          <p:cNvSpPr txBox="1"/>
          <p:nvPr/>
        </p:nvSpPr>
        <p:spPr>
          <a:xfrm>
            <a:off x="9265889" y="2386584"/>
            <a:ext cx="1965960" cy="502920"/>
          </a:xfrm>
          <a:prstGeom prst="rect">
            <a:avLst/>
          </a:prstGeom>
          <a:noFill/>
        </p:spPr>
        <p:txBody>
          <a:bodyPr wrap="square" anchor="ctr" lIns="0" rIns="0" tIns="0" bIns="0">
            <a:spAutoFit/>
          </a:bodyPr>
          <a:lstStyle/>
          <a:p>
            <a:pPr algn="r"/>
            <a:r>
              <a:rPr sz="800" b="1" i="0" lang="en-US" spc="120">
                <a:solidFill>
                  <a:srgbClr val="9A9AA2"/>
                </a:solidFill>
                <a:latin typeface="Plus Jakarta Sans"/>
                <a:cs typeface="Plus Jakarta Sans"/>
              </a:rPr>
              <a:t>REPRESENTATION</a:t>
            </a:r>
          </a:p>
        </p:txBody>
      </p:sp>
      <p:cxnSp>
        <p:nvCxnSpPr>
          <p:cNvPr id="18" name="Connector 17"/>
          <p:cNvCxnSpPr/>
          <p:nvPr/>
        </p:nvCxnSpPr>
        <p:spPr>
          <a:xfrm>
            <a:off x="6096304" y="3044951"/>
            <a:ext cx="0" cy="164593"/>
          </a:xfrm>
          <a:prstGeom prst="line">
            <a:avLst/>
          </a:prstGeom>
          <a:ln w="16510">
            <a:solidFill>
              <a:srgbClr val="9A9AA2"/>
            </a:solidFill>
            <a:tailEnd type="triangle" w="sm" len="sm"/>
          </a:ln>
        </p:spPr>
      </p:cxnSp>
      <p:sp>
        <p:nvSpPr>
          <p:cNvPr id="19" name="Rounded Rectangle 18"/>
          <p:cNvSpPr/>
          <p:nvPr/>
        </p:nvSpPr>
        <p:spPr>
          <a:xfrm>
            <a:off x="685800" y="3236976"/>
            <a:ext cx="10820369" cy="768096"/>
          </a:xfrm>
          <a:prstGeom prst="roundRect">
            <a:avLst>
              <a:gd name="adj" fmla="val 11904"/>
            </a:avLst>
          </a:prstGeom>
          <a:solidFill>
            <a:srgbClr val="FFFFFF"/>
          </a:solidFill>
          <a:ln w="12700">
            <a:solidFill>
              <a:srgbClr val="E7E7EA"/>
            </a:solidFill>
          </a:ln>
          <a:effectLst/>
        </p:spPr>
        <p:txBody>
          <a:bodyPr rtlCol="0" anchor="ctr" wrap="square"/>
          <a:lstStyle/>
          <a:p>
            <a:pPr algn="ctr"/>
          </a:p>
        </p:txBody>
      </p:sp>
      <p:sp>
        <p:nvSpPr>
          <p:cNvPr id="20" name="TextBox 19"/>
          <p:cNvSpPr txBox="1"/>
          <p:nvPr/>
        </p:nvSpPr>
        <p:spPr>
          <a:xfrm>
            <a:off x="941832" y="3364992"/>
            <a:ext cx="457200" cy="182880"/>
          </a:xfrm>
          <a:prstGeom prst="rect">
            <a:avLst/>
          </a:prstGeom>
          <a:noFill/>
        </p:spPr>
        <p:txBody>
          <a:bodyPr wrap="square" anchor="t" lIns="0" rIns="0" tIns="0" bIns="0">
            <a:spAutoFit/>
          </a:bodyPr>
          <a:lstStyle/>
          <a:p>
            <a:pPr algn="l"/>
            <a:r>
              <a:rPr sz="750" b="1" i="0" lang="en-US" spc="100">
                <a:solidFill>
                  <a:srgbClr val="9A9AA2"/>
                </a:solidFill>
                <a:latin typeface="Plus Jakarta Sans"/>
                <a:cs typeface="Plus Jakarta Sans"/>
              </a:rPr>
              <a:t>02</a:t>
            </a:r>
          </a:p>
        </p:txBody>
      </p:sp>
      <p:sp>
        <p:nvSpPr>
          <p:cNvPr id="21" name="TextBox 20"/>
          <p:cNvSpPr txBox="1"/>
          <p:nvPr/>
        </p:nvSpPr>
        <p:spPr>
          <a:xfrm>
            <a:off x="941832" y="3566160"/>
            <a:ext cx="2834640" cy="310896"/>
          </a:xfrm>
          <a:prstGeom prst="rect">
            <a:avLst/>
          </a:prstGeom>
          <a:noFill/>
        </p:spPr>
        <p:txBody>
          <a:bodyPr wrap="square" anchor="ctr" lIns="0" rIns="0" tIns="0" bIns="0">
            <a:spAutoFit/>
          </a:bodyPr>
          <a:lstStyle/>
          <a:p>
            <a:pPr algn="l"/>
            <a:r>
              <a:rPr sz="1500" b="1" i="0" lang="en-US" spc="-20">
                <a:solidFill>
                  <a:srgbClr val="0B0B0C"/>
                </a:solidFill>
                <a:latin typeface="Plus Jakarta Sans"/>
                <a:cs typeface="Plus Jakarta Sans"/>
              </a:rPr>
              <a:t>CONSUMER</a:t>
            </a:r>
          </a:p>
        </p:txBody>
      </p:sp>
      <p:cxnSp>
        <p:nvCxnSpPr>
          <p:cNvPr id="22" name="Connector 21"/>
          <p:cNvCxnSpPr/>
          <p:nvPr/>
        </p:nvCxnSpPr>
        <p:spPr>
          <a:xfrm>
            <a:off x="4114800" y="3383280"/>
            <a:ext cx="0" cy="475488"/>
          </a:xfrm>
          <a:prstGeom prst="line">
            <a:avLst/>
          </a:prstGeom>
          <a:ln w="12700">
            <a:solidFill>
              <a:srgbClr val="E7E7EA"/>
            </a:solidFill>
          </a:ln>
        </p:spPr>
      </p:cxnSp>
      <p:sp>
        <p:nvSpPr>
          <p:cNvPr id="23" name="TextBox 22"/>
          <p:cNvSpPr txBox="1"/>
          <p:nvPr/>
        </p:nvSpPr>
        <p:spPr>
          <a:xfrm>
            <a:off x="4389120" y="3374136"/>
            <a:ext cx="3931920" cy="310896"/>
          </a:xfrm>
          <a:prstGeom prst="rect">
            <a:avLst/>
          </a:prstGeom>
          <a:noFill/>
        </p:spPr>
        <p:txBody>
          <a:bodyPr wrap="square" anchor="ctr" lIns="0" rIns="0" tIns="0" bIns="0">
            <a:spAutoFit/>
          </a:bodyPr>
          <a:lstStyle/>
          <a:p>
            <a:pPr algn="l"/>
            <a:r>
              <a:rPr sz="1250" b="1" i="0" lang="en-US">
                <a:solidFill>
                  <a:srgbClr val="1A1A1D"/>
                </a:solidFill>
                <a:latin typeface="Plus Jakarta Sans"/>
                <a:cs typeface="Plus Jakarta Sans"/>
              </a:rPr>
              <a:t>Search · Index · Graph · File reader · Agent</a:t>
            </a:r>
          </a:p>
        </p:txBody>
      </p:sp>
      <p:sp>
        <p:nvSpPr>
          <p:cNvPr id="24" name="TextBox 23"/>
          <p:cNvSpPr txBox="1"/>
          <p:nvPr/>
        </p:nvSpPr>
        <p:spPr>
          <a:xfrm>
            <a:off x="4389120" y="3675887"/>
            <a:ext cx="39319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OKF prescribes none of these</a:t>
            </a:r>
          </a:p>
        </p:txBody>
      </p:sp>
      <p:sp>
        <p:nvSpPr>
          <p:cNvPr id="25" name="TextBox 24"/>
          <p:cNvSpPr txBox="1"/>
          <p:nvPr/>
        </p:nvSpPr>
        <p:spPr>
          <a:xfrm>
            <a:off x="9265889" y="3374136"/>
            <a:ext cx="1965960" cy="502920"/>
          </a:xfrm>
          <a:prstGeom prst="rect">
            <a:avLst/>
          </a:prstGeom>
          <a:noFill/>
        </p:spPr>
        <p:txBody>
          <a:bodyPr wrap="square" anchor="ctr" lIns="0" rIns="0" tIns="0" bIns="0">
            <a:spAutoFit/>
          </a:bodyPr>
          <a:lstStyle/>
          <a:p>
            <a:pPr algn="r"/>
            <a:r>
              <a:rPr sz="800" b="1" i="0" lang="en-US" spc="120">
                <a:solidFill>
                  <a:srgbClr val="9A9AA2"/>
                </a:solidFill>
                <a:latin typeface="Plus Jakarta Sans"/>
                <a:cs typeface="Plus Jakarta Sans"/>
              </a:rPr>
              <a:t>CONSUMPTION</a:t>
            </a:r>
          </a:p>
        </p:txBody>
      </p:sp>
      <p:cxnSp>
        <p:nvCxnSpPr>
          <p:cNvPr id="26" name="Connector 25"/>
          <p:cNvCxnSpPr/>
          <p:nvPr/>
        </p:nvCxnSpPr>
        <p:spPr>
          <a:xfrm>
            <a:off x="6096304" y="4032504"/>
            <a:ext cx="0" cy="164592"/>
          </a:xfrm>
          <a:prstGeom prst="line">
            <a:avLst/>
          </a:prstGeom>
          <a:ln w="16510">
            <a:solidFill>
              <a:srgbClr val="9A9AA2"/>
            </a:solidFill>
            <a:tailEnd type="triangle" w="sm" len="sm"/>
          </a:ln>
        </p:spPr>
      </p:cxnSp>
      <p:sp>
        <p:nvSpPr>
          <p:cNvPr id="27" name="Rounded Rectangle 26"/>
          <p:cNvSpPr/>
          <p:nvPr/>
        </p:nvSpPr>
        <p:spPr>
          <a:xfrm>
            <a:off x="685800" y="4224528"/>
            <a:ext cx="10820369" cy="768096"/>
          </a:xfrm>
          <a:prstGeom prst="roundRect">
            <a:avLst>
              <a:gd name="adj" fmla="val 11904"/>
            </a:avLst>
          </a:prstGeom>
          <a:solidFill>
            <a:srgbClr val="FFFFFF"/>
          </a:solidFill>
          <a:ln w="12700">
            <a:solidFill>
              <a:srgbClr val="E7E7EA"/>
            </a:solidFill>
          </a:ln>
          <a:effectLst/>
        </p:spPr>
        <p:txBody>
          <a:bodyPr rtlCol="0" anchor="ctr" wrap="square"/>
          <a:lstStyle/>
          <a:p>
            <a:pPr algn="ctr"/>
          </a:p>
        </p:txBody>
      </p:sp>
      <p:sp>
        <p:nvSpPr>
          <p:cNvPr id="28" name="TextBox 27"/>
          <p:cNvSpPr txBox="1"/>
          <p:nvPr/>
        </p:nvSpPr>
        <p:spPr>
          <a:xfrm>
            <a:off x="941832" y="4352544"/>
            <a:ext cx="457200" cy="182880"/>
          </a:xfrm>
          <a:prstGeom prst="rect">
            <a:avLst/>
          </a:prstGeom>
          <a:noFill/>
        </p:spPr>
        <p:txBody>
          <a:bodyPr wrap="square" anchor="t" lIns="0" rIns="0" tIns="0" bIns="0">
            <a:spAutoFit/>
          </a:bodyPr>
          <a:lstStyle/>
          <a:p>
            <a:pPr algn="l"/>
            <a:r>
              <a:rPr sz="750" b="1" i="0" lang="en-US" spc="100">
                <a:solidFill>
                  <a:srgbClr val="9A9AA2"/>
                </a:solidFill>
                <a:latin typeface="Plus Jakarta Sans"/>
                <a:cs typeface="Plus Jakarta Sans"/>
              </a:rPr>
              <a:t>03</a:t>
            </a:r>
          </a:p>
        </p:txBody>
      </p:sp>
      <p:sp>
        <p:nvSpPr>
          <p:cNvPr id="29" name="TextBox 28"/>
          <p:cNvSpPr txBox="1"/>
          <p:nvPr/>
        </p:nvSpPr>
        <p:spPr>
          <a:xfrm>
            <a:off x="941832" y="4553712"/>
            <a:ext cx="2834640" cy="310896"/>
          </a:xfrm>
          <a:prstGeom prst="rect">
            <a:avLst/>
          </a:prstGeom>
          <a:noFill/>
        </p:spPr>
        <p:txBody>
          <a:bodyPr wrap="square" anchor="ctr" lIns="0" rIns="0" tIns="0" bIns="0">
            <a:spAutoFit/>
          </a:bodyPr>
          <a:lstStyle/>
          <a:p>
            <a:pPr algn="l"/>
            <a:r>
              <a:rPr sz="1500" b="1" i="0" lang="en-US" spc="-20">
                <a:solidFill>
                  <a:srgbClr val="0B0B0C"/>
                </a:solidFill>
                <a:latin typeface="Plus Jakarta Sans"/>
                <a:cs typeface="Plus Jakarta Sans"/>
              </a:rPr>
              <a:t>AI</a:t>
            </a:r>
          </a:p>
        </p:txBody>
      </p:sp>
      <p:cxnSp>
        <p:nvCxnSpPr>
          <p:cNvPr id="30" name="Connector 29"/>
          <p:cNvCxnSpPr/>
          <p:nvPr/>
        </p:nvCxnSpPr>
        <p:spPr>
          <a:xfrm>
            <a:off x="4114800" y="4370832"/>
            <a:ext cx="0" cy="475488"/>
          </a:xfrm>
          <a:prstGeom prst="line">
            <a:avLst/>
          </a:prstGeom>
          <a:ln w="12700">
            <a:solidFill>
              <a:srgbClr val="E7E7EA"/>
            </a:solidFill>
          </a:ln>
        </p:spPr>
      </p:cxnSp>
      <p:sp>
        <p:nvSpPr>
          <p:cNvPr id="31" name="TextBox 30"/>
          <p:cNvSpPr txBox="1"/>
          <p:nvPr/>
        </p:nvSpPr>
        <p:spPr>
          <a:xfrm>
            <a:off x="4389120" y="4361688"/>
            <a:ext cx="3931920" cy="310896"/>
          </a:xfrm>
          <a:prstGeom prst="rect">
            <a:avLst/>
          </a:prstGeom>
          <a:noFill/>
        </p:spPr>
        <p:txBody>
          <a:bodyPr wrap="square" anchor="ctr" lIns="0" rIns="0" tIns="0" bIns="0">
            <a:spAutoFit/>
          </a:bodyPr>
          <a:lstStyle/>
          <a:p>
            <a:pPr algn="l"/>
            <a:r>
              <a:rPr sz="1250" b="1" i="0" lang="en-US">
                <a:solidFill>
                  <a:srgbClr val="1A1A1D"/>
                </a:solidFill>
                <a:latin typeface="Plus Jakarta Sans"/>
                <a:cs typeface="Plus Jakarta Sans"/>
              </a:rPr>
              <a:t>LLM / Agent</a:t>
            </a:r>
          </a:p>
        </p:txBody>
      </p:sp>
      <p:sp>
        <p:nvSpPr>
          <p:cNvPr id="32" name="TextBox 31"/>
          <p:cNvSpPr txBox="1"/>
          <p:nvPr/>
        </p:nvSpPr>
        <p:spPr>
          <a:xfrm>
            <a:off x="4389120" y="4663440"/>
            <a:ext cx="39319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Your choice of model stays yours</a:t>
            </a:r>
          </a:p>
        </p:txBody>
      </p:sp>
      <p:sp>
        <p:nvSpPr>
          <p:cNvPr id="33" name="TextBox 32"/>
          <p:cNvSpPr txBox="1"/>
          <p:nvPr/>
        </p:nvSpPr>
        <p:spPr>
          <a:xfrm>
            <a:off x="9265889" y="4361688"/>
            <a:ext cx="1965960" cy="502920"/>
          </a:xfrm>
          <a:prstGeom prst="rect">
            <a:avLst/>
          </a:prstGeom>
          <a:noFill/>
        </p:spPr>
        <p:txBody>
          <a:bodyPr wrap="square" anchor="ctr" lIns="0" rIns="0" tIns="0" bIns="0">
            <a:spAutoFit/>
          </a:bodyPr>
          <a:lstStyle/>
          <a:p>
            <a:pPr algn="r"/>
            <a:r>
              <a:rPr sz="800" b="1" i="0" lang="en-US" spc="120">
                <a:solidFill>
                  <a:srgbClr val="9A9AA2"/>
                </a:solidFill>
                <a:latin typeface="Plus Jakarta Sans"/>
                <a:cs typeface="Plus Jakarta Sans"/>
              </a:rPr>
              <a:t>REASONING</a:t>
            </a:r>
          </a:p>
        </p:txBody>
      </p:sp>
      <p:cxnSp>
        <p:nvCxnSpPr>
          <p:cNvPr id="34" name="Connector 33"/>
          <p:cNvCxnSpPr/>
          <p:nvPr/>
        </p:nvCxnSpPr>
        <p:spPr>
          <a:xfrm>
            <a:off x="6096304" y="5020056"/>
            <a:ext cx="0" cy="164592"/>
          </a:xfrm>
          <a:prstGeom prst="line">
            <a:avLst/>
          </a:prstGeom>
          <a:ln w="16510">
            <a:solidFill>
              <a:srgbClr val="9A9AA2"/>
            </a:solidFill>
            <a:tailEnd type="triangle" w="sm" len="sm"/>
          </a:ln>
        </p:spPr>
      </p:cxnSp>
      <p:sp>
        <p:nvSpPr>
          <p:cNvPr id="35" name="Rounded Rectangle 34"/>
          <p:cNvSpPr/>
          <p:nvPr/>
        </p:nvSpPr>
        <p:spPr>
          <a:xfrm>
            <a:off x="685800" y="5212080"/>
            <a:ext cx="10820369" cy="768096"/>
          </a:xfrm>
          <a:prstGeom prst="roundRect">
            <a:avLst>
              <a:gd name="adj" fmla="val 11904"/>
            </a:avLst>
          </a:prstGeom>
          <a:solidFill>
            <a:srgbClr val="FFFFFF"/>
          </a:solidFill>
          <a:ln w="12700">
            <a:solidFill>
              <a:srgbClr val="E7E7EA"/>
            </a:solidFill>
          </a:ln>
          <a:effectLst/>
        </p:spPr>
        <p:txBody>
          <a:bodyPr rtlCol="0" anchor="ctr" wrap="square"/>
          <a:lstStyle/>
          <a:p>
            <a:pPr algn="ctr"/>
          </a:p>
        </p:txBody>
      </p:sp>
      <p:sp>
        <p:nvSpPr>
          <p:cNvPr id="36" name="TextBox 35"/>
          <p:cNvSpPr txBox="1"/>
          <p:nvPr/>
        </p:nvSpPr>
        <p:spPr>
          <a:xfrm>
            <a:off x="941832" y="5340096"/>
            <a:ext cx="457200" cy="182880"/>
          </a:xfrm>
          <a:prstGeom prst="rect">
            <a:avLst/>
          </a:prstGeom>
          <a:noFill/>
        </p:spPr>
        <p:txBody>
          <a:bodyPr wrap="square" anchor="t" lIns="0" rIns="0" tIns="0" bIns="0">
            <a:spAutoFit/>
          </a:bodyPr>
          <a:lstStyle/>
          <a:p>
            <a:pPr algn="l"/>
            <a:r>
              <a:rPr sz="750" b="1" i="0" lang="en-US" spc="100">
                <a:solidFill>
                  <a:srgbClr val="9A9AA2"/>
                </a:solidFill>
                <a:latin typeface="Plus Jakarta Sans"/>
                <a:cs typeface="Plus Jakarta Sans"/>
              </a:rPr>
              <a:t>04</a:t>
            </a:r>
          </a:p>
        </p:txBody>
      </p:sp>
      <p:sp>
        <p:nvSpPr>
          <p:cNvPr id="37" name="TextBox 36"/>
          <p:cNvSpPr txBox="1"/>
          <p:nvPr/>
        </p:nvSpPr>
        <p:spPr>
          <a:xfrm>
            <a:off x="941832" y="5541264"/>
            <a:ext cx="2834640" cy="310896"/>
          </a:xfrm>
          <a:prstGeom prst="rect">
            <a:avLst/>
          </a:prstGeom>
          <a:noFill/>
        </p:spPr>
        <p:txBody>
          <a:bodyPr wrap="square" anchor="ctr" lIns="0" rIns="0" tIns="0" bIns="0">
            <a:spAutoFit/>
          </a:bodyPr>
          <a:lstStyle/>
          <a:p>
            <a:pPr algn="l"/>
            <a:r>
              <a:rPr sz="1500" b="1" i="0" lang="en-US" spc="-20">
                <a:solidFill>
                  <a:srgbClr val="0B0B0C"/>
                </a:solidFill>
                <a:latin typeface="Plus Jakarta Sans"/>
                <a:cs typeface="Plus Jakarta Sans"/>
              </a:rPr>
              <a:t>USER EXPERIENCE</a:t>
            </a:r>
          </a:p>
        </p:txBody>
      </p:sp>
      <p:cxnSp>
        <p:nvCxnSpPr>
          <p:cNvPr id="38" name="Connector 37"/>
          <p:cNvCxnSpPr/>
          <p:nvPr/>
        </p:nvCxnSpPr>
        <p:spPr>
          <a:xfrm>
            <a:off x="4114800" y="5358384"/>
            <a:ext cx="0" cy="475488"/>
          </a:xfrm>
          <a:prstGeom prst="line">
            <a:avLst/>
          </a:prstGeom>
          <a:ln w="12700">
            <a:solidFill>
              <a:srgbClr val="E7E7EA"/>
            </a:solidFill>
          </a:ln>
        </p:spPr>
      </p:cxnSp>
      <p:sp>
        <p:nvSpPr>
          <p:cNvPr id="39" name="TextBox 38"/>
          <p:cNvSpPr txBox="1"/>
          <p:nvPr/>
        </p:nvSpPr>
        <p:spPr>
          <a:xfrm>
            <a:off x="4389120" y="5349240"/>
            <a:ext cx="3931920" cy="310896"/>
          </a:xfrm>
          <a:prstGeom prst="rect">
            <a:avLst/>
          </a:prstGeom>
          <a:noFill/>
        </p:spPr>
        <p:txBody>
          <a:bodyPr wrap="square" anchor="ctr" lIns="0" rIns="0" tIns="0" bIns="0">
            <a:spAutoFit/>
          </a:bodyPr>
          <a:lstStyle/>
          <a:p>
            <a:pPr algn="l"/>
            <a:r>
              <a:rPr sz="1250" b="1" i="0" lang="en-US">
                <a:solidFill>
                  <a:srgbClr val="1A1A1D"/>
                </a:solidFill>
                <a:latin typeface="Plus Jakarta Sans"/>
                <a:cs typeface="Plus Jakarta Sans"/>
              </a:rPr>
              <a:t>Chat · Search · Dashboard · API</a:t>
            </a:r>
          </a:p>
        </p:txBody>
      </p:sp>
      <p:sp>
        <p:nvSpPr>
          <p:cNvPr id="40" name="TextBox 39"/>
          <p:cNvSpPr txBox="1"/>
          <p:nvPr/>
        </p:nvSpPr>
        <p:spPr>
          <a:xfrm>
            <a:off x="4389120" y="5650992"/>
            <a:ext cx="3931920" cy="237744"/>
          </a:xfrm>
          <a:prstGeom prst="rect">
            <a:avLst/>
          </a:prstGeom>
          <a:noFill/>
        </p:spPr>
        <p:txBody>
          <a:bodyPr wrap="square" anchor="t" lIns="0" rIns="0" tIns="0" bIns="0">
            <a:spAutoFit/>
          </a:bodyPr>
          <a:lstStyle/>
          <a:p>
            <a:pPr algn="l"/>
            <a:r>
              <a:rPr sz="900" b="0" i="0" lang="en-US">
                <a:solidFill>
                  <a:srgbClr val="9A9AA2"/>
                </a:solidFill>
                <a:latin typeface="Plus Jakarta Sans"/>
                <a:cs typeface="Plus Jakarta Sans"/>
              </a:rPr>
              <a:t>Whatever your product needs</a:t>
            </a:r>
          </a:p>
        </p:txBody>
      </p:sp>
      <p:sp>
        <p:nvSpPr>
          <p:cNvPr id="41" name="TextBox 40"/>
          <p:cNvSpPr txBox="1"/>
          <p:nvPr/>
        </p:nvSpPr>
        <p:spPr>
          <a:xfrm>
            <a:off x="9265889" y="5349240"/>
            <a:ext cx="1965960" cy="502920"/>
          </a:xfrm>
          <a:prstGeom prst="rect">
            <a:avLst/>
          </a:prstGeom>
          <a:noFill/>
        </p:spPr>
        <p:txBody>
          <a:bodyPr wrap="square" anchor="ctr" lIns="0" rIns="0" tIns="0" bIns="0">
            <a:spAutoFit/>
          </a:bodyPr>
          <a:lstStyle/>
          <a:p>
            <a:pPr algn="r"/>
            <a:r>
              <a:rPr sz="800" b="1" i="0" lang="en-US" spc="120">
                <a:solidFill>
                  <a:srgbClr val="9A9AA2"/>
                </a:solidFill>
                <a:latin typeface="Plus Jakarta Sans"/>
                <a:cs typeface="Plus Jakarta Sans"/>
              </a:rPr>
              <a:t>EXPERIENCE</a:t>
            </a:r>
          </a:p>
        </p:txBody>
      </p:sp>
      <p:sp>
        <p:nvSpPr>
          <p:cNvPr id="42" name="TextBox 41"/>
          <p:cNvSpPr txBox="1"/>
          <p:nvPr/>
        </p:nvSpPr>
        <p:spPr>
          <a:xfrm>
            <a:off x="685800" y="6071616"/>
            <a:ext cx="10820369" cy="329184"/>
          </a:xfrm>
          <a:prstGeom prst="rect">
            <a:avLst/>
          </a:prstGeom>
          <a:noFill/>
        </p:spPr>
        <p:txBody>
          <a:bodyPr wrap="square" anchor="t" lIns="0" rIns="0" tIns="0" bIns="0">
            <a:spAutoFit/>
          </a:bodyPr>
          <a:lstStyle/>
          <a:p>
            <a:pPr algn="ctr"/>
            <a:r>
              <a:rPr sz="1150" b="0" i="0" lang="en-US">
                <a:solidFill>
                  <a:srgbClr val="63636B"/>
                </a:solidFill>
                <a:latin typeface="Plus Jakarta Sans"/>
                <a:cs typeface="Plus Jakarta Sans"/>
              </a:rPr>
              <a:t>OKF is a knowledge representation layer — not a runtime, not a model, not a search engine.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OKF VS RAG</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15</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THE BIG COMPARISON</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OKF vs Traditional RAG</a:t>
            </a:r>
          </a:p>
        </p:txBody>
      </p:sp>
      <p:sp>
        <p:nvSpPr>
          <p:cNvPr id="10" name="Rounded Rectangle 9"/>
          <p:cNvSpPr/>
          <p:nvPr/>
        </p:nvSpPr>
        <p:spPr>
          <a:xfrm>
            <a:off x="685800" y="1965960"/>
            <a:ext cx="5029200" cy="3566160"/>
          </a:xfrm>
          <a:prstGeom prst="roundRect">
            <a:avLst>
              <a:gd name="adj" fmla="val 3076"/>
            </a:avLst>
          </a:prstGeom>
          <a:solidFill>
            <a:srgbClr val="FFFFFF"/>
          </a:solidFill>
          <a:ln w="15875">
            <a:solidFill>
              <a:srgbClr val="E7E7EA"/>
            </a:solidFill>
          </a:ln>
          <a:effectLst/>
        </p:spPr>
        <p:txBody>
          <a:bodyPr rtlCol="0" anchor="ctr" wrap="square"/>
          <a:lstStyle/>
          <a:p>
            <a:pPr algn="ctr"/>
          </a:p>
        </p:txBody>
      </p:sp>
      <p:sp>
        <p:nvSpPr>
          <p:cNvPr id="11" name="Rounded Rectangle 10"/>
          <p:cNvSpPr/>
          <p:nvPr/>
        </p:nvSpPr>
        <p:spPr>
          <a:xfrm>
            <a:off x="685800" y="1965960"/>
            <a:ext cx="5029200" cy="54864"/>
          </a:xfrm>
          <a:prstGeom prst="roundRect">
            <a:avLst>
              <a:gd name="adj" fmla="val 33333"/>
            </a:avLst>
          </a:prstGeom>
          <a:solidFill>
            <a:srgbClr val="222225"/>
          </a:solidFill>
          <a:ln>
            <a:noFill/>
          </a:ln>
          <a:effectLst/>
        </p:spPr>
        <p:txBody>
          <a:bodyPr rtlCol="0" anchor="ctr" wrap="square"/>
          <a:lstStyle/>
          <a:p>
            <a:pPr algn="ctr"/>
          </a:p>
        </p:txBody>
      </p:sp>
      <p:sp>
        <p:nvSpPr>
          <p:cNvPr id="12" name="TextBox 11"/>
          <p:cNvSpPr txBox="1"/>
          <p:nvPr/>
        </p:nvSpPr>
        <p:spPr>
          <a:xfrm>
            <a:off x="960120" y="2185415"/>
            <a:ext cx="4480560" cy="292608"/>
          </a:xfrm>
          <a:prstGeom prst="rect">
            <a:avLst/>
          </a:prstGeom>
          <a:noFill/>
        </p:spPr>
        <p:txBody>
          <a:bodyPr wrap="square" anchor="t" lIns="0" rIns="0" tIns="0" bIns="0">
            <a:spAutoFit/>
          </a:bodyPr>
          <a:lstStyle/>
          <a:p>
            <a:pPr algn="l"/>
            <a:r>
              <a:rPr sz="1400" b="1" i="0" lang="en-US" spc="60">
                <a:solidFill>
                  <a:srgbClr val="0B0B0C"/>
                </a:solidFill>
                <a:latin typeface="Plus Jakarta Sans"/>
                <a:cs typeface="Plus Jakarta Sans"/>
              </a:rPr>
              <a:t>TRADITIONAL RAG</a:t>
            </a:r>
          </a:p>
        </p:txBody>
      </p:sp>
      <p:sp>
        <p:nvSpPr>
          <p:cNvPr id="13" name="TextBox 12"/>
          <p:cNvSpPr txBox="1"/>
          <p:nvPr/>
        </p:nvSpPr>
        <p:spPr>
          <a:xfrm>
            <a:off x="960120" y="2496312"/>
            <a:ext cx="4480560" cy="219456"/>
          </a:xfrm>
          <a:prstGeom prst="rect">
            <a:avLst/>
          </a:prstGeom>
          <a:noFill/>
        </p:spPr>
        <p:txBody>
          <a:bodyPr wrap="square" anchor="t" lIns="0" rIns="0" tIns="0" bIns="0">
            <a:spAutoFit/>
          </a:bodyPr>
          <a:lstStyle/>
          <a:p>
            <a:pPr algn="l"/>
            <a:r>
              <a:rPr sz="800" b="1" i="0" lang="en-US" spc="120">
                <a:solidFill>
                  <a:srgbClr val="9A9AA2"/>
                </a:solidFill>
                <a:latin typeface="Plus Jakarta Sans"/>
                <a:cs typeface="Plus Jakarta Sans"/>
              </a:rPr>
              <a:t>RETRIEVAL + GENERATION ARCHITECTURE</a:t>
            </a:r>
          </a:p>
        </p:txBody>
      </p:sp>
      <p:cxnSp>
        <p:nvCxnSpPr>
          <p:cNvPr id="14" name="Connector 13"/>
          <p:cNvCxnSpPr/>
          <p:nvPr/>
        </p:nvCxnSpPr>
        <p:spPr>
          <a:xfrm>
            <a:off x="960120" y="2807208"/>
            <a:ext cx="4480560" cy="0"/>
          </a:xfrm>
          <a:prstGeom prst="line">
            <a:avLst/>
          </a:prstGeom>
          <a:ln w="12700">
            <a:solidFill>
              <a:srgbClr val="E7E7EA"/>
            </a:solidFill>
          </a:ln>
        </p:spPr>
      </p:cxnSp>
      <p:sp>
        <p:nvSpPr>
          <p:cNvPr id="15" name="TextBox 14"/>
          <p:cNvSpPr txBox="1"/>
          <p:nvPr/>
        </p:nvSpPr>
        <p:spPr>
          <a:xfrm>
            <a:off x="960120" y="2953512"/>
            <a:ext cx="1371600" cy="182880"/>
          </a:xfrm>
          <a:prstGeom prst="rect">
            <a:avLst/>
          </a:prstGeom>
          <a:noFill/>
        </p:spPr>
        <p:txBody>
          <a:bodyPr wrap="square" anchor="t" lIns="0" rIns="0" tIns="0" bIns="0">
            <a:spAutoFit/>
          </a:bodyPr>
          <a:lstStyle/>
          <a:p>
            <a:pPr algn="l"/>
            <a:r>
              <a:rPr sz="750" b="1" i="0" lang="en-US" spc="120">
                <a:solidFill>
                  <a:srgbClr val="FF6B2C"/>
                </a:solidFill>
                <a:latin typeface="Plus Jakarta Sans"/>
                <a:cs typeface="Plus Jakarta Sans"/>
              </a:rPr>
              <a:t>FOCUS</a:t>
            </a:r>
          </a:p>
        </p:txBody>
      </p:sp>
      <p:sp>
        <p:nvSpPr>
          <p:cNvPr id="16" name="TextBox 15"/>
          <p:cNvSpPr txBox="1"/>
          <p:nvPr/>
        </p:nvSpPr>
        <p:spPr>
          <a:xfrm>
            <a:off x="960120" y="3172968"/>
            <a:ext cx="4480560" cy="310896"/>
          </a:xfrm>
          <a:prstGeom prst="rect">
            <a:avLst/>
          </a:prstGeom>
          <a:noFill/>
        </p:spPr>
        <p:txBody>
          <a:bodyPr wrap="square" anchor="t" lIns="0" rIns="0" tIns="0" bIns="0">
            <a:spAutoFit/>
          </a:bodyPr>
          <a:lstStyle/>
          <a:p>
            <a:pPr algn="l"/>
            <a:r>
              <a:rPr sz="1300" b="1" i="0" lang="en-US" spc="-20">
                <a:solidFill>
                  <a:srgbClr val="0B0B0C"/>
                </a:solidFill>
                <a:latin typeface="Plus Jakarta Sans"/>
                <a:cs typeface="Plus Jakarta Sans"/>
              </a:rPr>
              <a:t>Find relevant context for a query.</a:t>
            </a:r>
          </a:p>
        </p:txBody>
      </p:sp>
      <p:sp>
        <p:nvSpPr>
          <p:cNvPr id="17" name="TextBox 16"/>
          <p:cNvSpPr txBox="1"/>
          <p:nvPr/>
        </p:nvSpPr>
        <p:spPr>
          <a:xfrm>
            <a:off x="960120" y="3593591"/>
            <a:ext cx="2286000" cy="182880"/>
          </a:xfrm>
          <a:prstGeom prst="rect">
            <a:avLst/>
          </a:prstGeom>
          <a:noFill/>
        </p:spPr>
        <p:txBody>
          <a:bodyPr wrap="square" anchor="t" lIns="0" rIns="0" tIns="0" bIns="0">
            <a:spAutoFit/>
          </a:bodyPr>
          <a:lstStyle/>
          <a:p>
            <a:pPr algn="l"/>
            <a:r>
              <a:rPr sz="750" b="1" i="0" lang="en-US" spc="120">
                <a:solidFill>
                  <a:srgbClr val="FF6B2C"/>
                </a:solidFill>
                <a:latin typeface="Plus Jakarta Sans"/>
                <a:cs typeface="Plus Jakarta Sans"/>
              </a:rPr>
              <a:t>COMMON PIPELINE</a:t>
            </a:r>
          </a:p>
        </p:txBody>
      </p:sp>
      <p:sp>
        <p:nvSpPr>
          <p:cNvPr id="18" name="Rounded Rectangle 17"/>
          <p:cNvSpPr/>
          <p:nvPr/>
        </p:nvSpPr>
        <p:spPr>
          <a:xfrm>
            <a:off x="960120" y="3831335"/>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Chunk</a:t>
            </a:r>
          </a:p>
        </p:txBody>
      </p:sp>
      <p:cxnSp>
        <p:nvCxnSpPr>
          <p:cNvPr id="19" name="Connector 18"/>
          <p:cNvCxnSpPr/>
          <p:nvPr/>
        </p:nvCxnSpPr>
        <p:spPr>
          <a:xfrm>
            <a:off x="2340864" y="3995927"/>
            <a:ext cx="164592" cy="0"/>
          </a:xfrm>
          <a:prstGeom prst="line">
            <a:avLst/>
          </a:prstGeom>
          <a:ln w="12700">
            <a:solidFill>
              <a:srgbClr val="9A9AA2"/>
            </a:solidFill>
            <a:tailEnd type="triangle" w="sm" len="sm"/>
          </a:ln>
        </p:spPr>
      </p:cxnSp>
      <p:sp>
        <p:nvSpPr>
          <p:cNvPr id="20" name="Rounded Rectangle 19"/>
          <p:cNvSpPr/>
          <p:nvPr/>
        </p:nvSpPr>
        <p:spPr>
          <a:xfrm>
            <a:off x="2532888" y="3831335"/>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Embed</a:t>
            </a:r>
          </a:p>
        </p:txBody>
      </p:sp>
      <p:cxnSp>
        <p:nvCxnSpPr>
          <p:cNvPr id="21" name="Connector 20"/>
          <p:cNvCxnSpPr/>
          <p:nvPr/>
        </p:nvCxnSpPr>
        <p:spPr>
          <a:xfrm>
            <a:off x="3913632" y="3995927"/>
            <a:ext cx="164592" cy="0"/>
          </a:xfrm>
          <a:prstGeom prst="line">
            <a:avLst/>
          </a:prstGeom>
          <a:ln w="12700">
            <a:solidFill>
              <a:srgbClr val="9A9AA2"/>
            </a:solidFill>
            <a:tailEnd type="triangle" w="sm" len="sm"/>
          </a:ln>
        </p:spPr>
      </p:cxnSp>
      <p:sp>
        <p:nvSpPr>
          <p:cNvPr id="22" name="Rounded Rectangle 21"/>
          <p:cNvSpPr/>
          <p:nvPr/>
        </p:nvSpPr>
        <p:spPr>
          <a:xfrm>
            <a:off x="4105656" y="3831335"/>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Search</a:t>
            </a:r>
          </a:p>
        </p:txBody>
      </p:sp>
      <p:sp>
        <p:nvSpPr>
          <p:cNvPr id="23" name="Rounded Rectangle 22"/>
          <p:cNvSpPr/>
          <p:nvPr/>
        </p:nvSpPr>
        <p:spPr>
          <a:xfrm>
            <a:off x="960120" y="4398264"/>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Retrieve</a:t>
            </a:r>
          </a:p>
        </p:txBody>
      </p:sp>
      <p:cxnSp>
        <p:nvCxnSpPr>
          <p:cNvPr id="24" name="Connector 23"/>
          <p:cNvCxnSpPr/>
          <p:nvPr/>
        </p:nvCxnSpPr>
        <p:spPr>
          <a:xfrm>
            <a:off x="2340864" y="4562855"/>
            <a:ext cx="164592" cy="0"/>
          </a:xfrm>
          <a:prstGeom prst="line">
            <a:avLst/>
          </a:prstGeom>
          <a:ln w="12700">
            <a:solidFill>
              <a:srgbClr val="9A9AA2"/>
            </a:solidFill>
            <a:tailEnd type="triangle" w="sm" len="sm"/>
          </a:ln>
        </p:spPr>
      </p:cxnSp>
      <p:sp>
        <p:nvSpPr>
          <p:cNvPr id="25" name="Rounded Rectangle 24"/>
          <p:cNvSpPr/>
          <p:nvPr/>
        </p:nvSpPr>
        <p:spPr>
          <a:xfrm>
            <a:off x="2532888" y="4398264"/>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Context</a:t>
            </a:r>
          </a:p>
        </p:txBody>
      </p:sp>
      <p:cxnSp>
        <p:nvCxnSpPr>
          <p:cNvPr id="26" name="Connector 25"/>
          <p:cNvCxnSpPr/>
          <p:nvPr/>
        </p:nvCxnSpPr>
        <p:spPr>
          <a:xfrm>
            <a:off x="3913632" y="4562855"/>
            <a:ext cx="164592" cy="0"/>
          </a:xfrm>
          <a:prstGeom prst="line">
            <a:avLst/>
          </a:prstGeom>
          <a:ln w="12700">
            <a:solidFill>
              <a:srgbClr val="9A9AA2"/>
            </a:solidFill>
            <a:tailEnd type="triangle" w="sm" len="sm"/>
          </a:ln>
        </p:spPr>
      </p:cxnSp>
      <p:sp>
        <p:nvSpPr>
          <p:cNvPr id="27" name="Rounded Rectangle 26"/>
          <p:cNvSpPr/>
          <p:nvPr/>
        </p:nvSpPr>
        <p:spPr>
          <a:xfrm>
            <a:off x="4105656" y="4398264"/>
            <a:ext cx="1353312" cy="329184"/>
          </a:xfrm>
          <a:prstGeom prst="roundRect">
            <a:avLst>
              <a:gd name="adj" fmla="val 19444"/>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950" b="1" i="0" lang="en-US" spc="20">
                <a:solidFill>
                  <a:srgbClr val="1A1A1D"/>
                </a:solidFill>
                <a:latin typeface="Plus Jakarta Sans"/>
                <a:cs typeface="Plus Jakarta Sans"/>
              </a:rPr>
              <a:t>LLM</a:t>
            </a:r>
          </a:p>
        </p:txBody>
      </p:sp>
      <p:sp>
        <p:nvSpPr>
          <p:cNvPr id="28" name="Rounded Rectangle 27"/>
          <p:cNvSpPr/>
          <p:nvPr/>
        </p:nvSpPr>
        <p:spPr>
          <a:xfrm>
            <a:off x="960120" y="4818888"/>
            <a:ext cx="4480560" cy="603504"/>
          </a:xfrm>
          <a:prstGeom prst="roundRect">
            <a:avLst>
              <a:gd name="adj" fmla="val 12121"/>
            </a:avLst>
          </a:prstGeom>
          <a:solidFill>
            <a:srgbClr val="FAFAFB"/>
          </a:solidFill>
          <a:ln w="12700">
            <a:solidFill>
              <a:srgbClr val="E7E7EA"/>
            </a:solidFill>
          </a:ln>
          <a:effectLst/>
        </p:spPr>
        <p:txBody>
          <a:bodyPr rtlCol="0" anchor="ctr" wrap="square"/>
          <a:lstStyle/>
          <a:p>
            <a:pPr algn="ctr"/>
          </a:p>
        </p:txBody>
      </p:sp>
      <p:sp>
        <p:nvSpPr>
          <p:cNvPr id="29" name="TextBox 28"/>
          <p:cNvSpPr txBox="1"/>
          <p:nvPr/>
        </p:nvSpPr>
        <p:spPr>
          <a:xfrm>
            <a:off x="1097280" y="4873752"/>
            <a:ext cx="4206240" cy="182880"/>
          </a:xfrm>
          <a:prstGeom prst="rect">
            <a:avLst/>
          </a:prstGeom>
          <a:noFill/>
        </p:spPr>
        <p:txBody>
          <a:bodyPr wrap="square" anchor="t" lIns="0" rIns="0" tIns="0" bIns="0">
            <a:spAutoFit/>
          </a:bodyPr>
          <a:lstStyle/>
          <a:p>
            <a:pPr algn="l"/>
            <a:r>
              <a:rPr sz="700" b="1" i="0" lang="en-US" spc="120">
                <a:solidFill>
                  <a:srgbClr val="9A9AA2"/>
                </a:solidFill>
                <a:latin typeface="Plus Jakarta Sans"/>
                <a:cs typeface="Plus Jakarta Sans"/>
              </a:rPr>
              <a:t>THE QUESTION IT ASKS</a:t>
            </a:r>
          </a:p>
        </p:txBody>
      </p:sp>
      <p:sp>
        <p:nvSpPr>
          <p:cNvPr id="30" name="TextBox 29"/>
          <p:cNvSpPr txBox="1"/>
          <p:nvPr/>
        </p:nvSpPr>
        <p:spPr>
          <a:xfrm>
            <a:off x="1097280" y="5074920"/>
            <a:ext cx="4206240" cy="274320"/>
          </a:xfrm>
          <a:prstGeom prst="rect">
            <a:avLst/>
          </a:prstGeom>
          <a:noFill/>
        </p:spPr>
        <p:txBody>
          <a:bodyPr wrap="square" anchor="t" lIns="0" rIns="0" tIns="0" bIns="0">
            <a:spAutoFit/>
          </a:bodyPr>
          <a:lstStyle/>
          <a:p>
            <a:pPr algn="l"/>
            <a:r>
              <a:rPr sz="1150" b="1" i="0" lang="en-US">
                <a:solidFill>
                  <a:srgbClr val="0B0B0C"/>
                </a:solidFill>
                <a:latin typeface="Plus Jakarta Sans"/>
                <a:cs typeface="Plus Jakarta Sans"/>
              </a:rPr>
              <a:t>“What should I retrieve for this query?”</a:t>
            </a:r>
          </a:p>
        </p:txBody>
      </p:sp>
      <p:sp>
        <p:nvSpPr>
          <p:cNvPr id="31" name="Rounded Rectangle 30"/>
          <p:cNvSpPr/>
          <p:nvPr/>
        </p:nvSpPr>
        <p:spPr>
          <a:xfrm>
            <a:off x="6473952" y="1965960"/>
            <a:ext cx="5029200" cy="3566160"/>
          </a:xfrm>
          <a:prstGeom prst="roundRect">
            <a:avLst>
              <a:gd name="adj" fmla="val 3076"/>
            </a:avLst>
          </a:prstGeom>
          <a:solidFill>
            <a:srgbClr val="FFFFFF"/>
          </a:solidFill>
          <a:ln w="15875">
            <a:solidFill>
              <a:srgbClr val="E7E7EA"/>
            </a:solidFill>
          </a:ln>
          <a:effectLst/>
        </p:spPr>
        <p:txBody>
          <a:bodyPr rtlCol="0" anchor="ctr" wrap="square"/>
          <a:lstStyle/>
          <a:p>
            <a:pPr algn="ctr"/>
          </a:p>
        </p:txBody>
      </p:sp>
      <p:sp>
        <p:nvSpPr>
          <p:cNvPr id="32" name="Rounded Rectangle 31"/>
          <p:cNvSpPr/>
          <p:nvPr/>
        </p:nvSpPr>
        <p:spPr>
          <a:xfrm>
            <a:off x="6473952" y="1965960"/>
            <a:ext cx="5029200" cy="54864"/>
          </a:xfrm>
          <a:prstGeom prst="roundRect">
            <a:avLst>
              <a:gd name="adj" fmla="val 33333"/>
            </a:avLst>
          </a:prstGeom>
          <a:solidFill>
            <a:srgbClr val="FF6B2C"/>
          </a:solidFill>
          <a:ln>
            <a:noFill/>
          </a:ln>
          <a:effectLst/>
        </p:spPr>
        <p:txBody>
          <a:bodyPr rtlCol="0" anchor="ctr" wrap="square"/>
          <a:lstStyle/>
          <a:p>
            <a:pPr algn="ctr"/>
          </a:p>
        </p:txBody>
      </p:sp>
      <p:sp>
        <p:nvSpPr>
          <p:cNvPr id="33" name="TextBox 32"/>
          <p:cNvSpPr txBox="1"/>
          <p:nvPr/>
        </p:nvSpPr>
        <p:spPr>
          <a:xfrm>
            <a:off x="6748272" y="2185415"/>
            <a:ext cx="4480560" cy="292608"/>
          </a:xfrm>
          <a:prstGeom prst="rect">
            <a:avLst/>
          </a:prstGeom>
          <a:noFill/>
        </p:spPr>
        <p:txBody>
          <a:bodyPr wrap="square" anchor="t" lIns="0" rIns="0" tIns="0" bIns="0">
            <a:spAutoFit/>
          </a:bodyPr>
          <a:lstStyle/>
          <a:p>
            <a:pPr algn="l"/>
            <a:r>
              <a:rPr sz="1400" b="1" i="0" lang="en-US" spc="60">
                <a:solidFill>
                  <a:srgbClr val="0B0B0C"/>
                </a:solidFill>
                <a:latin typeface="Plus Jakarta Sans"/>
                <a:cs typeface="Plus Jakarta Sans"/>
              </a:rPr>
              <a:t>OKF</a:t>
            </a:r>
          </a:p>
        </p:txBody>
      </p:sp>
      <p:sp>
        <p:nvSpPr>
          <p:cNvPr id="34" name="TextBox 33"/>
          <p:cNvSpPr txBox="1"/>
          <p:nvPr/>
        </p:nvSpPr>
        <p:spPr>
          <a:xfrm>
            <a:off x="6748272" y="2496312"/>
            <a:ext cx="4480560" cy="219456"/>
          </a:xfrm>
          <a:prstGeom prst="rect">
            <a:avLst/>
          </a:prstGeom>
          <a:noFill/>
        </p:spPr>
        <p:txBody>
          <a:bodyPr wrap="square" anchor="t" lIns="0" rIns="0" tIns="0" bIns="0">
            <a:spAutoFit/>
          </a:bodyPr>
          <a:lstStyle/>
          <a:p>
            <a:pPr algn="l"/>
            <a:r>
              <a:rPr sz="800" b="1" i="0" lang="en-US" spc="120">
                <a:solidFill>
                  <a:srgbClr val="9A9AA2"/>
                </a:solidFill>
                <a:latin typeface="Plus Jakarta Sans"/>
                <a:cs typeface="Plus Jakarta Sans"/>
              </a:rPr>
              <a:t>KNOWLEDGE REPRESENTATION FORMAT</a:t>
            </a:r>
          </a:p>
        </p:txBody>
      </p:sp>
      <p:cxnSp>
        <p:nvCxnSpPr>
          <p:cNvPr id="35" name="Connector 34"/>
          <p:cNvCxnSpPr/>
          <p:nvPr/>
        </p:nvCxnSpPr>
        <p:spPr>
          <a:xfrm>
            <a:off x="6748272" y="2807208"/>
            <a:ext cx="4480560" cy="0"/>
          </a:xfrm>
          <a:prstGeom prst="line">
            <a:avLst/>
          </a:prstGeom>
          <a:ln w="12700">
            <a:solidFill>
              <a:srgbClr val="E7E7EA"/>
            </a:solidFill>
          </a:ln>
        </p:spPr>
      </p:cxnSp>
      <p:sp>
        <p:nvSpPr>
          <p:cNvPr id="36" name="TextBox 35"/>
          <p:cNvSpPr txBox="1"/>
          <p:nvPr/>
        </p:nvSpPr>
        <p:spPr>
          <a:xfrm>
            <a:off x="6748272" y="2953512"/>
            <a:ext cx="1371600" cy="182880"/>
          </a:xfrm>
          <a:prstGeom prst="rect">
            <a:avLst/>
          </a:prstGeom>
          <a:noFill/>
        </p:spPr>
        <p:txBody>
          <a:bodyPr wrap="square" anchor="t" lIns="0" rIns="0" tIns="0" bIns="0">
            <a:spAutoFit/>
          </a:bodyPr>
          <a:lstStyle/>
          <a:p>
            <a:pPr algn="l"/>
            <a:r>
              <a:rPr sz="750" b="1" i="0" lang="en-US" spc="120">
                <a:solidFill>
                  <a:srgbClr val="FF6B2C"/>
                </a:solidFill>
                <a:latin typeface="Plus Jakarta Sans"/>
                <a:cs typeface="Plus Jakarta Sans"/>
              </a:rPr>
              <a:t>FOCUS</a:t>
            </a:r>
          </a:p>
        </p:txBody>
      </p:sp>
      <p:sp>
        <p:nvSpPr>
          <p:cNvPr id="37" name="TextBox 36"/>
          <p:cNvSpPr txBox="1"/>
          <p:nvPr/>
        </p:nvSpPr>
        <p:spPr>
          <a:xfrm>
            <a:off x="6748272" y="3172968"/>
            <a:ext cx="4480560" cy="310896"/>
          </a:xfrm>
          <a:prstGeom prst="rect">
            <a:avLst/>
          </a:prstGeom>
          <a:noFill/>
        </p:spPr>
        <p:txBody>
          <a:bodyPr wrap="square" anchor="t" lIns="0" rIns="0" tIns="0" bIns="0">
            <a:spAutoFit/>
          </a:bodyPr>
          <a:lstStyle/>
          <a:p>
            <a:pPr algn="l"/>
            <a:r>
              <a:rPr sz="1300" b="1" i="0" lang="en-US" spc="-20">
                <a:solidFill>
                  <a:srgbClr val="0B0B0C"/>
                </a:solidFill>
                <a:latin typeface="Plus Jakarta Sans"/>
                <a:cs typeface="Plus Jakarta Sans"/>
              </a:rPr>
              <a:t>Structure and connect knowledge.</a:t>
            </a:r>
          </a:p>
        </p:txBody>
      </p:sp>
      <p:sp>
        <p:nvSpPr>
          <p:cNvPr id="38" name="TextBox 37"/>
          <p:cNvSpPr txBox="1"/>
          <p:nvPr/>
        </p:nvSpPr>
        <p:spPr>
          <a:xfrm>
            <a:off x="6748272" y="3593591"/>
            <a:ext cx="2560320" cy="182880"/>
          </a:xfrm>
          <a:prstGeom prst="rect">
            <a:avLst/>
          </a:prstGeom>
          <a:noFill/>
        </p:spPr>
        <p:txBody>
          <a:bodyPr wrap="square" anchor="t" lIns="0" rIns="0" tIns="0" bIns="0">
            <a:spAutoFit/>
          </a:bodyPr>
          <a:lstStyle/>
          <a:p>
            <a:pPr algn="l"/>
            <a:r>
              <a:rPr sz="750" b="1" i="0" lang="en-US" spc="120">
                <a:solidFill>
                  <a:srgbClr val="FF6B2C"/>
                </a:solidFill>
                <a:latin typeface="Plus Jakarta Sans"/>
                <a:cs typeface="Plus Jakarta Sans"/>
              </a:rPr>
              <a:t>COMMON STRUCTURE</a:t>
            </a:r>
          </a:p>
        </p:txBody>
      </p:sp>
      <p:sp>
        <p:nvSpPr>
          <p:cNvPr id="39" name="Rounded Rectangle 38"/>
          <p:cNvSpPr/>
          <p:nvPr/>
        </p:nvSpPr>
        <p:spPr>
          <a:xfrm>
            <a:off x="6574536" y="4114800"/>
            <a:ext cx="1353312" cy="365760"/>
          </a:xfrm>
          <a:prstGeom prst="roundRect">
            <a:avLst>
              <a:gd name="adj" fmla="val 17500"/>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850" b="1" i="0" lang="en-US" spc="20">
                <a:solidFill>
                  <a:srgbClr val="1A1A1D"/>
                </a:solidFill>
                <a:latin typeface="Plus Jakarta Sans"/>
                <a:cs typeface="Plus Jakarta Sans"/>
              </a:rPr>
              <a:t>Markdown</a:t>
            </a:r>
          </a:p>
        </p:txBody>
      </p:sp>
      <p:sp>
        <p:nvSpPr>
          <p:cNvPr id="40" name="TextBox 39"/>
          <p:cNvSpPr txBox="1"/>
          <p:nvPr/>
        </p:nvSpPr>
        <p:spPr>
          <a:xfrm>
            <a:off x="7927848" y="4114800"/>
            <a:ext cx="384048" cy="365760"/>
          </a:xfrm>
          <a:prstGeom prst="rect">
            <a:avLst/>
          </a:prstGeom>
          <a:noFill/>
        </p:spPr>
        <p:txBody>
          <a:bodyPr wrap="square" anchor="ctr" lIns="0" rIns="0" tIns="0" bIns="0">
            <a:spAutoFit/>
          </a:bodyPr>
          <a:lstStyle/>
          <a:p>
            <a:pPr algn="ctr"/>
            <a:r>
              <a:rPr sz="1100" b="1" i="0" lang="en-US">
                <a:solidFill>
                  <a:srgbClr val="9A9AA2"/>
                </a:solidFill>
                <a:latin typeface="Plus Jakarta Sans"/>
                <a:cs typeface="Plus Jakarta Sans"/>
              </a:rPr>
              <a:t>+</a:t>
            </a:r>
          </a:p>
        </p:txBody>
      </p:sp>
      <p:sp>
        <p:nvSpPr>
          <p:cNvPr id="41" name="Rounded Rectangle 40"/>
          <p:cNvSpPr/>
          <p:nvPr/>
        </p:nvSpPr>
        <p:spPr>
          <a:xfrm>
            <a:off x="8311896" y="4114800"/>
            <a:ext cx="1353312" cy="365760"/>
          </a:xfrm>
          <a:prstGeom prst="roundRect">
            <a:avLst>
              <a:gd name="adj" fmla="val 17500"/>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850" b="1" i="0" lang="en-US" spc="20">
                <a:solidFill>
                  <a:srgbClr val="1A1A1D"/>
                </a:solidFill>
                <a:latin typeface="Plus Jakarta Sans"/>
                <a:cs typeface="Plus Jakarta Sans"/>
              </a:rPr>
              <a:t>YAML frontmatter</a:t>
            </a:r>
          </a:p>
        </p:txBody>
      </p:sp>
      <p:sp>
        <p:nvSpPr>
          <p:cNvPr id="42" name="TextBox 41"/>
          <p:cNvSpPr txBox="1"/>
          <p:nvPr/>
        </p:nvSpPr>
        <p:spPr>
          <a:xfrm>
            <a:off x="9665208" y="4114800"/>
            <a:ext cx="384048" cy="365760"/>
          </a:xfrm>
          <a:prstGeom prst="rect">
            <a:avLst/>
          </a:prstGeom>
          <a:noFill/>
        </p:spPr>
        <p:txBody>
          <a:bodyPr wrap="square" anchor="ctr" lIns="0" rIns="0" tIns="0" bIns="0">
            <a:spAutoFit/>
          </a:bodyPr>
          <a:lstStyle/>
          <a:p>
            <a:pPr algn="ctr"/>
            <a:r>
              <a:rPr sz="1100" b="1" i="0" lang="en-US">
                <a:solidFill>
                  <a:srgbClr val="9A9AA2"/>
                </a:solidFill>
                <a:latin typeface="Plus Jakarta Sans"/>
                <a:cs typeface="Plus Jakarta Sans"/>
              </a:rPr>
              <a:t>+</a:t>
            </a:r>
          </a:p>
        </p:txBody>
      </p:sp>
      <p:sp>
        <p:nvSpPr>
          <p:cNvPr id="43" name="Rounded Rectangle 42"/>
          <p:cNvSpPr/>
          <p:nvPr/>
        </p:nvSpPr>
        <p:spPr>
          <a:xfrm>
            <a:off x="10049256" y="4114800"/>
            <a:ext cx="1353312" cy="365760"/>
          </a:xfrm>
          <a:prstGeom prst="roundRect">
            <a:avLst>
              <a:gd name="adj" fmla="val 17500"/>
            </a:avLst>
          </a:prstGeom>
          <a:solidFill>
            <a:srgbClr val="FAFAFB"/>
          </a:solidFill>
          <a:ln w="12700">
            <a:solidFill>
              <a:srgbClr val="E7E7EA"/>
            </a:solidFill>
          </a:ln>
          <a:effectLst/>
        </p:spPr>
        <p:txBody>
          <a:bodyPr rtlCol="0" anchor="ctr" wrap="square" lIns="64008" rIns="64008" tIns="18288" bIns="18288"/>
          <a:lstStyle/>
          <a:p>
            <a:pPr algn="ctr">
              <a:lnSpc>
                <a:spcPct val="105000"/>
              </a:lnSpc>
            </a:pPr>
            <a:r>
              <a:rPr sz="850" b="1" i="0" lang="en-US" spc="20">
                <a:solidFill>
                  <a:srgbClr val="1A1A1D"/>
                </a:solidFill>
                <a:latin typeface="Plus Jakarta Sans"/>
                <a:cs typeface="Plus Jakarta Sans"/>
              </a:rPr>
              <a:t>Links</a:t>
            </a:r>
          </a:p>
        </p:txBody>
      </p:sp>
      <p:sp>
        <p:nvSpPr>
          <p:cNvPr id="44" name="Rounded Rectangle 43"/>
          <p:cNvSpPr/>
          <p:nvPr/>
        </p:nvSpPr>
        <p:spPr>
          <a:xfrm>
            <a:off x="6748272" y="4818888"/>
            <a:ext cx="4480560" cy="603504"/>
          </a:xfrm>
          <a:prstGeom prst="roundRect">
            <a:avLst>
              <a:gd name="adj" fmla="val 12121"/>
            </a:avLst>
          </a:prstGeom>
          <a:solidFill>
            <a:srgbClr val="FFF4EE"/>
          </a:solidFill>
          <a:ln w="12700">
            <a:solidFill>
              <a:srgbClr val="FFE6D8"/>
            </a:solidFill>
          </a:ln>
          <a:effectLst/>
        </p:spPr>
        <p:txBody>
          <a:bodyPr rtlCol="0" anchor="ctr" wrap="square"/>
          <a:lstStyle/>
          <a:p>
            <a:pPr algn="ctr"/>
          </a:p>
        </p:txBody>
      </p:sp>
      <p:sp>
        <p:nvSpPr>
          <p:cNvPr id="45" name="TextBox 44"/>
          <p:cNvSpPr txBox="1"/>
          <p:nvPr/>
        </p:nvSpPr>
        <p:spPr>
          <a:xfrm>
            <a:off x="6885432" y="4873752"/>
            <a:ext cx="4206240" cy="182880"/>
          </a:xfrm>
          <a:prstGeom prst="rect">
            <a:avLst/>
          </a:prstGeom>
          <a:noFill/>
        </p:spPr>
        <p:txBody>
          <a:bodyPr wrap="square" anchor="t" lIns="0" rIns="0" tIns="0" bIns="0">
            <a:spAutoFit/>
          </a:bodyPr>
          <a:lstStyle/>
          <a:p>
            <a:pPr algn="l"/>
            <a:r>
              <a:rPr sz="700" b="1" i="0" lang="en-US" spc="120">
                <a:solidFill>
                  <a:srgbClr val="FF6B2C"/>
                </a:solidFill>
                <a:latin typeface="Plus Jakarta Sans"/>
                <a:cs typeface="Plus Jakarta Sans"/>
              </a:rPr>
              <a:t>THE QUESTION IT ASKS</a:t>
            </a:r>
          </a:p>
        </p:txBody>
      </p:sp>
      <p:sp>
        <p:nvSpPr>
          <p:cNvPr id="46" name="TextBox 45"/>
          <p:cNvSpPr txBox="1"/>
          <p:nvPr/>
        </p:nvSpPr>
        <p:spPr>
          <a:xfrm>
            <a:off x="6885432" y="5074920"/>
            <a:ext cx="4206240" cy="274320"/>
          </a:xfrm>
          <a:prstGeom prst="rect">
            <a:avLst/>
          </a:prstGeom>
          <a:noFill/>
        </p:spPr>
        <p:txBody>
          <a:bodyPr wrap="square" anchor="t" lIns="0" rIns="0" tIns="0" bIns="0">
            <a:spAutoFit/>
          </a:bodyPr>
          <a:lstStyle/>
          <a:p>
            <a:pPr algn="l"/>
            <a:r>
              <a:rPr sz="1150" b="1" i="0" lang="en-US">
                <a:solidFill>
                  <a:srgbClr val="0B0B0C"/>
                </a:solidFill>
                <a:latin typeface="Plus Jakarta Sans"/>
                <a:cs typeface="Plus Jakarta Sans"/>
              </a:rPr>
              <a:t>“How should this knowledge be represented?”</a:t>
            </a:r>
          </a:p>
        </p:txBody>
      </p:sp>
      <p:cxnSp>
        <p:nvCxnSpPr>
          <p:cNvPr id="47" name="Connector 46"/>
          <p:cNvCxnSpPr/>
          <p:nvPr/>
        </p:nvCxnSpPr>
        <p:spPr>
          <a:xfrm>
            <a:off x="6096304" y="2240279"/>
            <a:ext cx="0" cy="3017521"/>
          </a:xfrm>
          <a:prstGeom prst="line">
            <a:avLst/>
          </a:prstGeom>
          <a:ln w="12700">
            <a:solidFill>
              <a:srgbClr val="E7E7EA"/>
            </a:solidFill>
          </a:ln>
        </p:spPr>
      </p:cxnSp>
      <p:sp>
        <p:nvSpPr>
          <p:cNvPr id="48" name="Rounded Rectangle 47"/>
          <p:cNvSpPr/>
          <p:nvPr/>
        </p:nvSpPr>
        <p:spPr>
          <a:xfrm>
            <a:off x="5831128" y="3520440"/>
            <a:ext cx="530352" cy="530352"/>
          </a:xfrm>
          <a:prstGeom prst="roundRect">
            <a:avLst>
              <a:gd name="adj" fmla="val 50000"/>
            </a:avLst>
          </a:prstGeom>
          <a:solidFill>
            <a:srgbClr val="FFFFFF"/>
          </a:solidFill>
          <a:ln w="19050">
            <a:solidFill>
              <a:srgbClr val="FF6B2C"/>
            </a:solidFill>
          </a:ln>
          <a:effectLst/>
        </p:spPr>
        <p:txBody>
          <a:bodyPr rtlCol="0" anchor="ctr" wrap="square"/>
          <a:lstStyle/>
          <a:p>
            <a:pPr algn="ctr"/>
          </a:p>
        </p:txBody>
      </p:sp>
      <p:sp>
        <p:nvSpPr>
          <p:cNvPr id="49" name="TextBox 48"/>
          <p:cNvSpPr txBox="1"/>
          <p:nvPr/>
        </p:nvSpPr>
        <p:spPr>
          <a:xfrm>
            <a:off x="5831128" y="3520440"/>
            <a:ext cx="530352" cy="530352"/>
          </a:xfrm>
          <a:prstGeom prst="rect">
            <a:avLst/>
          </a:prstGeom>
          <a:noFill/>
        </p:spPr>
        <p:txBody>
          <a:bodyPr wrap="square" anchor="ctr" lIns="0" rIns="0" tIns="0" bIns="0">
            <a:spAutoFit/>
          </a:bodyPr>
          <a:lstStyle/>
          <a:p>
            <a:pPr algn="ctr"/>
            <a:r>
              <a:rPr sz="1100" b="1" i="0" lang="en-US" spc="50">
                <a:solidFill>
                  <a:srgbClr val="FF6B2C"/>
                </a:solidFill>
                <a:latin typeface="Plus Jakarta Sans"/>
                <a:cs typeface="Plus Jakarta Sans"/>
              </a:rPr>
              <a:t>VS</a:t>
            </a:r>
          </a:p>
        </p:txBody>
      </p:sp>
      <p:sp>
        <p:nvSpPr>
          <p:cNvPr id="50" name="Rounded Rectangle 49"/>
          <p:cNvSpPr/>
          <p:nvPr/>
        </p:nvSpPr>
        <p:spPr>
          <a:xfrm>
            <a:off x="685800" y="5806440"/>
            <a:ext cx="10820369" cy="512064"/>
          </a:xfrm>
          <a:prstGeom prst="roundRect">
            <a:avLst>
              <a:gd name="adj" fmla="val 17857"/>
            </a:avLst>
          </a:prstGeom>
          <a:solidFill>
            <a:srgbClr val="0B0B0C"/>
          </a:solidFill>
          <a:ln>
            <a:noFill/>
          </a:ln>
          <a:effectLst/>
        </p:spPr>
        <p:txBody>
          <a:bodyPr rtlCol="0" anchor="ctr" wrap="square"/>
          <a:lstStyle/>
          <a:p>
            <a:pPr algn="ctr"/>
          </a:p>
        </p:txBody>
      </p:sp>
      <p:sp>
        <p:nvSpPr>
          <p:cNvPr id="51" name="Rectangle 50"/>
          <p:cNvSpPr/>
          <p:nvPr/>
        </p:nvSpPr>
        <p:spPr>
          <a:xfrm>
            <a:off x="914400" y="5989320"/>
            <a:ext cx="109728" cy="109728"/>
          </a:xfrm>
          <a:prstGeom prst="rect">
            <a:avLst/>
          </a:prstGeom>
          <a:solidFill>
            <a:srgbClr val="FF6B2C"/>
          </a:solidFill>
          <a:ln>
            <a:noFill/>
          </a:ln>
          <a:effectLst/>
        </p:spPr>
        <p:txBody>
          <a:bodyPr rtlCol="0" anchor="ctr" wrap="square"/>
          <a:lstStyle/>
          <a:p>
            <a:pPr algn="ctr"/>
          </a:p>
        </p:txBody>
      </p:sp>
      <p:sp>
        <p:nvSpPr>
          <p:cNvPr id="52" name="Rectangle 51"/>
          <p:cNvSpPr/>
          <p:nvPr/>
        </p:nvSpPr>
        <p:spPr>
          <a:xfrm>
            <a:off x="11167841" y="5989320"/>
            <a:ext cx="109728" cy="109728"/>
          </a:xfrm>
          <a:prstGeom prst="rect">
            <a:avLst/>
          </a:prstGeom>
          <a:solidFill>
            <a:srgbClr val="FF6B2C"/>
          </a:solidFill>
          <a:ln>
            <a:noFill/>
          </a:ln>
          <a:effectLst/>
        </p:spPr>
        <p:txBody>
          <a:bodyPr rtlCol="0" anchor="ctr" wrap="square"/>
          <a:lstStyle/>
          <a:p>
            <a:pPr algn="ctr"/>
          </a:p>
        </p:txBody>
      </p:sp>
      <p:sp>
        <p:nvSpPr>
          <p:cNvPr id="53" name="TextBox 52"/>
          <p:cNvSpPr txBox="1"/>
          <p:nvPr/>
        </p:nvSpPr>
        <p:spPr>
          <a:xfrm>
            <a:off x="685800" y="5806440"/>
            <a:ext cx="10820369" cy="512064"/>
          </a:xfrm>
          <a:prstGeom prst="rect">
            <a:avLst/>
          </a:prstGeom>
          <a:noFill/>
        </p:spPr>
        <p:txBody>
          <a:bodyPr wrap="square" anchor="ctr" lIns="0" rIns="0" tIns="0" bIns="0">
            <a:spAutoFit/>
          </a:bodyPr>
          <a:lstStyle/>
          <a:p>
            <a:pPr algn="ctr"/>
            <a:r>
              <a:rPr sz="1400" b="1" i="0" lang="en-US" spc="250">
                <a:solidFill>
                  <a:srgbClr val="FFFFFF"/>
                </a:solidFill>
                <a:latin typeface="Plus Jakarta Sans"/>
                <a:cs typeface="Plus Jakarta Sans"/>
              </a:rPr>
              <a:t>DIFFERENT LAYERS.  DIFFERENT JOBS.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OKF + RAG</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16</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SYNTHESIS</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RAG + OKF?</a:t>
            </a:r>
          </a:p>
        </p:txBody>
      </p:sp>
      <p:sp>
        <p:nvSpPr>
          <p:cNvPr id="10" name="TextBox 9"/>
          <p:cNvSpPr txBox="1"/>
          <p:nvPr/>
        </p:nvSpPr>
        <p:spPr>
          <a:xfrm>
            <a:off x="685800" y="1910080"/>
            <a:ext cx="10820369" cy="310896"/>
          </a:xfrm>
          <a:prstGeom prst="rect">
            <a:avLst/>
          </a:prstGeom>
          <a:noFill/>
        </p:spPr>
        <p:txBody>
          <a:bodyPr wrap="square" anchor="t" lIns="0" rIns="0" tIns="0" bIns="0">
            <a:spAutoFit/>
          </a:bodyPr>
          <a:lstStyle/>
          <a:p>
            <a:pPr algn="l">
              <a:lnSpc>
                <a:spcPct val="125000"/>
              </a:lnSpc>
            </a:pPr>
            <a:r>
              <a:rPr sz="1200" b="0" i="0" lang="en-US">
                <a:solidFill>
                  <a:srgbClr val="63636B"/>
                </a:solidFill>
                <a:latin typeface="Plus Jakarta Sans"/>
                <a:cs typeface="Plus Jakarta Sans"/>
              </a:rPr>
              <a:t>Yes — they can operate at different layers of the same system.</a:t>
            </a:r>
          </a:p>
        </p:txBody>
      </p:sp>
      <p:sp>
        <p:nvSpPr>
          <p:cNvPr id="11" name="TextBox 10"/>
          <p:cNvSpPr txBox="1"/>
          <p:nvPr/>
        </p:nvSpPr>
        <p:spPr>
          <a:xfrm>
            <a:off x="685800" y="2212848"/>
            <a:ext cx="1944014" cy="219456"/>
          </a:xfrm>
          <a:prstGeom prst="rect">
            <a:avLst/>
          </a:prstGeom>
          <a:noFill/>
        </p:spPr>
        <p:txBody>
          <a:bodyPr wrap="square" anchor="t" lIns="0" rIns="0" tIns="0" bIns="0">
            <a:spAutoFit/>
          </a:bodyPr>
          <a:lstStyle/>
          <a:p>
            <a:pPr algn="ctr"/>
            <a:r>
              <a:rPr sz="800" b="1" i="0" lang="en-US" spc="140">
                <a:solidFill>
                  <a:srgbClr val="FF6B2C"/>
                </a:solidFill>
                <a:latin typeface="Plus Jakarta Sans"/>
                <a:cs typeface="Plus Jakarta Sans"/>
              </a:rPr>
              <a:t>KNOWLEDGE LAYER</a:t>
            </a:r>
          </a:p>
        </p:txBody>
      </p:sp>
      <p:cxnSp>
        <p:nvCxnSpPr>
          <p:cNvPr id="12" name="Connector 11"/>
          <p:cNvCxnSpPr/>
          <p:nvPr/>
        </p:nvCxnSpPr>
        <p:spPr>
          <a:xfrm>
            <a:off x="685800" y="2487168"/>
            <a:ext cx="1944014" cy="0"/>
          </a:xfrm>
          <a:prstGeom prst="line">
            <a:avLst/>
          </a:prstGeom>
          <a:ln w="15875">
            <a:solidFill>
              <a:srgbClr val="FF6B2C"/>
            </a:solidFill>
          </a:ln>
        </p:spPr>
      </p:cxnSp>
      <p:cxnSp>
        <p:nvCxnSpPr>
          <p:cNvPr id="13" name="Connector 12"/>
          <p:cNvCxnSpPr/>
          <p:nvPr/>
        </p:nvCxnSpPr>
        <p:spPr>
          <a:xfrm>
            <a:off x="1657807" y="2487168"/>
            <a:ext cx="0" cy="493776"/>
          </a:xfrm>
          <a:prstGeom prst="line">
            <a:avLst/>
          </a:prstGeom>
          <a:ln w="13970">
            <a:solidFill>
              <a:srgbClr val="FF6B2C"/>
            </a:solidFill>
            <a:tailEnd type="triangle" w="sm" len="sm"/>
          </a:ln>
        </p:spPr>
      </p:cxnSp>
      <p:sp>
        <p:nvSpPr>
          <p:cNvPr id="14" name="TextBox 13"/>
          <p:cNvSpPr txBox="1"/>
          <p:nvPr/>
        </p:nvSpPr>
        <p:spPr>
          <a:xfrm>
            <a:off x="2904134" y="2212848"/>
            <a:ext cx="4162348" cy="219456"/>
          </a:xfrm>
          <a:prstGeom prst="rect">
            <a:avLst/>
          </a:prstGeom>
          <a:noFill/>
        </p:spPr>
        <p:txBody>
          <a:bodyPr wrap="square" anchor="t" lIns="0" rIns="0" tIns="0" bIns="0">
            <a:spAutoFit/>
          </a:bodyPr>
          <a:lstStyle/>
          <a:p>
            <a:pPr algn="ctr"/>
            <a:r>
              <a:rPr sz="800" b="1" i="0" lang="en-US" spc="140">
                <a:solidFill>
                  <a:srgbClr val="9A9AA2"/>
                </a:solidFill>
                <a:latin typeface="Plus Jakarta Sans"/>
                <a:cs typeface="Plus Jakarta Sans"/>
              </a:rPr>
              <a:t>RETRIEVAL LAYER</a:t>
            </a:r>
          </a:p>
        </p:txBody>
      </p:sp>
      <p:cxnSp>
        <p:nvCxnSpPr>
          <p:cNvPr id="15" name="Connector 14"/>
          <p:cNvCxnSpPr/>
          <p:nvPr/>
        </p:nvCxnSpPr>
        <p:spPr>
          <a:xfrm>
            <a:off x="2904134" y="2487168"/>
            <a:ext cx="4162349" cy="0"/>
          </a:xfrm>
          <a:prstGeom prst="line">
            <a:avLst/>
          </a:prstGeom>
          <a:ln w="15875">
            <a:solidFill>
              <a:srgbClr val="9A9AA2"/>
            </a:solidFill>
          </a:ln>
        </p:spPr>
      </p:cxnSp>
      <p:cxnSp>
        <p:nvCxnSpPr>
          <p:cNvPr id="16" name="Connector 15"/>
          <p:cNvCxnSpPr/>
          <p:nvPr/>
        </p:nvCxnSpPr>
        <p:spPr>
          <a:xfrm>
            <a:off x="4985308" y="2487168"/>
            <a:ext cx="0" cy="493776"/>
          </a:xfrm>
          <a:prstGeom prst="line">
            <a:avLst/>
          </a:prstGeom>
          <a:ln w="13970">
            <a:solidFill>
              <a:srgbClr val="9A9AA2"/>
            </a:solidFill>
            <a:tailEnd type="triangle" w="sm" len="sm"/>
          </a:ln>
        </p:spPr>
      </p:cxnSp>
      <p:sp>
        <p:nvSpPr>
          <p:cNvPr id="17" name="TextBox 16"/>
          <p:cNvSpPr txBox="1"/>
          <p:nvPr/>
        </p:nvSpPr>
        <p:spPr>
          <a:xfrm>
            <a:off x="7340803" y="2212848"/>
            <a:ext cx="4162348" cy="219456"/>
          </a:xfrm>
          <a:prstGeom prst="rect">
            <a:avLst/>
          </a:prstGeom>
          <a:noFill/>
        </p:spPr>
        <p:txBody>
          <a:bodyPr wrap="square" anchor="t" lIns="0" rIns="0" tIns="0" bIns="0">
            <a:spAutoFit/>
          </a:bodyPr>
          <a:lstStyle/>
          <a:p>
            <a:pPr algn="ctr"/>
            <a:r>
              <a:rPr sz="800" b="1" i="0" lang="en-US" spc="140">
                <a:solidFill>
                  <a:srgbClr val="9A9AA2"/>
                </a:solidFill>
                <a:latin typeface="Plus Jakarta Sans"/>
                <a:cs typeface="Plus Jakarta Sans"/>
              </a:rPr>
              <a:t>GENERATION LAYER</a:t>
            </a:r>
          </a:p>
        </p:txBody>
      </p:sp>
      <p:cxnSp>
        <p:nvCxnSpPr>
          <p:cNvPr id="18" name="Connector 17"/>
          <p:cNvCxnSpPr/>
          <p:nvPr/>
        </p:nvCxnSpPr>
        <p:spPr>
          <a:xfrm>
            <a:off x="7340803" y="2487168"/>
            <a:ext cx="4162348" cy="0"/>
          </a:xfrm>
          <a:prstGeom prst="line">
            <a:avLst/>
          </a:prstGeom>
          <a:ln w="15875">
            <a:solidFill>
              <a:srgbClr val="9A9AA2"/>
            </a:solidFill>
          </a:ln>
        </p:spPr>
      </p:cxnSp>
      <p:cxnSp>
        <p:nvCxnSpPr>
          <p:cNvPr id="19" name="Connector 18"/>
          <p:cNvCxnSpPr/>
          <p:nvPr/>
        </p:nvCxnSpPr>
        <p:spPr>
          <a:xfrm>
            <a:off x="9421977" y="2487168"/>
            <a:ext cx="0" cy="493776"/>
          </a:xfrm>
          <a:prstGeom prst="line">
            <a:avLst/>
          </a:prstGeom>
          <a:ln w="13970">
            <a:solidFill>
              <a:srgbClr val="9A9AA2"/>
            </a:solidFill>
            <a:tailEnd type="triangle" w="sm" len="sm"/>
          </a:ln>
        </p:spPr>
      </p:cxnSp>
      <p:sp>
        <p:nvSpPr>
          <p:cNvPr id="20" name="Rounded Rectangle 19"/>
          <p:cNvSpPr/>
          <p:nvPr/>
        </p:nvSpPr>
        <p:spPr>
          <a:xfrm>
            <a:off x="685800" y="3017520"/>
            <a:ext cx="1944617" cy="932688"/>
          </a:xfrm>
          <a:prstGeom prst="roundRect">
            <a:avLst>
              <a:gd name="adj" fmla="val 8823"/>
            </a:avLst>
          </a:prstGeom>
          <a:solidFill>
            <a:srgbClr val="FFFFFF"/>
          </a:solidFill>
          <a:ln w="19050">
            <a:solidFill>
              <a:srgbClr val="FF6B2C"/>
            </a:solidFill>
          </a:ln>
          <a:effectLst/>
        </p:spPr>
        <p:txBody>
          <a:bodyPr rtlCol="0" anchor="ctr" wrap="square" lIns="45720" rIns="45720" tIns="18288" bIns="18288"/>
          <a:lstStyle/>
          <a:p>
            <a:pPr algn="ctr">
              <a:lnSpc>
                <a:spcPct val="104000"/>
              </a:lnSpc>
            </a:pPr>
            <a:r>
              <a:rPr sz="1000" b="1" i="0" lang="en-US" spc="20">
                <a:solidFill>
                  <a:srgbClr val="0B0B0C"/>
                </a:solidFill>
                <a:latin typeface="Plus Jakarta Sans"/>
                <a:cs typeface="Plus Jakarta Sans"/>
              </a:rPr>
              <a:t>OKF KNOWLEDGE
BUNDLE</a:t>
            </a:r>
          </a:p>
        </p:txBody>
      </p:sp>
      <p:sp>
        <p:nvSpPr>
          <p:cNvPr id="21" name="Rounded Rectangle 20"/>
          <p:cNvSpPr/>
          <p:nvPr/>
        </p:nvSpPr>
        <p:spPr>
          <a:xfrm>
            <a:off x="2904737" y="3017520"/>
            <a:ext cx="1944617" cy="932688"/>
          </a:xfrm>
          <a:prstGeom prst="roundRect">
            <a:avLst>
              <a:gd name="adj" fmla="val 8823"/>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00" b="1" i="0" lang="en-US" spc="20">
                <a:solidFill>
                  <a:srgbClr val="0B0B0C"/>
                </a:solidFill>
                <a:latin typeface="Plus Jakarta Sans"/>
                <a:cs typeface="Plus Jakarta Sans"/>
              </a:rPr>
              <a:t>SEARCH / INDEX /
OTHER CONSUMER</a:t>
            </a:r>
          </a:p>
        </p:txBody>
      </p:sp>
      <p:cxnSp>
        <p:nvCxnSpPr>
          <p:cNvPr id="22" name="Connector 21"/>
          <p:cNvCxnSpPr/>
          <p:nvPr/>
        </p:nvCxnSpPr>
        <p:spPr>
          <a:xfrm>
            <a:off x="2676137" y="3483863"/>
            <a:ext cx="182880" cy="0"/>
          </a:xfrm>
          <a:prstGeom prst="line">
            <a:avLst/>
          </a:prstGeom>
          <a:ln w="15875">
            <a:solidFill>
              <a:srgbClr val="9A9AA2"/>
            </a:solidFill>
            <a:tailEnd type="triangle" w="sm" len="sm"/>
          </a:ln>
        </p:spPr>
      </p:cxnSp>
      <p:sp>
        <p:nvSpPr>
          <p:cNvPr id="23" name="Rounded Rectangle 22"/>
          <p:cNvSpPr/>
          <p:nvPr/>
        </p:nvSpPr>
        <p:spPr>
          <a:xfrm>
            <a:off x="5123675" y="3017520"/>
            <a:ext cx="1944617" cy="932688"/>
          </a:xfrm>
          <a:prstGeom prst="roundRect">
            <a:avLst>
              <a:gd name="adj" fmla="val 8823"/>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00" b="1" i="0" lang="en-US" spc="20">
                <a:solidFill>
                  <a:srgbClr val="0B0B0C"/>
                </a:solidFill>
                <a:latin typeface="Plus Jakarta Sans"/>
                <a:cs typeface="Plus Jakarta Sans"/>
              </a:rPr>
              <a:t>RELEVANT
KNOWLEDGE</a:t>
            </a:r>
          </a:p>
        </p:txBody>
      </p:sp>
      <p:cxnSp>
        <p:nvCxnSpPr>
          <p:cNvPr id="24" name="Connector 23"/>
          <p:cNvCxnSpPr/>
          <p:nvPr/>
        </p:nvCxnSpPr>
        <p:spPr>
          <a:xfrm>
            <a:off x="4895075" y="3483863"/>
            <a:ext cx="182880" cy="0"/>
          </a:xfrm>
          <a:prstGeom prst="line">
            <a:avLst/>
          </a:prstGeom>
          <a:ln w="15875">
            <a:solidFill>
              <a:srgbClr val="9A9AA2"/>
            </a:solidFill>
            <a:tailEnd type="triangle" w="sm" len="sm"/>
          </a:ln>
        </p:spPr>
      </p:cxnSp>
      <p:sp>
        <p:nvSpPr>
          <p:cNvPr id="25" name="Rounded Rectangle 24"/>
          <p:cNvSpPr/>
          <p:nvPr/>
        </p:nvSpPr>
        <p:spPr>
          <a:xfrm>
            <a:off x="7342613" y="3017520"/>
            <a:ext cx="1944617" cy="932688"/>
          </a:xfrm>
          <a:prstGeom prst="roundRect">
            <a:avLst>
              <a:gd name="adj" fmla="val 8823"/>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00" b="1" i="0" lang="en-US" spc="20">
                <a:solidFill>
                  <a:srgbClr val="0B0B0C"/>
                </a:solidFill>
                <a:latin typeface="Plus Jakarta Sans"/>
                <a:cs typeface="Plus Jakarta Sans"/>
              </a:rPr>
              <a:t>LLM / AGENT</a:t>
            </a:r>
          </a:p>
        </p:txBody>
      </p:sp>
      <p:cxnSp>
        <p:nvCxnSpPr>
          <p:cNvPr id="26" name="Connector 25"/>
          <p:cNvCxnSpPr/>
          <p:nvPr/>
        </p:nvCxnSpPr>
        <p:spPr>
          <a:xfrm>
            <a:off x="7114013" y="3483863"/>
            <a:ext cx="182880" cy="0"/>
          </a:xfrm>
          <a:prstGeom prst="line">
            <a:avLst/>
          </a:prstGeom>
          <a:ln w="15875">
            <a:solidFill>
              <a:srgbClr val="9A9AA2"/>
            </a:solidFill>
            <a:tailEnd type="triangle" w="sm" len="sm"/>
          </a:ln>
        </p:spPr>
      </p:cxnSp>
      <p:sp>
        <p:nvSpPr>
          <p:cNvPr id="27" name="Rounded Rectangle 26"/>
          <p:cNvSpPr/>
          <p:nvPr/>
        </p:nvSpPr>
        <p:spPr>
          <a:xfrm>
            <a:off x="9561551" y="3017520"/>
            <a:ext cx="1944617" cy="932688"/>
          </a:xfrm>
          <a:prstGeom prst="roundRect">
            <a:avLst>
              <a:gd name="adj" fmla="val 8823"/>
            </a:avLst>
          </a:prstGeom>
          <a:solidFill>
            <a:srgbClr val="FFFFFF"/>
          </a:solidFill>
          <a:ln w="12700">
            <a:solidFill>
              <a:srgbClr val="E7E7EA"/>
            </a:solidFill>
          </a:ln>
          <a:effectLst/>
        </p:spPr>
        <p:txBody>
          <a:bodyPr rtlCol="0" anchor="ctr" wrap="square" lIns="45720" rIns="45720" tIns="18288" bIns="18288"/>
          <a:lstStyle/>
          <a:p>
            <a:pPr algn="ctr">
              <a:lnSpc>
                <a:spcPct val="104000"/>
              </a:lnSpc>
            </a:pPr>
            <a:r>
              <a:rPr sz="1000" b="1" i="0" lang="en-US" spc="20">
                <a:solidFill>
                  <a:srgbClr val="0B0B0C"/>
                </a:solidFill>
                <a:latin typeface="Plus Jakarta Sans"/>
                <a:cs typeface="Plus Jakarta Sans"/>
              </a:rPr>
              <a:t>USER
RESPONSE</a:t>
            </a:r>
          </a:p>
        </p:txBody>
      </p:sp>
      <p:cxnSp>
        <p:nvCxnSpPr>
          <p:cNvPr id="28" name="Connector 27"/>
          <p:cNvCxnSpPr/>
          <p:nvPr/>
        </p:nvCxnSpPr>
        <p:spPr>
          <a:xfrm>
            <a:off x="9332951" y="3483863"/>
            <a:ext cx="182880" cy="0"/>
          </a:xfrm>
          <a:prstGeom prst="line">
            <a:avLst/>
          </a:prstGeom>
          <a:ln w="15875">
            <a:solidFill>
              <a:srgbClr val="9A9AA2"/>
            </a:solidFill>
            <a:tailEnd type="triangle" w="sm" len="sm"/>
          </a:ln>
        </p:spPr>
      </p:cxnSp>
      <p:sp>
        <p:nvSpPr>
          <p:cNvPr id="29" name="TextBox 28"/>
          <p:cNvSpPr txBox="1"/>
          <p:nvPr/>
        </p:nvSpPr>
        <p:spPr>
          <a:xfrm>
            <a:off x="685800" y="4434840"/>
            <a:ext cx="10820369" cy="502920"/>
          </a:xfrm>
          <a:prstGeom prst="rect">
            <a:avLst/>
          </a:prstGeom>
          <a:noFill/>
        </p:spPr>
        <p:txBody>
          <a:bodyPr wrap="square" anchor="t" lIns="0" rIns="0" tIns="0" bIns="0">
            <a:spAutoFit/>
          </a:bodyPr>
          <a:lstStyle/>
          <a:p>
            <a:pPr algn="ctr"/>
            <a:r>
              <a:rPr sz="2500" b="1" i="0" lang="en-US" spc="-70">
                <a:solidFill>
                  <a:srgbClr val="0B0B0C"/>
                </a:solidFill>
                <a:latin typeface="Plus Jakarta Sans"/>
                <a:cs typeface="Plus Jakarta Sans"/>
              </a:rPr>
              <a:t>They can operate at different layers.</a:t>
            </a:r>
          </a:p>
        </p:txBody>
      </p:sp>
      <p:sp>
        <p:nvSpPr>
          <p:cNvPr id="30" name="Rectangle 29"/>
          <p:cNvSpPr/>
          <p:nvPr/>
        </p:nvSpPr>
        <p:spPr>
          <a:xfrm>
            <a:off x="5501624" y="5010912"/>
            <a:ext cx="1188720" cy="45720"/>
          </a:xfrm>
          <a:prstGeom prst="rect">
            <a:avLst/>
          </a:prstGeom>
          <a:solidFill>
            <a:srgbClr val="FF6B2C"/>
          </a:solidFill>
          <a:ln>
            <a:noFill/>
          </a:ln>
          <a:effectLst/>
        </p:spPr>
        <p:txBody>
          <a:bodyPr rtlCol="0" anchor="ctr" wrap="square"/>
          <a:lstStyle/>
          <a:p>
            <a:pPr algn="ctr"/>
          </a:p>
        </p:txBody>
      </p:sp>
      <p:sp>
        <p:nvSpPr>
          <p:cNvPr id="31" name="TextBox 30"/>
          <p:cNvSpPr txBox="1"/>
          <p:nvPr/>
        </p:nvSpPr>
        <p:spPr>
          <a:xfrm>
            <a:off x="685800" y="5285232"/>
            <a:ext cx="10820369" cy="731520"/>
          </a:xfrm>
          <a:prstGeom prst="rect">
            <a:avLst/>
          </a:prstGeom>
          <a:noFill/>
        </p:spPr>
        <p:txBody>
          <a:bodyPr wrap="square" anchor="t" lIns="0" rIns="0" tIns="0" bIns="0">
            <a:spAutoFit/>
          </a:bodyPr>
          <a:lstStyle/>
          <a:p>
            <a:pPr algn="ctr">
              <a:lnSpc>
                <a:spcPct val="150000"/>
              </a:lnSpc>
            </a:pPr>
            <a:r>
              <a:rPr sz="1250" b="1" i="0" lang="en-US">
                <a:solidFill>
                  <a:srgbClr val="0B0B0C"/>
                </a:solidFill>
                <a:latin typeface="Plus Jakarta Sans"/>
                <a:cs typeface="Plus Jakarta Sans"/>
              </a:rPr>
              <a:t>OKF for the knowledge representation layer.</a:t>
            </a:r>
            <a:r>
              <a:rPr sz="1250" b="0" i="0" lang="en-US">
                <a:solidFill>
                  <a:srgbClr val="63636B"/>
                </a:solidFill>
                <a:latin typeface="Plus Jakarta Sans"/>
                <a:cs typeface="Plus Jakarta Sans"/>
              </a:rPr>
              <a:t>   A search or retrieval layer for finding relevant information.   </a:t>
            </a:r>
            <a:r>
              <a:rPr sz="1250" b="1" i="0" lang="en-US">
                <a:solidFill>
                  <a:srgbClr val="0B0B0C"/>
                </a:solidFill>
                <a:latin typeface="Plus Jakarta Sans"/>
                <a:cs typeface="Plus Jakarta Sans"/>
              </a:rPr>
              <a:t>An LLM or agent for reasoning and generation.</a:t>
            </a:r>
          </a:p>
        </p:txBody>
      </p:sp>
      <p:sp>
        <p:nvSpPr>
          <p:cNvPr id="32" name="Rounded Rectangle 31"/>
          <p:cNvSpPr/>
          <p:nvPr/>
        </p:nvSpPr>
        <p:spPr>
          <a:xfrm>
            <a:off x="2880360" y="5989320"/>
            <a:ext cx="6431249" cy="438912"/>
          </a:xfrm>
          <a:prstGeom prst="roundRect">
            <a:avLst>
              <a:gd name="adj" fmla="val 50000"/>
            </a:avLst>
          </a:prstGeom>
          <a:solidFill>
            <a:srgbClr val="FAFAFB"/>
          </a:solidFill>
          <a:ln w="12700">
            <a:solidFill>
              <a:srgbClr val="E7E7EA"/>
            </a:solidFill>
          </a:ln>
          <a:effectLst/>
        </p:spPr>
        <p:txBody>
          <a:bodyPr rtlCol="0" anchor="ctr" wrap="square"/>
          <a:lstStyle/>
          <a:p>
            <a:pPr algn="ctr"/>
          </a:p>
        </p:txBody>
      </p:sp>
      <p:sp>
        <p:nvSpPr>
          <p:cNvPr id="33" name="TextBox 32"/>
          <p:cNvSpPr txBox="1"/>
          <p:nvPr/>
        </p:nvSpPr>
        <p:spPr>
          <a:xfrm>
            <a:off x="2880360" y="5989320"/>
            <a:ext cx="6431249" cy="438912"/>
          </a:xfrm>
          <a:prstGeom prst="rect">
            <a:avLst/>
          </a:prstGeom>
          <a:noFill/>
        </p:spPr>
        <p:txBody>
          <a:bodyPr wrap="square" anchor="ctr" lIns="0" rIns="0" tIns="0" bIns="0">
            <a:spAutoFit/>
          </a:bodyPr>
          <a:lstStyle/>
          <a:p>
            <a:pPr algn="ctr"/>
            <a:r>
              <a:rPr sz="1150" b="1" i="0" lang="en-US">
                <a:solidFill>
                  <a:srgbClr val="1A1A1D"/>
                </a:solidFill>
                <a:latin typeface="Plus Jakarta Sans"/>
                <a:cs typeface="Plus Jakarta Sans"/>
              </a:rPr>
              <a:t>A better mental model than “OKF versus RAG.”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PRACTICAL EXERCISE</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17</a:t>
            </a:r>
          </a:p>
        </p:txBody>
      </p:sp>
      <p:sp>
        <p:nvSpPr>
          <p:cNvPr id="7" name="Oval 6"/>
          <p:cNvSpPr/>
          <p:nvPr/>
        </p:nvSpPr>
        <p:spPr>
          <a:xfrm>
            <a:off x="685800" y="937259"/>
            <a:ext cx="53035" cy="53035"/>
          </a:xfrm>
          <a:prstGeom prst="ellipse">
            <a:avLst/>
          </a:prstGeom>
          <a:solidFill>
            <a:srgbClr val="FF6B2C"/>
          </a:solidFill>
          <a:ln>
            <a:noFill/>
          </a:ln>
          <a:effectLst/>
        </p:spPr>
        <p:txBody>
          <a:bodyPr rtlCol="0" anchor="ctr"/>
          <a:lstStyle/>
          <a:p>
            <a:pPr algn="ctr"/>
          </a:p>
        </p:txBody>
      </p:sp>
      <p:sp>
        <p:nvSpPr>
          <p:cNvPr id="8" name="TextBox 7"/>
          <p:cNvSpPr txBox="1"/>
          <p:nvPr/>
        </p:nvSpPr>
        <p:spPr>
          <a:xfrm>
            <a:off x="832104" y="896112"/>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PRACTICAL EXERCISE · 2 MINUTES</a:t>
            </a:r>
          </a:p>
        </p:txBody>
      </p:sp>
      <p:sp>
        <p:nvSpPr>
          <p:cNvPr id="9" name="TextBox 8"/>
          <p:cNvSpPr txBox="1"/>
          <p:nvPr/>
        </p:nvSpPr>
        <p:spPr>
          <a:xfrm>
            <a:off x="685800" y="1133856"/>
            <a:ext cx="10820369" cy="831088"/>
          </a:xfrm>
          <a:prstGeom prst="rect">
            <a:avLst/>
          </a:prstGeom>
          <a:noFill/>
        </p:spPr>
        <p:txBody>
          <a:bodyPr wrap="square" anchor="t" lIns="0" rIns="0" tIns="0" bIns="0">
            <a:spAutoFit/>
          </a:bodyPr>
          <a:lstStyle/>
          <a:p>
            <a:pPr algn="l">
              <a:lnSpc>
                <a:spcPct val="110000"/>
              </a:lnSpc>
            </a:pPr>
            <a:r>
              <a:rPr sz="3000" b="1" i="0" lang="en-US" spc="-60">
                <a:solidFill>
                  <a:srgbClr val="0B0B0C"/>
                </a:solidFill>
                <a:latin typeface="Plus Jakarta Sans"/>
                <a:cs typeface="Plus Jakarta Sans"/>
              </a:rPr>
              <a:t>Your Turn: Four Questions</a:t>
            </a:r>
          </a:p>
        </p:txBody>
      </p:sp>
      <p:sp>
        <p:nvSpPr>
          <p:cNvPr id="10" name="Rounded Rectangle 9"/>
          <p:cNvSpPr/>
          <p:nvPr/>
        </p:nvSpPr>
        <p:spPr>
          <a:xfrm>
            <a:off x="685800" y="1920240"/>
            <a:ext cx="10820369" cy="658368"/>
          </a:xfrm>
          <a:prstGeom prst="roundRect">
            <a:avLst>
              <a:gd name="adj" fmla="val 13888"/>
            </a:avLst>
          </a:prstGeom>
          <a:solidFill>
            <a:srgbClr val="FAFAFB"/>
          </a:solidFill>
          <a:ln w="12700">
            <a:solidFill>
              <a:srgbClr val="E7E7EA"/>
            </a:solidFill>
          </a:ln>
          <a:effectLst/>
        </p:spPr>
        <p:txBody>
          <a:bodyPr rtlCol="0" anchor="ctr" wrap="square"/>
          <a:lstStyle/>
          <a:p>
            <a:pPr algn="ctr"/>
          </a:p>
        </p:txBody>
      </p:sp>
      <p:sp>
        <p:nvSpPr>
          <p:cNvPr id="11" name="TextBox 10"/>
          <p:cNvSpPr txBox="1"/>
          <p:nvPr/>
        </p:nvSpPr>
        <p:spPr>
          <a:xfrm>
            <a:off x="941832" y="1920240"/>
            <a:ext cx="1280160" cy="6583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SCENARIO</a:t>
            </a:r>
          </a:p>
        </p:txBody>
      </p:sp>
      <p:sp>
        <p:nvSpPr>
          <p:cNvPr id="12" name="TextBox 11"/>
          <p:cNvSpPr txBox="1"/>
          <p:nvPr/>
        </p:nvSpPr>
        <p:spPr>
          <a:xfrm>
            <a:off x="2240280" y="1920240"/>
            <a:ext cx="3017520" cy="658368"/>
          </a:xfrm>
          <a:prstGeom prst="rect">
            <a:avLst/>
          </a:prstGeom>
          <a:noFill/>
        </p:spPr>
        <p:txBody>
          <a:bodyPr wrap="square" anchor="ctr" lIns="0" rIns="0" tIns="0" bIns="0">
            <a:spAutoFit/>
          </a:bodyPr>
          <a:lstStyle/>
          <a:p>
            <a:pPr algn="l"/>
            <a:r>
              <a:rPr sz="1100" b="0" i="0" lang="en-US">
                <a:solidFill>
                  <a:srgbClr val="63636B"/>
                </a:solidFill>
                <a:latin typeface="Plus Jakarta Sans"/>
                <a:cs typeface="Plus Jakarta Sans"/>
              </a:rPr>
              <a:t>College AI assistant with</a:t>
            </a:r>
          </a:p>
        </p:txBody>
      </p:sp>
      <p:sp>
        <p:nvSpPr>
          <p:cNvPr id="13" name="Rounded Rectangle 12"/>
          <p:cNvSpPr/>
          <p:nvPr/>
        </p:nvSpPr>
        <p:spPr>
          <a:xfrm>
            <a:off x="5120640" y="2084831"/>
            <a:ext cx="1783080" cy="329184"/>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14" name="TextBox 13"/>
          <p:cNvSpPr txBox="1"/>
          <p:nvPr/>
        </p:nvSpPr>
        <p:spPr>
          <a:xfrm>
            <a:off x="5120640" y="2084831"/>
            <a:ext cx="1783080" cy="329184"/>
          </a:xfrm>
          <a:prstGeom prst="rect">
            <a:avLst/>
          </a:prstGeom>
          <a:noFill/>
        </p:spPr>
        <p:txBody>
          <a:bodyPr wrap="square" anchor="ctr" lIns="0" rIns="0" tIns="0" bIns="0">
            <a:spAutoFit/>
          </a:bodyPr>
          <a:lstStyle/>
          <a:p>
            <a:pPr algn="ctr"/>
            <a:r>
              <a:rPr sz="1000" b="1" i="0" lang="en-US">
                <a:solidFill>
                  <a:srgbClr val="0B0B0C"/>
                </a:solidFill>
                <a:latin typeface="Plus Jakarta Sans"/>
                <a:cs typeface="Plus Jakarta Sans"/>
              </a:rPr>
              <a:t>Leave Rules</a:t>
            </a:r>
          </a:p>
        </p:txBody>
      </p:sp>
      <p:sp>
        <p:nvSpPr>
          <p:cNvPr id="15" name="Rounded Rectangle 14"/>
          <p:cNvSpPr/>
          <p:nvPr/>
        </p:nvSpPr>
        <p:spPr>
          <a:xfrm>
            <a:off x="7104888" y="2084831"/>
            <a:ext cx="1783080" cy="329184"/>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16" name="TextBox 15"/>
          <p:cNvSpPr txBox="1"/>
          <p:nvPr/>
        </p:nvSpPr>
        <p:spPr>
          <a:xfrm>
            <a:off x="7104888" y="2084831"/>
            <a:ext cx="1783080" cy="329184"/>
          </a:xfrm>
          <a:prstGeom prst="rect">
            <a:avLst/>
          </a:prstGeom>
          <a:noFill/>
        </p:spPr>
        <p:txBody>
          <a:bodyPr wrap="square" anchor="ctr" lIns="0" rIns="0" tIns="0" bIns="0">
            <a:spAutoFit/>
          </a:bodyPr>
          <a:lstStyle/>
          <a:p>
            <a:pPr algn="ctr"/>
            <a:r>
              <a:rPr sz="1000" b="1" i="0" lang="en-US">
                <a:solidFill>
                  <a:srgbClr val="0B0B0C"/>
                </a:solidFill>
                <a:latin typeface="Plus Jakarta Sans"/>
                <a:cs typeface="Plus Jakarta Sans"/>
              </a:rPr>
              <a:t>Eligibility</a:t>
            </a:r>
          </a:p>
        </p:txBody>
      </p:sp>
      <p:sp>
        <p:nvSpPr>
          <p:cNvPr id="17" name="Rounded Rectangle 16"/>
          <p:cNvSpPr/>
          <p:nvPr/>
        </p:nvSpPr>
        <p:spPr>
          <a:xfrm>
            <a:off x="9089136" y="2084831"/>
            <a:ext cx="1783080" cy="329184"/>
          </a:xfrm>
          <a:prstGeom prst="roundRect">
            <a:avLst>
              <a:gd name="adj" fmla="val 50000"/>
            </a:avLst>
          </a:prstGeom>
          <a:solidFill>
            <a:srgbClr val="FFFFFF"/>
          </a:solidFill>
          <a:ln w="12700">
            <a:solidFill>
              <a:srgbClr val="E7E7EA"/>
            </a:solidFill>
          </a:ln>
          <a:effectLst/>
        </p:spPr>
        <p:txBody>
          <a:bodyPr rtlCol="0" anchor="ctr" wrap="square"/>
          <a:lstStyle/>
          <a:p>
            <a:pPr algn="ctr"/>
          </a:p>
        </p:txBody>
      </p:sp>
      <p:sp>
        <p:nvSpPr>
          <p:cNvPr id="18" name="TextBox 17"/>
          <p:cNvSpPr txBox="1"/>
          <p:nvPr/>
        </p:nvSpPr>
        <p:spPr>
          <a:xfrm>
            <a:off x="9089136" y="2084831"/>
            <a:ext cx="1783080" cy="329184"/>
          </a:xfrm>
          <a:prstGeom prst="rect">
            <a:avLst/>
          </a:prstGeom>
          <a:noFill/>
        </p:spPr>
        <p:txBody>
          <a:bodyPr wrap="square" anchor="ctr" lIns="0" rIns="0" tIns="0" bIns="0">
            <a:spAutoFit/>
          </a:bodyPr>
          <a:lstStyle/>
          <a:p>
            <a:pPr algn="ctr"/>
            <a:r>
              <a:rPr sz="1000" b="1" i="0" lang="en-US">
                <a:solidFill>
                  <a:srgbClr val="0B0B0C"/>
                </a:solidFill>
                <a:latin typeface="Plus Jakarta Sans"/>
                <a:cs typeface="Plus Jakarta Sans"/>
              </a:rPr>
              <a:t>Exceptions</a:t>
            </a:r>
          </a:p>
        </p:txBody>
      </p:sp>
      <p:sp>
        <p:nvSpPr>
          <p:cNvPr id="19" name="Rounded Rectangle 18"/>
          <p:cNvSpPr/>
          <p:nvPr/>
        </p:nvSpPr>
        <p:spPr>
          <a:xfrm>
            <a:off x="685800" y="2926080"/>
            <a:ext cx="5148072" cy="1389888"/>
          </a:xfrm>
          <a:prstGeom prst="roundRect">
            <a:avLst>
              <a:gd name="adj" fmla="val 7894"/>
            </a:avLst>
          </a:prstGeom>
          <a:solidFill>
            <a:srgbClr val="FFFFFF"/>
          </a:solidFill>
          <a:ln w="12700">
            <a:solidFill>
              <a:srgbClr val="E7E7EA"/>
            </a:solidFill>
          </a:ln>
          <a:effectLst/>
        </p:spPr>
        <p:txBody>
          <a:bodyPr rtlCol="0" anchor="ctr" wrap="square"/>
          <a:lstStyle/>
          <a:p>
            <a:pPr algn="ctr"/>
          </a:p>
        </p:txBody>
      </p:sp>
      <p:sp>
        <p:nvSpPr>
          <p:cNvPr id="20" name="Rounded Rectangle 19"/>
          <p:cNvSpPr/>
          <p:nvPr/>
        </p:nvSpPr>
        <p:spPr>
          <a:xfrm>
            <a:off x="685800" y="2926080"/>
            <a:ext cx="5148072" cy="45720"/>
          </a:xfrm>
          <a:prstGeom prst="roundRect">
            <a:avLst>
              <a:gd name="adj" fmla="val 40000"/>
            </a:avLst>
          </a:prstGeom>
          <a:solidFill>
            <a:srgbClr val="FF6B2C"/>
          </a:solidFill>
          <a:ln>
            <a:noFill/>
          </a:ln>
          <a:effectLst/>
        </p:spPr>
        <p:txBody>
          <a:bodyPr rtlCol="0" anchor="ctr" wrap="square"/>
          <a:lstStyle/>
          <a:p>
            <a:pPr algn="ctr"/>
          </a:p>
        </p:txBody>
      </p:sp>
      <p:sp>
        <p:nvSpPr>
          <p:cNvPr id="21" name="TextBox 20"/>
          <p:cNvSpPr txBox="1"/>
          <p:nvPr/>
        </p:nvSpPr>
        <p:spPr>
          <a:xfrm>
            <a:off x="960120" y="3145536"/>
            <a:ext cx="914400" cy="237744"/>
          </a:xfrm>
          <a:prstGeom prst="rect">
            <a:avLst/>
          </a:prstGeom>
          <a:noFill/>
        </p:spPr>
        <p:txBody>
          <a:bodyPr wrap="square" anchor="t" lIns="0" rIns="0" tIns="0" bIns="0">
            <a:spAutoFit/>
          </a:bodyPr>
          <a:lstStyle/>
          <a:p>
            <a:pPr algn="l"/>
            <a:r>
              <a:rPr sz="1200" b="1" i="0" lang="en-US" spc="80">
                <a:solidFill>
                  <a:srgbClr val="FF6B2C"/>
                </a:solidFill>
                <a:latin typeface="Plus Jakarta Sans"/>
                <a:cs typeface="Plus Jakarta Sans"/>
              </a:rPr>
              <a:t>Q1</a:t>
            </a:r>
          </a:p>
        </p:txBody>
      </p:sp>
      <p:sp>
        <p:nvSpPr>
          <p:cNvPr id="22" name="TextBox 21"/>
          <p:cNvSpPr txBox="1"/>
          <p:nvPr/>
        </p:nvSpPr>
        <p:spPr>
          <a:xfrm>
            <a:off x="960120" y="3456432"/>
            <a:ext cx="4599432" cy="731520"/>
          </a:xfrm>
          <a:prstGeom prst="rect">
            <a:avLst/>
          </a:prstGeom>
          <a:noFill/>
        </p:spPr>
        <p:txBody>
          <a:bodyPr wrap="square" anchor="t" lIns="0" rIns="0" tIns="0" bIns="0">
            <a:spAutoFit/>
          </a:bodyPr>
          <a:lstStyle/>
          <a:p>
            <a:pPr algn="l">
              <a:lnSpc>
                <a:spcPct val="130000"/>
              </a:lnSpc>
            </a:pPr>
            <a:r>
              <a:rPr sz="1500" b="1" i="0" lang="en-US" spc="-30">
                <a:solidFill>
                  <a:srgbClr val="0B0B0C"/>
                </a:solidFill>
                <a:latin typeface="Plus Jakarta Sans"/>
                <a:cs typeface="Plus Jakarta Sans"/>
              </a:rPr>
              <a:t>What becomes a concept document?</a:t>
            </a:r>
          </a:p>
        </p:txBody>
      </p:sp>
      <p:sp>
        <p:nvSpPr>
          <p:cNvPr id="23" name="Rounded Rectangle 22"/>
          <p:cNvSpPr/>
          <p:nvPr/>
        </p:nvSpPr>
        <p:spPr>
          <a:xfrm>
            <a:off x="6355080" y="2926080"/>
            <a:ext cx="5148072" cy="1389888"/>
          </a:xfrm>
          <a:prstGeom prst="roundRect">
            <a:avLst>
              <a:gd name="adj" fmla="val 7894"/>
            </a:avLst>
          </a:prstGeom>
          <a:solidFill>
            <a:srgbClr val="FFFFFF"/>
          </a:solidFill>
          <a:ln w="12700">
            <a:solidFill>
              <a:srgbClr val="E7E7EA"/>
            </a:solidFill>
          </a:ln>
          <a:effectLst/>
        </p:spPr>
        <p:txBody>
          <a:bodyPr rtlCol="0" anchor="ctr" wrap="square"/>
          <a:lstStyle/>
          <a:p>
            <a:pPr algn="ctr"/>
          </a:p>
        </p:txBody>
      </p:sp>
      <p:sp>
        <p:nvSpPr>
          <p:cNvPr id="24" name="Rounded Rectangle 23"/>
          <p:cNvSpPr/>
          <p:nvPr/>
        </p:nvSpPr>
        <p:spPr>
          <a:xfrm>
            <a:off x="6355080" y="2926080"/>
            <a:ext cx="5148072" cy="45720"/>
          </a:xfrm>
          <a:prstGeom prst="roundRect">
            <a:avLst>
              <a:gd name="adj" fmla="val 40000"/>
            </a:avLst>
          </a:prstGeom>
          <a:solidFill>
            <a:srgbClr val="FF6B2C"/>
          </a:solidFill>
          <a:ln>
            <a:noFill/>
          </a:ln>
          <a:effectLst/>
        </p:spPr>
        <p:txBody>
          <a:bodyPr rtlCol="0" anchor="ctr" wrap="square"/>
          <a:lstStyle/>
          <a:p>
            <a:pPr algn="ctr"/>
          </a:p>
        </p:txBody>
      </p:sp>
      <p:sp>
        <p:nvSpPr>
          <p:cNvPr id="25" name="TextBox 24"/>
          <p:cNvSpPr txBox="1"/>
          <p:nvPr/>
        </p:nvSpPr>
        <p:spPr>
          <a:xfrm>
            <a:off x="6629400" y="3145536"/>
            <a:ext cx="914400" cy="237744"/>
          </a:xfrm>
          <a:prstGeom prst="rect">
            <a:avLst/>
          </a:prstGeom>
          <a:noFill/>
        </p:spPr>
        <p:txBody>
          <a:bodyPr wrap="square" anchor="t" lIns="0" rIns="0" tIns="0" bIns="0">
            <a:spAutoFit/>
          </a:bodyPr>
          <a:lstStyle/>
          <a:p>
            <a:pPr algn="l"/>
            <a:r>
              <a:rPr sz="1200" b="1" i="0" lang="en-US" spc="80">
                <a:solidFill>
                  <a:srgbClr val="FF6B2C"/>
                </a:solidFill>
                <a:latin typeface="Plus Jakarta Sans"/>
                <a:cs typeface="Plus Jakarta Sans"/>
              </a:rPr>
              <a:t>Q2</a:t>
            </a:r>
          </a:p>
        </p:txBody>
      </p:sp>
      <p:sp>
        <p:nvSpPr>
          <p:cNvPr id="26" name="TextBox 25"/>
          <p:cNvSpPr txBox="1"/>
          <p:nvPr/>
        </p:nvSpPr>
        <p:spPr>
          <a:xfrm>
            <a:off x="6629400" y="3456432"/>
            <a:ext cx="4599432" cy="731520"/>
          </a:xfrm>
          <a:prstGeom prst="rect">
            <a:avLst/>
          </a:prstGeom>
          <a:noFill/>
        </p:spPr>
        <p:txBody>
          <a:bodyPr wrap="square" anchor="t" lIns="0" rIns="0" tIns="0" bIns="0">
            <a:spAutoFit/>
          </a:bodyPr>
          <a:lstStyle/>
          <a:p>
            <a:pPr algn="l">
              <a:lnSpc>
                <a:spcPct val="130000"/>
              </a:lnSpc>
            </a:pPr>
            <a:r>
              <a:rPr sz="1500" b="1" i="0" lang="en-US" spc="-30">
                <a:solidFill>
                  <a:srgbClr val="0B0B0C"/>
                </a:solidFill>
                <a:latin typeface="Plus Jakarta Sans"/>
                <a:cs typeface="Plus Jakarta Sans"/>
              </a:rPr>
              <a:t>What metadata could we store?</a:t>
            </a:r>
          </a:p>
        </p:txBody>
      </p:sp>
      <p:sp>
        <p:nvSpPr>
          <p:cNvPr id="27" name="Rounded Rectangle 26"/>
          <p:cNvSpPr/>
          <p:nvPr/>
        </p:nvSpPr>
        <p:spPr>
          <a:xfrm>
            <a:off x="685800" y="4526280"/>
            <a:ext cx="5148072" cy="1389888"/>
          </a:xfrm>
          <a:prstGeom prst="roundRect">
            <a:avLst>
              <a:gd name="adj" fmla="val 7894"/>
            </a:avLst>
          </a:prstGeom>
          <a:solidFill>
            <a:srgbClr val="FFFFFF"/>
          </a:solidFill>
          <a:ln w="12700">
            <a:solidFill>
              <a:srgbClr val="E7E7EA"/>
            </a:solidFill>
          </a:ln>
          <a:effectLst/>
        </p:spPr>
        <p:txBody>
          <a:bodyPr rtlCol="0" anchor="ctr" wrap="square"/>
          <a:lstStyle/>
          <a:p>
            <a:pPr algn="ctr"/>
          </a:p>
        </p:txBody>
      </p:sp>
      <p:sp>
        <p:nvSpPr>
          <p:cNvPr id="28" name="Rounded Rectangle 27"/>
          <p:cNvSpPr/>
          <p:nvPr/>
        </p:nvSpPr>
        <p:spPr>
          <a:xfrm>
            <a:off x="685800" y="4526280"/>
            <a:ext cx="5148072" cy="45720"/>
          </a:xfrm>
          <a:prstGeom prst="roundRect">
            <a:avLst>
              <a:gd name="adj" fmla="val 40000"/>
            </a:avLst>
          </a:prstGeom>
          <a:solidFill>
            <a:srgbClr val="FF6B2C"/>
          </a:solidFill>
          <a:ln>
            <a:noFill/>
          </a:ln>
          <a:effectLst/>
        </p:spPr>
        <p:txBody>
          <a:bodyPr rtlCol="0" anchor="ctr" wrap="square"/>
          <a:lstStyle/>
          <a:p>
            <a:pPr algn="ctr"/>
          </a:p>
        </p:txBody>
      </p:sp>
      <p:sp>
        <p:nvSpPr>
          <p:cNvPr id="29" name="TextBox 28"/>
          <p:cNvSpPr txBox="1"/>
          <p:nvPr/>
        </p:nvSpPr>
        <p:spPr>
          <a:xfrm>
            <a:off x="960120" y="4745736"/>
            <a:ext cx="914400" cy="237744"/>
          </a:xfrm>
          <a:prstGeom prst="rect">
            <a:avLst/>
          </a:prstGeom>
          <a:noFill/>
        </p:spPr>
        <p:txBody>
          <a:bodyPr wrap="square" anchor="t" lIns="0" rIns="0" tIns="0" bIns="0">
            <a:spAutoFit/>
          </a:bodyPr>
          <a:lstStyle/>
          <a:p>
            <a:pPr algn="l"/>
            <a:r>
              <a:rPr sz="1200" b="1" i="0" lang="en-US" spc="80">
                <a:solidFill>
                  <a:srgbClr val="FF6B2C"/>
                </a:solidFill>
                <a:latin typeface="Plus Jakarta Sans"/>
                <a:cs typeface="Plus Jakarta Sans"/>
              </a:rPr>
              <a:t>Q3</a:t>
            </a:r>
          </a:p>
        </p:txBody>
      </p:sp>
      <p:sp>
        <p:nvSpPr>
          <p:cNvPr id="30" name="TextBox 29"/>
          <p:cNvSpPr txBox="1"/>
          <p:nvPr/>
        </p:nvSpPr>
        <p:spPr>
          <a:xfrm>
            <a:off x="960120" y="5056632"/>
            <a:ext cx="4599432" cy="731520"/>
          </a:xfrm>
          <a:prstGeom prst="rect">
            <a:avLst/>
          </a:prstGeom>
          <a:noFill/>
        </p:spPr>
        <p:txBody>
          <a:bodyPr wrap="square" anchor="t" lIns="0" rIns="0" tIns="0" bIns="0">
            <a:spAutoFit/>
          </a:bodyPr>
          <a:lstStyle/>
          <a:p>
            <a:pPr algn="l">
              <a:lnSpc>
                <a:spcPct val="130000"/>
              </a:lnSpc>
            </a:pPr>
            <a:r>
              <a:rPr sz="1500" b="1" i="0" lang="en-US" spc="-30">
                <a:solidFill>
                  <a:srgbClr val="0B0B0C"/>
                </a:solidFill>
                <a:latin typeface="Plus Jakarta Sans"/>
                <a:cs typeface="Plus Jakarta Sans"/>
              </a:rPr>
              <a:t>How could the concepts be connected?</a:t>
            </a:r>
          </a:p>
        </p:txBody>
      </p:sp>
      <p:sp>
        <p:nvSpPr>
          <p:cNvPr id="31" name="Rounded Rectangle 30"/>
          <p:cNvSpPr/>
          <p:nvPr/>
        </p:nvSpPr>
        <p:spPr>
          <a:xfrm>
            <a:off x="6355080" y="4526280"/>
            <a:ext cx="5148072" cy="1389888"/>
          </a:xfrm>
          <a:prstGeom prst="roundRect">
            <a:avLst>
              <a:gd name="adj" fmla="val 7894"/>
            </a:avLst>
          </a:prstGeom>
          <a:solidFill>
            <a:srgbClr val="FFFFFF"/>
          </a:solidFill>
          <a:ln w="12700">
            <a:solidFill>
              <a:srgbClr val="E7E7EA"/>
            </a:solidFill>
          </a:ln>
          <a:effectLst/>
        </p:spPr>
        <p:txBody>
          <a:bodyPr rtlCol="0" anchor="ctr" wrap="square"/>
          <a:lstStyle/>
          <a:p>
            <a:pPr algn="ctr"/>
          </a:p>
        </p:txBody>
      </p:sp>
      <p:sp>
        <p:nvSpPr>
          <p:cNvPr id="32" name="Rounded Rectangle 31"/>
          <p:cNvSpPr/>
          <p:nvPr/>
        </p:nvSpPr>
        <p:spPr>
          <a:xfrm>
            <a:off x="6355080" y="4526280"/>
            <a:ext cx="5148072" cy="45720"/>
          </a:xfrm>
          <a:prstGeom prst="roundRect">
            <a:avLst>
              <a:gd name="adj" fmla="val 40000"/>
            </a:avLst>
          </a:prstGeom>
          <a:solidFill>
            <a:srgbClr val="FF6B2C"/>
          </a:solidFill>
          <a:ln>
            <a:noFill/>
          </a:ln>
          <a:effectLst/>
        </p:spPr>
        <p:txBody>
          <a:bodyPr rtlCol="0" anchor="ctr" wrap="square"/>
          <a:lstStyle/>
          <a:p>
            <a:pPr algn="ctr"/>
          </a:p>
        </p:txBody>
      </p:sp>
      <p:sp>
        <p:nvSpPr>
          <p:cNvPr id="33" name="TextBox 32"/>
          <p:cNvSpPr txBox="1"/>
          <p:nvPr/>
        </p:nvSpPr>
        <p:spPr>
          <a:xfrm>
            <a:off x="6629400" y="4745736"/>
            <a:ext cx="914400" cy="237744"/>
          </a:xfrm>
          <a:prstGeom prst="rect">
            <a:avLst/>
          </a:prstGeom>
          <a:noFill/>
        </p:spPr>
        <p:txBody>
          <a:bodyPr wrap="square" anchor="t" lIns="0" rIns="0" tIns="0" bIns="0">
            <a:spAutoFit/>
          </a:bodyPr>
          <a:lstStyle/>
          <a:p>
            <a:pPr algn="l"/>
            <a:r>
              <a:rPr sz="1200" b="1" i="0" lang="en-US" spc="80">
                <a:solidFill>
                  <a:srgbClr val="FF6B2C"/>
                </a:solidFill>
                <a:latin typeface="Plus Jakarta Sans"/>
                <a:cs typeface="Plus Jakarta Sans"/>
              </a:rPr>
              <a:t>Q4</a:t>
            </a:r>
          </a:p>
        </p:txBody>
      </p:sp>
      <p:sp>
        <p:nvSpPr>
          <p:cNvPr id="34" name="TextBox 33"/>
          <p:cNvSpPr txBox="1"/>
          <p:nvPr/>
        </p:nvSpPr>
        <p:spPr>
          <a:xfrm>
            <a:off x="6629400" y="5056632"/>
            <a:ext cx="4599432" cy="731520"/>
          </a:xfrm>
          <a:prstGeom prst="rect">
            <a:avLst/>
          </a:prstGeom>
          <a:noFill/>
        </p:spPr>
        <p:txBody>
          <a:bodyPr wrap="square" anchor="t" lIns="0" rIns="0" tIns="0" bIns="0">
            <a:spAutoFit/>
          </a:bodyPr>
          <a:lstStyle/>
          <a:p>
            <a:pPr algn="l">
              <a:lnSpc>
                <a:spcPct val="130000"/>
              </a:lnSpc>
            </a:pPr>
            <a:r>
              <a:rPr sz="1500" b="1" i="0" lang="en-US" spc="-30">
                <a:solidFill>
                  <a:srgbClr val="0B0B0C"/>
                </a:solidFill>
                <a:latin typeface="Plus Jakarta Sans"/>
                <a:cs typeface="Plus Jakarta Sans"/>
              </a:rPr>
              <a:t>What component finds the relevant knowledge when a student asks?</a:t>
            </a:r>
          </a:p>
        </p:txBody>
      </p:sp>
      <p:sp>
        <p:nvSpPr>
          <p:cNvPr id="35" name="TextBox 34"/>
          <p:cNvSpPr txBox="1"/>
          <p:nvPr/>
        </p:nvSpPr>
        <p:spPr>
          <a:xfrm>
            <a:off x="685800" y="6144768"/>
            <a:ext cx="10820369" cy="256032"/>
          </a:xfrm>
          <a:prstGeom prst="rect">
            <a:avLst/>
          </a:prstGeom>
          <a:noFill/>
        </p:spPr>
        <p:txBody>
          <a:bodyPr wrap="square" anchor="t" lIns="0" rIns="0" tIns="0" bIns="0">
            <a:spAutoFit/>
          </a:bodyPr>
          <a:lstStyle/>
          <a:p>
            <a:pPr algn="ctr"/>
            <a:r>
              <a:rPr sz="1050" b="0" i="0" lang="en-US">
                <a:solidFill>
                  <a:srgbClr val="9A9AA2"/>
                </a:solidFill>
                <a:latin typeface="Plus Jakarta Sans"/>
                <a:cs typeface="Plus Jakarta Sans"/>
              </a:rPr>
              <a:t>Discuss in pairs — one answer each, 30 seconds per question.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69164"/>
            <a:ext cx="2743200" cy="274320"/>
          </a:xfrm>
          <a:prstGeom prst="rect">
            <a:avLst/>
          </a:prstGeom>
          <a:noFill/>
        </p:spPr>
        <p:txBody>
          <a:bodyPr wrap="square" anchor="ctr" lIns="0" rIns="0" tIns="0" bIns="0">
            <a:spAutoFit/>
          </a:bodyPr>
          <a:lstStyle/>
          <a:p>
            <a:pPr algn="l"/>
            <a:r>
              <a:rPr sz="1400" b="1" i="0" lang="en-US" spc="-30">
                <a:solidFill>
                  <a:srgbClr val="0B0B0C"/>
                </a:solidFill>
                <a:latin typeface="Plus Jakarta Sans"/>
                <a:cs typeface="Plus Jakarta Sans"/>
              </a:rPr>
              <a:t>Task</a:t>
            </a:r>
            <a:r>
              <a:rPr sz="1400" b="1" i="0" lang="en-US" spc="-30">
                <a:solidFill>
                  <a:srgbClr val="FF6B2C"/>
                </a:solidFill>
                <a:latin typeface="Plus Jakarta Sans"/>
                <a:cs typeface="Plus Jakarta Sans"/>
              </a:rPr>
              <a:t>Veda</a:t>
            </a:r>
          </a:p>
        </p:txBody>
      </p:sp>
      <p:sp>
        <p:nvSpPr>
          <p:cNvPr id="3" name="TextBox 2"/>
          <p:cNvSpPr txBox="1"/>
          <p:nvPr/>
        </p:nvSpPr>
        <p:spPr>
          <a:xfrm>
            <a:off x="6019769" y="182880"/>
            <a:ext cx="5486400" cy="237744"/>
          </a:xfrm>
          <a:prstGeom prst="rect">
            <a:avLst/>
          </a:prstGeom>
          <a:noFill/>
        </p:spPr>
        <p:txBody>
          <a:bodyPr wrap="square" anchor="ctr" lIns="0" rIns="0" tIns="0" bIns="0">
            <a:spAutoFit/>
          </a:bodyPr>
          <a:lstStyle/>
          <a:p>
            <a:pPr algn="r"/>
            <a:r>
              <a:rPr sz="750" b="1" i="0" lang="en-US" spc="130">
                <a:solidFill>
                  <a:srgbClr val="9A9AA2"/>
                </a:solidFill>
                <a:latin typeface="Plus Jakarta Sans"/>
                <a:cs typeface="Plus Jakarta Sans"/>
              </a:rPr>
              <a:t>CLOSE</a:t>
            </a:r>
          </a:p>
        </p:txBody>
      </p:sp>
      <p:cxnSp>
        <p:nvCxnSpPr>
          <p:cNvPr id="4" name="Connector 3"/>
          <p:cNvCxnSpPr/>
          <p:nvPr/>
        </p:nvCxnSpPr>
        <p:spPr>
          <a:xfrm>
            <a:off x="685800" y="566928"/>
            <a:ext cx="10820369" cy="0"/>
          </a:xfrm>
          <a:prstGeom prst="line">
            <a:avLst/>
          </a:prstGeom>
          <a:ln w="12700">
            <a:solidFill>
              <a:srgbClr val="E7E7EA"/>
            </a:solidFill>
          </a:ln>
        </p:spPr>
      </p:cxnSp>
      <p:sp>
        <p:nvSpPr>
          <p:cNvPr id="5" name="TextBox 4"/>
          <p:cNvSpPr txBox="1"/>
          <p:nvPr/>
        </p:nvSpPr>
        <p:spPr>
          <a:xfrm>
            <a:off x="685800" y="6492240"/>
            <a:ext cx="6400800" cy="201168"/>
          </a:xfrm>
          <a:prstGeom prst="rect">
            <a:avLst/>
          </a:prstGeom>
          <a:noFill/>
        </p:spPr>
        <p:txBody>
          <a:bodyPr wrap="square" anchor="ctr" lIns="0" rIns="0" tIns="0" bIns="0">
            <a:spAutoFit/>
          </a:bodyPr>
          <a:lstStyle/>
          <a:p>
            <a:pPr algn="l"/>
            <a:r>
              <a:rPr sz="650" b="1" i="0" lang="en-US" spc="110">
                <a:solidFill>
                  <a:srgbClr val="9A9AA2"/>
                </a:solidFill>
                <a:latin typeface="Plus Jakarta Sans"/>
                <a:cs typeface="Plus Jakarta Sans"/>
              </a:rPr>
              <a:t>AI HACKATHON STRATEGY  ·  DAY 39</a:t>
            </a:r>
          </a:p>
        </p:txBody>
      </p:sp>
      <p:sp>
        <p:nvSpPr>
          <p:cNvPr id="6" name="TextBox 5"/>
          <p:cNvSpPr txBox="1"/>
          <p:nvPr/>
        </p:nvSpPr>
        <p:spPr>
          <a:xfrm>
            <a:off x="10408889" y="6492240"/>
            <a:ext cx="1097280" cy="201168"/>
          </a:xfrm>
          <a:prstGeom prst="rect">
            <a:avLst/>
          </a:prstGeom>
          <a:noFill/>
        </p:spPr>
        <p:txBody>
          <a:bodyPr wrap="square" anchor="ctr" lIns="0" rIns="0" tIns="0" bIns="0">
            <a:spAutoFit/>
          </a:bodyPr>
          <a:lstStyle/>
          <a:p>
            <a:pPr algn="r"/>
            <a:r>
              <a:rPr sz="800" b="1" i="0" lang="en-US" spc="50">
                <a:solidFill>
                  <a:srgbClr val="9A9AA2"/>
                </a:solidFill>
                <a:latin typeface="Plus Jakarta Sans"/>
                <a:cs typeface="Plus Jakarta Sans"/>
              </a:rPr>
              <a:t>18</a:t>
            </a:r>
          </a:p>
        </p:txBody>
      </p:sp>
      <p:sp>
        <p:nvSpPr>
          <p:cNvPr id="7" name="TextBox 6"/>
          <p:cNvSpPr txBox="1"/>
          <p:nvPr/>
        </p:nvSpPr>
        <p:spPr>
          <a:xfrm>
            <a:off x="8778240" y="1143000"/>
            <a:ext cx="2743200" cy="2194560"/>
          </a:xfrm>
          <a:prstGeom prst="rect">
            <a:avLst/>
          </a:prstGeom>
          <a:noFill/>
        </p:spPr>
        <p:txBody>
          <a:bodyPr wrap="square" anchor="t" lIns="0" rIns="0" tIns="0" bIns="0">
            <a:spAutoFit/>
          </a:bodyPr>
          <a:lstStyle/>
          <a:p>
            <a:pPr algn="r"/>
            <a:r>
              <a:rPr sz="11500" b="1" i="0" lang="en-US" spc="-400">
                <a:solidFill>
                  <a:srgbClr val="F2F2F4"/>
                </a:solidFill>
                <a:latin typeface="Plus Jakarta Sans"/>
                <a:cs typeface="Plus Jakarta Sans"/>
              </a:rPr>
              <a:t>39</a:t>
            </a:r>
          </a:p>
        </p:txBody>
      </p:sp>
      <p:sp>
        <p:nvSpPr>
          <p:cNvPr id="8" name="Rectangle 7"/>
          <p:cNvSpPr/>
          <p:nvPr/>
        </p:nvSpPr>
        <p:spPr>
          <a:xfrm>
            <a:off x="685800" y="1874519"/>
            <a:ext cx="502920" cy="50292"/>
          </a:xfrm>
          <a:prstGeom prst="rect">
            <a:avLst/>
          </a:prstGeom>
          <a:solidFill>
            <a:srgbClr val="FF6B2C"/>
          </a:solidFill>
          <a:ln>
            <a:noFill/>
          </a:ln>
          <a:effectLst/>
        </p:spPr>
        <p:txBody>
          <a:bodyPr rtlCol="0" anchor="ctr" wrap="square"/>
          <a:lstStyle/>
          <a:p>
            <a:pPr algn="ctr"/>
          </a:p>
        </p:txBody>
      </p:sp>
      <p:sp>
        <p:nvSpPr>
          <p:cNvPr id="9" name="Oval 8"/>
          <p:cNvSpPr/>
          <p:nvPr/>
        </p:nvSpPr>
        <p:spPr>
          <a:xfrm>
            <a:off x="685800" y="2162556"/>
            <a:ext cx="53035" cy="53035"/>
          </a:xfrm>
          <a:prstGeom prst="ellipse">
            <a:avLst/>
          </a:prstGeom>
          <a:solidFill>
            <a:srgbClr val="FF6B2C"/>
          </a:solidFill>
          <a:ln>
            <a:noFill/>
          </a:ln>
          <a:effectLst/>
        </p:spPr>
        <p:txBody>
          <a:bodyPr rtlCol="0" anchor="ctr"/>
          <a:lstStyle/>
          <a:p>
            <a:pPr algn="ctr"/>
          </a:p>
        </p:txBody>
      </p:sp>
      <p:sp>
        <p:nvSpPr>
          <p:cNvPr id="10" name="TextBox 9"/>
          <p:cNvSpPr txBox="1"/>
          <p:nvPr/>
        </p:nvSpPr>
        <p:spPr>
          <a:xfrm>
            <a:off x="832104" y="2121408"/>
            <a:ext cx="7315200" cy="201168"/>
          </a:xfrm>
          <a:prstGeom prst="rect">
            <a:avLst/>
          </a:prstGeom>
          <a:noFill/>
        </p:spPr>
        <p:txBody>
          <a:bodyPr wrap="square" anchor="ctr" lIns="0" rIns="0" tIns="0" bIns="0">
            <a:spAutoFit/>
          </a:bodyPr>
          <a:lstStyle/>
          <a:p>
            <a:pPr algn="l"/>
            <a:r>
              <a:rPr sz="850" b="1" i="0" lang="en-US" spc="140">
                <a:solidFill>
                  <a:srgbClr val="FF6B2C"/>
                </a:solidFill>
                <a:latin typeface="Plus Jakarta Sans"/>
                <a:cs typeface="Plus Jakarta Sans"/>
              </a:rPr>
              <a:t>DAY 39 · CLOSING</a:t>
            </a:r>
          </a:p>
        </p:txBody>
      </p:sp>
      <p:sp>
        <p:nvSpPr>
          <p:cNvPr id="11" name="TextBox 10"/>
          <p:cNvSpPr txBox="1"/>
          <p:nvPr/>
        </p:nvSpPr>
        <p:spPr>
          <a:xfrm>
            <a:off x="649224" y="2487168"/>
            <a:ext cx="11155680" cy="658368"/>
          </a:xfrm>
          <a:prstGeom prst="rect">
            <a:avLst/>
          </a:prstGeom>
          <a:noFill/>
        </p:spPr>
        <p:txBody>
          <a:bodyPr wrap="square" anchor="t" lIns="0" rIns="0" tIns="0" bIns="0">
            <a:spAutoFit/>
          </a:bodyPr>
          <a:lstStyle/>
          <a:p>
            <a:pPr algn="l">
              <a:lnSpc>
                <a:spcPct val="100000"/>
              </a:lnSpc>
            </a:pPr>
            <a:r>
              <a:rPr sz="4100" b="1" i="0" lang="en-US" spc="-160">
                <a:solidFill>
                  <a:srgbClr val="0B0B0C"/>
                </a:solidFill>
                <a:latin typeface="Plus Jakarta Sans"/>
                <a:cs typeface="Plus Jakarta Sans"/>
              </a:rPr>
              <a:t>BUILD THE IDEA.</a:t>
            </a:r>
          </a:p>
        </p:txBody>
      </p:sp>
      <p:sp>
        <p:nvSpPr>
          <p:cNvPr id="12" name="TextBox 11"/>
          <p:cNvSpPr txBox="1"/>
          <p:nvPr/>
        </p:nvSpPr>
        <p:spPr>
          <a:xfrm>
            <a:off x="649224" y="3200400"/>
            <a:ext cx="11155680" cy="658368"/>
          </a:xfrm>
          <a:prstGeom prst="rect">
            <a:avLst/>
          </a:prstGeom>
          <a:noFill/>
        </p:spPr>
        <p:txBody>
          <a:bodyPr wrap="square" anchor="t" lIns="0" rIns="0" tIns="0" bIns="0">
            <a:spAutoFit/>
          </a:bodyPr>
          <a:lstStyle/>
          <a:p>
            <a:pPr algn="l">
              <a:lnSpc>
                <a:spcPct val="100000"/>
              </a:lnSpc>
            </a:pPr>
            <a:r>
              <a:rPr sz="4100" b="1" i="0" lang="en-US" spc="-160">
                <a:solidFill>
                  <a:srgbClr val="0B0B0C"/>
                </a:solidFill>
                <a:latin typeface="Plus Jakarta Sans"/>
                <a:cs typeface="Plus Jakarta Sans"/>
              </a:rPr>
              <a:t>PROVE THE VALUE.</a:t>
            </a:r>
          </a:p>
        </p:txBody>
      </p:sp>
      <p:sp>
        <p:nvSpPr>
          <p:cNvPr id="13" name="TextBox 12"/>
          <p:cNvSpPr txBox="1"/>
          <p:nvPr/>
        </p:nvSpPr>
        <p:spPr>
          <a:xfrm>
            <a:off x="649224" y="3913632"/>
            <a:ext cx="11155680" cy="658368"/>
          </a:xfrm>
          <a:prstGeom prst="rect">
            <a:avLst/>
          </a:prstGeom>
          <a:noFill/>
        </p:spPr>
        <p:txBody>
          <a:bodyPr wrap="square" anchor="t" lIns="0" rIns="0" tIns="0" bIns="0">
            <a:spAutoFit/>
          </a:bodyPr>
          <a:lstStyle/>
          <a:p>
            <a:pPr algn="l">
              <a:lnSpc>
                <a:spcPct val="100000"/>
              </a:lnSpc>
            </a:pPr>
            <a:r>
              <a:rPr sz="4100" b="1" i="0" lang="en-US" spc="-160">
                <a:solidFill>
                  <a:srgbClr val="FF6B2C"/>
                </a:solidFill>
                <a:latin typeface="Plus Jakarta Sans"/>
                <a:cs typeface="Plus Jakarta Sans"/>
              </a:rPr>
              <a:t>UNDERSTAND THE SYSTEM.</a:t>
            </a:r>
          </a:p>
        </p:txBody>
      </p:sp>
      <p:cxnSp>
        <p:nvCxnSpPr>
          <p:cNvPr id="14" name="Connector 13"/>
          <p:cNvCxnSpPr/>
          <p:nvPr/>
        </p:nvCxnSpPr>
        <p:spPr>
          <a:xfrm>
            <a:off x="685800" y="4919472"/>
            <a:ext cx="4114800" cy="0"/>
          </a:xfrm>
          <a:prstGeom prst="line">
            <a:avLst/>
          </a:prstGeom>
          <a:ln w="12700">
            <a:solidFill>
              <a:srgbClr val="E7E7EA"/>
            </a:solidFill>
          </a:ln>
        </p:spPr>
      </p:cxnSp>
      <p:sp>
        <p:nvSpPr>
          <p:cNvPr id="15" name="TextBox 14"/>
          <p:cNvSpPr txBox="1"/>
          <p:nvPr/>
        </p:nvSpPr>
        <p:spPr>
          <a:xfrm>
            <a:off x="685800" y="5102352"/>
            <a:ext cx="9601200" cy="1005840"/>
          </a:xfrm>
          <a:prstGeom prst="rect">
            <a:avLst/>
          </a:prstGeom>
          <a:noFill/>
        </p:spPr>
        <p:txBody>
          <a:bodyPr wrap="square" anchor="t" lIns="0" rIns="0" tIns="0" bIns="0">
            <a:spAutoFit/>
          </a:bodyPr>
          <a:lstStyle/>
          <a:p>
            <a:pPr algn="l">
              <a:lnSpc>
                <a:spcPct val="150000"/>
              </a:lnSpc>
              <a:spcAft>
                <a:spcPts val="400"/>
              </a:spcAft>
            </a:pPr>
            <a:r>
              <a:rPr sz="1050" b="0" i="0" lang="en-US">
                <a:solidFill>
                  <a:srgbClr val="63636B"/>
                </a:solidFill>
                <a:latin typeface="Plus Jakarta Sans"/>
                <a:cs typeface="Plus Jakarta Sans"/>
              </a:rPr>
              <a:t>Before we finish — four things to remember:</a:t>
            </a:r>
          </a:p>
          <a:p>
            <a:pPr algn="l">
              <a:lnSpc>
                <a:spcPct val="150000"/>
              </a:lnSpc>
              <a:spcAft>
                <a:spcPts val="400"/>
              </a:spcAft>
            </a:pPr>
            <a:r>
              <a:rPr sz="1050" b="0" i="0" lang="en-US">
                <a:solidFill>
                  <a:srgbClr val="63636B"/>
                </a:solidFill>
                <a:latin typeface="Plus Jakarta Sans"/>
                <a:cs typeface="Plus Jakarta Sans"/>
              </a:rPr>
              <a:t>A hackathon is a decision problem before it is a coding problem.  ·  Accelerate with OpenCode, but verify everything it produces.</a:t>
            </a:r>
          </a:p>
          <a:p>
            <a:pPr algn="l">
              <a:lnSpc>
                <a:spcPct val="150000"/>
              </a:lnSpc>
              <a:spcAft>
                <a:spcPts val="400"/>
              </a:spcAft>
            </a:pPr>
            <a:r>
              <a:rPr sz="1050" b="0" i="0" lang="en-US">
                <a:solidFill>
                  <a:srgbClr val="63636B"/>
                </a:solidFill>
                <a:latin typeface="Plus Jakarta Sans"/>
                <a:cs typeface="Plus Jakarta Sans"/>
              </a:rPr>
              <a:t>RAG retrieves relevant context for the LLM.  ·  OKF represents knowledge in a structured, connected, maintainable format.</a:t>
            </a:r>
          </a:p>
        </p:txBody>
      </p:sp>
      <p:sp>
        <p:nvSpPr>
          <p:cNvPr id="16" name="TextBox 15"/>
          <p:cNvSpPr txBox="1"/>
          <p:nvPr/>
        </p:nvSpPr>
        <p:spPr>
          <a:xfrm>
            <a:off x="685800" y="6199632"/>
            <a:ext cx="9601200" cy="256032"/>
          </a:xfrm>
          <a:prstGeom prst="rect">
            <a:avLst/>
          </a:prstGeom>
          <a:noFill/>
        </p:spPr>
        <p:txBody>
          <a:bodyPr wrap="square" anchor="t" lIns="0" rIns="0" tIns="0" bIns="0">
            <a:spAutoFit/>
          </a:bodyPr>
          <a:lstStyle/>
          <a:p>
            <a:pPr algn="l"/>
            <a:r>
              <a:rPr sz="1000" b="1" i="0" lang="en-US">
                <a:solidFill>
                  <a:srgbClr val="0B0B0C"/>
                </a:solidFill>
                <a:latin typeface="Plus Jakarta Sans"/>
                <a:cs typeface="Plus Jakarta Sans"/>
              </a:rPr>
              <a:t>TaskVeda AI Career Accelerator</a:t>
            </a:r>
            <a:r>
              <a:rPr sz="1000" b="0" i="0" lang="en-US">
                <a:solidFill>
                  <a:srgbClr val="9A9AA2"/>
                </a:solidFill>
                <a:latin typeface="Plus Jakarta Sans"/>
                <a:cs typeface="Plus Jakarta Sans"/>
              </a:rPr>
              <a:t>  ·  AI Hackathon Strategy  ·  Think. Build. Test.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